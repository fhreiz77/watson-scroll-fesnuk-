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397647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8845260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14342608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2382723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6162964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155646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38533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73395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99407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18BF9-1D2B-010D-3618-E54C423018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901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10380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697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3D5719-6C29-0337-15FA-C529C1598CC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275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4622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1757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0D2EE3-312B-8FD8-E459-62A734A2BB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2348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32509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9674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5038B2-2198-E188-BB55-1344269DE2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238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2411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5403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681E7A-3D9F-6663-6C22-EDE58CDE1B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605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5064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492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DF2AEC-81F1-78D2-3B41-D56F6D92C12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27703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77711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970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A2FF9A8-F347-024E-6F22-67036762C33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072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9935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584425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D98004-5967-68D9-518B-F07B920E52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254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311573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476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62FC76-6240-3AE3-00B1-8EE76FB368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15128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69829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150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3D00D4A-EC1E-6E76-7BC9-8E2B3921AD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08282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7162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95635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001E04-14D6-A73B-C9B9-F546FD7146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9123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106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49841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3C5BC7F-0227-1903-E50E-C83422DF38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79364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650825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4473852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4818989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851651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3526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8755123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0860040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6084952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112320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270166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357686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3643922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409061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4882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4232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15500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613349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291012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1940826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693245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277401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134542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4840255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523048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4083654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3251129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4629293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098419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948230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788569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957385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786075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0470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406435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1390065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962672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5676438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1063276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186192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8023727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8798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12100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17106789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13839089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5067341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8405621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531758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7279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162823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0575624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85024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04790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09585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2945151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059969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453050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069346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790621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8981966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8964712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8492606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58553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163190" name=""/>
          <p:cNvSpPr/>
          <p:nvPr/>
        </p:nvSpPr>
        <p:spPr bwMode="auto">
          <a:xfrm rot="0" flipH="0" flipV="0">
            <a:off x="33045" y="14881"/>
            <a:ext cx="12129490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47123460" name=""/>
          <p:cNvSpPr txBox="1"/>
          <p:nvPr/>
        </p:nvSpPr>
        <p:spPr bwMode="auto">
          <a:xfrm rot="0" flipH="0" flipV="0">
            <a:off x="1411583" y="641479"/>
            <a:ext cx="9369192" cy="33836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Ana</a:t>
            </a:r>
            <a: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lisis Serangan </a:t>
            </a:r>
            <a:b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</a:br>
            <a:r>
              <a:rPr sz="7200">
                <a:solidFill>
                  <a:srgbClr val="C00000"/>
                </a:solidFill>
                <a:latin typeface="3270 Nerd Font Mono"/>
                <a:ea typeface="3270 Nerd Font Mono"/>
                <a:cs typeface="3270 Nerd Font Mono"/>
              </a:rPr>
              <a:t>Data &amp; Informasi</a:t>
            </a:r>
            <a: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 </a:t>
            </a:r>
            <a:b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</a:br>
            <a: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Pada Website </a:t>
            </a:r>
            <a:endParaRPr sz="7200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654893711" name=""/>
          <p:cNvSpPr txBox="1"/>
          <p:nvPr/>
        </p:nvSpPr>
        <p:spPr bwMode="auto">
          <a:xfrm rot="0" flipH="0" flipV="0">
            <a:off x="1372163" y="4222879"/>
            <a:ext cx="9447672" cy="16157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Muhammad Rafly Fattaya</a:t>
            </a: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 (310124023697)</a:t>
            </a:r>
            <a:endParaRPr sz="2000">
              <a:solidFill>
                <a:schemeClr val="bg1"/>
              </a:solidFill>
              <a:latin typeface="3270 Nerd Font Mono"/>
              <a:cs typeface="3270 Nerd Font Mono"/>
            </a:endParaRPr>
          </a:p>
          <a:p>
            <a:pPr algn="ctr">
              <a:defRPr/>
            </a:pP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Jonathan Andrew Wijaya (310124023844)</a:t>
            </a:r>
            <a:endParaRPr sz="2000">
              <a:solidFill>
                <a:schemeClr val="bg1"/>
              </a:solidFill>
              <a:latin typeface="3270 Nerd Font Mono"/>
              <a:ea typeface="3270 Nerd Font Mono"/>
              <a:cs typeface="3270 Nerd Font Mono"/>
            </a:endParaRPr>
          </a:p>
          <a:p>
            <a:pPr algn="ctr">
              <a:defRPr/>
            </a:pP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Nazril Anbiya Rasyada (310124023851)</a:t>
            </a:r>
            <a:endParaRPr sz="2000">
              <a:solidFill>
                <a:schemeClr val="bg1"/>
              </a:solidFill>
              <a:latin typeface="3270 Nerd Font Mono"/>
              <a:ea typeface="3270 Nerd Font Mono"/>
              <a:cs typeface="3270 Nerd Font Mono"/>
            </a:endParaRPr>
          </a:p>
          <a:p>
            <a:pPr algn="ctr">
              <a:defRPr/>
            </a:pP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Muhammad Iqbal Fahrezi (310124023855)</a:t>
            </a:r>
            <a:endParaRPr sz="2000">
              <a:solidFill>
                <a:schemeClr val="bg1"/>
              </a:solidFill>
              <a:latin typeface="3270 Nerd Font Mono"/>
              <a:ea typeface="3270 Nerd Font Mono"/>
              <a:cs typeface="3270 Nerd Font Mono"/>
            </a:endParaRPr>
          </a:p>
          <a:p>
            <a:pPr algn="ctr">
              <a:defRPr/>
            </a:pP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Valentinus Bolly Wuran Tedez (310124023876)</a:t>
            </a:r>
            <a:endParaRPr sz="2000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836490049" name=""/>
          <p:cNvSpPr txBox="1"/>
          <p:nvPr/>
        </p:nvSpPr>
        <p:spPr bwMode="auto">
          <a:xfrm rot="0" flipH="0" flipV="0">
            <a:off x="315875" y="-1198337"/>
            <a:ext cx="5919026" cy="518519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2800" b="1">
                <a:solidFill>
                  <a:srgbClr val="1CB728"/>
                </a:solidFill>
                <a:highlight>
                  <a:srgbClr val="000000"/>
                </a:highlight>
                <a:latin typeface="3270 Nerd Font Mono"/>
                <a:ea typeface="3270 Nerd Font Mono"/>
                <a:cs typeface="3270 Nerd Font Mono"/>
              </a:rPr>
              <a:t>Keamanan Data &amp; Informasi</a:t>
            </a:r>
            <a:endParaRPr sz="2800" b="1">
              <a:solidFill>
                <a:srgbClr val="1CB728"/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4" presetClass="entr" presetSubtype="5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7123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9" dur="500"/>
                                        <p:tgtEl>
                                          <p:spTgt spid="1347123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4" presetClass="entr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4893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4" dur="500"/>
                                        <p:tgtEl>
                                          <p:spTgt spid="16548937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4" presetClass="exit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3471234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47123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6548937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54893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9462858" name=""/>
          <p:cNvSpPr/>
          <p:nvPr/>
        </p:nvSpPr>
        <p:spPr bwMode="auto">
          <a:xfrm rot="0" flipH="0" flipV="0">
            <a:off x="31254" y="14880"/>
            <a:ext cx="12129490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75553006" name=""/>
          <p:cNvSpPr txBox="1"/>
          <p:nvPr/>
        </p:nvSpPr>
        <p:spPr bwMode="auto">
          <a:xfrm rot="0" flipH="0" flipV="0">
            <a:off x="315875" y="366483"/>
            <a:ext cx="6487643" cy="64044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3600" b="1">
                <a:solidFill>
                  <a:srgbClr val="1CB728"/>
                </a:solidFill>
                <a:highlight>
                  <a:srgbClr val="000000"/>
                </a:highlight>
                <a:latin typeface="3270 Nerd Font Mono"/>
                <a:ea typeface="3270 Nerd Font Mono"/>
                <a:cs typeface="3270 Nerd Font Mono"/>
              </a:rPr>
              <a:t>Keamanan Data &amp; Informasi</a:t>
            </a:r>
            <a:endParaRPr sz="3600" b="1">
              <a:solidFill>
                <a:srgbClr val="1CB728"/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pic>
        <p:nvPicPr>
          <p:cNvPr id="107039964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938323" y="960116"/>
            <a:ext cx="5222421" cy="5222421"/>
          </a:xfrm>
          <a:prstGeom prst="rect">
            <a:avLst/>
          </a:prstGeom>
        </p:spPr>
      </p:pic>
      <p:sp>
        <p:nvSpPr>
          <p:cNvPr id="153781865" name=""/>
          <p:cNvSpPr txBox="1"/>
          <p:nvPr/>
        </p:nvSpPr>
        <p:spPr bwMode="auto">
          <a:xfrm rot="0" flipH="0" flipV="0">
            <a:off x="315875" y="1254276"/>
            <a:ext cx="6312914" cy="22863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3270 Nerd Font Mono"/>
                <a:cs typeface="3270 Nerd Font Mono"/>
              </a:rPr>
              <a:t>Perlindungan atas data dan informasi pada era digital ini menjadi hal yang sangat penting</a:t>
            </a:r>
            <a:r>
              <a:rPr sz="2400" b="1">
                <a:solidFill>
                  <a:schemeClr val="bg1"/>
                </a:solidFill>
                <a:latin typeface="3270 Nerd Font Mono"/>
                <a:cs typeface="3270 Nerd Font Mono"/>
              </a:rPr>
              <a:t> yang disebabkan oleh banyaknya tindakan kejahatan yang dapat merugikan banyak pihak tanpa adanya keamanan data &amp; informasi</a:t>
            </a:r>
            <a:endParaRPr sz="24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026045670" name=""/>
          <p:cNvSpPr txBox="1"/>
          <p:nvPr/>
        </p:nvSpPr>
        <p:spPr bwMode="auto">
          <a:xfrm rot="0" flipH="0" flipV="0">
            <a:off x="315875" y="3789558"/>
            <a:ext cx="6313959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cs typeface="3270 Nerd Font Mono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0399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5" dur="500"/>
                                        <p:tgtEl>
                                          <p:spTgt spid="10703996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81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2" dur="500"/>
                                        <p:tgtEl>
                                          <p:spTgt spid="1537818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045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9" dur="500"/>
                                        <p:tgtEl>
                                          <p:spTgt spid="10260456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5553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6" dur="500"/>
                                        <p:tgtEl>
                                          <p:spTgt spid="875553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0499533" name=""/>
          <p:cNvSpPr/>
          <p:nvPr/>
        </p:nvSpPr>
        <p:spPr bwMode="auto">
          <a:xfrm rot="0" flipH="0" flipV="0">
            <a:off x="31253" y="14879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43853050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938322" y="960115"/>
            <a:ext cx="5222421" cy="5222421"/>
          </a:xfrm>
          <a:prstGeom prst="rect">
            <a:avLst/>
          </a:prstGeom>
        </p:spPr>
      </p:pic>
      <p:sp>
        <p:nvSpPr>
          <p:cNvPr id="2069845124" name=""/>
          <p:cNvSpPr txBox="1"/>
          <p:nvPr/>
        </p:nvSpPr>
        <p:spPr bwMode="auto">
          <a:xfrm rot="0" flipH="0" flipV="0">
            <a:off x="315875" y="1254276"/>
            <a:ext cx="6313273" cy="22863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3270 Nerd Font Mono"/>
                <a:cs typeface="3270 Nerd Font Mono"/>
              </a:rPr>
              <a:t>Perlindungan atas data dan informasi pada era digital ini menjadi hal yang sangat penting</a:t>
            </a:r>
            <a:r>
              <a:rPr sz="2400" b="1">
                <a:solidFill>
                  <a:schemeClr val="bg1"/>
                </a:solidFill>
                <a:latin typeface="3270 Nerd Font Mono"/>
                <a:cs typeface="3270 Nerd Font Mono"/>
              </a:rPr>
              <a:t> yang disebabkan oleh banyaknya tindakan kejahatan yang dapat merugikan banyak pihak tanpa adanya keamanan data &amp; informasi</a:t>
            </a:r>
            <a:endParaRPr sz="24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276120988" name=""/>
          <p:cNvSpPr txBox="1"/>
          <p:nvPr/>
        </p:nvSpPr>
        <p:spPr bwMode="auto">
          <a:xfrm rot="0" flipH="0" flipV="0">
            <a:off x="315874" y="3789558"/>
            <a:ext cx="6314319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cs typeface="3270 Nerd Font Mono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823866338" name=""/>
          <p:cNvSpPr txBox="1"/>
          <p:nvPr/>
        </p:nvSpPr>
        <p:spPr bwMode="auto">
          <a:xfrm rot="0" flipH="0" flipV="0">
            <a:off x="315874" y="366482"/>
            <a:ext cx="6488003" cy="64044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3600" b="1">
                <a:solidFill>
                  <a:srgbClr val="1CB728"/>
                </a:solidFill>
                <a:highlight>
                  <a:srgbClr val="000000"/>
                </a:highlight>
                <a:latin typeface="3270 Nerd Font Mono"/>
                <a:ea typeface="3270 Nerd Font Mono"/>
                <a:cs typeface="3270 Nerd Font Mono"/>
              </a:rPr>
              <a:t>Keamanan Data &amp; Informasi</a:t>
            </a:r>
            <a:endParaRPr sz="3600" b="1">
              <a:solidFill>
                <a:srgbClr val="1CB728"/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  <p:timing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205337" name=""/>
          <p:cNvSpPr/>
          <p:nvPr/>
        </p:nvSpPr>
        <p:spPr bwMode="auto">
          <a:xfrm rot="0" flipH="0" flipV="0">
            <a:off x="31253" y="14879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60185777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5225072" y="960115"/>
            <a:ext cx="5222421" cy="5222421"/>
          </a:xfrm>
          <a:prstGeom prst="rect">
            <a:avLst/>
          </a:prstGeom>
        </p:spPr>
      </p:pic>
      <p:sp>
        <p:nvSpPr>
          <p:cNvPr id="1658520464" name=""/>
          <p:cNvSpPr txBox="1"/>
          <p:nvPr/>
        </p:nvSpPr>
        <p:spPr bwMode="auto">
          <a:xfrm rot="0" flipH="0" flipV="0">
            <a:off x="315875" y="9731526"/>
            <a:ext cx="6313632" cy="22863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3270 Nerd Font Mono"/>
                <a:cs typeface="3270 Nerd Font Mono"/>
              </a:rPr>
              <a:t>Perlindungan atas data dan informasi pada era digital ini menjadi hal yang sangat penting</a:t>
            </a:r>
            <a:r>
              <a:rPr sz="2400" b="1">
                <a:solidFill>
                  <a:schemeClr val="bg1"/>
                </a:solidFill>
                <a:latin typeface="3270 Nerd Font Mono"/>
                <a:cs typeface="3270 Nerd Font Mono"/>
              </a:rPr>
              <a:t> yang disebabkan oleh banyaknya tindakan kejahatan yang dapat merugikan banyak pihak tanpa adanya keamanan data &amp; informasi</a:t>
            </a:r>
            <a:endParaRPr sz="24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2129933184" name=""/>
          <p:cNvSpPr txBox="1"/>
          <p:nvPr/>
        </p:nvSpPr>
        <p:spPr bwMode="auto">
          <a:xfrm rot="0" flipH="0" flipV="0">
            <a:off x="315874" y="12266807"/>
            <a:ext cx="6314679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cs typeface="3270 Nerd Font Mono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391560299" name=""/>
          <p:cNvSpPr txBox="1"/>
          <p:nvPr/>
        </p:nvSpPr>
        <p:spPr bwMode="auto">
          <a:xfrm rot="0" flipH="0" flipV="0">
            <a:off x="315874" y="-1252766"/>
            <a:ext cx="6488363" cy="64044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3600" b="1">
                <a:solidFill>
                  <a:srgbClr val="1CB728"/>
                </a:solidFill>
                <a:highlight>
                  <a:srgbClr val="000000"/>
                </a:highlight>
                <a:latin typeface="3270 Nerd Font Mono"/>
                <a:ea typeface="3270 Nerd Font Mono"/>
                <a:cs typeface="3270 Nerd Font Mono"/>
              </a:rPr>
              <a:t>Keamanan Data &amp; Informasi</a:t>
            </a:r>
            <a:endParaRPr sz="3600" b="1">
              <a:solidFill>
                <a:srgbClr val="1CB728"/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sp>
        <p:nvSpPr>
          <p:cNvPr id="416183009" name=""/>
          <p:cNvSpPr txBox="1"/>
          <p:nvPr/>
        </p:nvSpPr>
        <p:spPr bwMode="auto">
          <a:xfrm rot="0" flipH="0" flipV="0">
            <a:off x="5116937" y="214856"/>
            <a:ext cx="6673585" cy="11890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defRPr/>
            </a:pPr>
            <a:r>
              <a:rPr sz="3600" b="1">
                <a:solidFill>
                  <a:schemeClr val="accent5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Pentingnya Keamanan Data &amp; Informasi Pada Website</a:t>
            </a:r>
            <a:endParaRPr sz="3600" b="1">
              <a:solidFill>
                <a:schemeClr val="accent5">
                  <a:lumMod val="60000"/>
                  <a:lumOff val="40000"/>
                </a:schemeClr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sp>
        <p:nvSpPr>
          <p:cNvPr id="1146458739" name=""/>
          <p:cNvSpPr txBox="1"/>
          <p:nvPr/>
        </p:nvSpPr>
        <p:spPr bwMode="auto">
          <a:xfrm rot="0" flipH="0" flipV="0">
            <a:off x="5475449" y="1657502"/>
            <a:ext cx="6404352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Semenjak perkembangan internet 3.0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316625240" name=""/>
          <p:cNvSpPr txBox="1"/>
          <p:nvPr/>
        </p:nvSpPr>
        <p:spPr bwMode="auto">
          <a:xfrm rot="0" flipH="0" flipV="0">
            <a:off x="5475449" y="3934254"/>
            <a:ext cx="6505511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pic>
        <p:nvPicPr>
          <p:cNvPr id="1563428335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33660" y="1097847"/>
            <a:ext cx="4537281" cy="45372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183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5" dur="500"/>
                                        <p:tgtEl>
                                          <p:spTgt spid="416183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458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2" dur="500"/>
                                        <p:tgtEl>
                                          <p:spTgt spid="11464587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625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9" dur="500"/>
                                        <p:tgtEl>
                                          <p:spTgt spid="1316625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3428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7" dur="500"/>
                                        <p:tgtEl>
                                          <p:spTgt spid="1563428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84657" name=""/>
          <p:cNvSpPr/>
          <p:nvPr/>
        </p:nvSpPr>
        <p:spPr bwMode="auto">
          <a:xfrm rot="0" flipH="0" flipV="0">
            <a:off x="31253" y="14879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35592805" name=""/>
          <p:cNvSpPr txBox="1"/>
          <p:nvPr/>
        </p:nvSpPr>
        <p:spPr bwMode="auto">
          <a:xfrm rot="0" flipH="0" flipV="0">
            <a:off x="315874" y="12266807"/>
            <a:ext cx="6314679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cs typeface="3270 Nerd Font Mono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pic>
        <p:nvPicPr>
          <p:cNvPr id="154853278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33660" y="1097847"/>
            <a:ext cx="4537281" cy="4537281"/>
          </a:xfrm>
          <a:prstGeom prst="rect">
            <a:avLst/>
          </a:prstGeom>
        </p:spPr>
      </p:pic>
      <p:sp>
        <p:nvSpPr>
          <p:cNvPr id="79033541" name=""/>
          <p:cNvSpPr txBox="1"/>
          <p:nvPr/>
        </p:nvSpPr>
        <p:spPr bwMode="auto">
          <a:xfrm rot="0" flipH="0" flipV="0">
            <a:off x="5116936" y="214855"/>
            <a:ext cx="6673944" cy="11890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defRPr/>
            </a:pPr>
            <a:r>
              <a:rPr sz="3600" b="1">
                <a:solidFill>
                  <a:schemeClr val="accent5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Pentingnya Keamanan Data &amp; Informasi Pada Website</a:t>
            </a:r>
            <a:endParaRPr sz="3600" b="1">
              <a:solidFill>
                <a:schemeClr val="accent5">
                  <a:lumMod val="60000"/>
                  <a:lumOff val="40000"/>
                </a:schemeClr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sp>
        <p:nvSpPr>
          <p:cNvPr id="864417098" name=""/>
          <p:cNvSpPr txBox="1"/>
          <p:nvPr/>
        </p:nvSpPr>
        <p:spPr bwMode="auto">
          <a:xfrm rot="0" flipH="0" flipV="0">
            <a:off x="5475448" y="1657501"/>
            <a:ext cx="6404711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Semenjak perkembangan internet 3.0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693932188" name=""/>
          <p:cNvSpPr txBox="1"/>
          <p:nvPr/>
        </p:nvSpPr>
        <p:spPr bwMode="auto">
          <a:xfrm rot="0" flipH="0" flipV="0">
            <a:off x="5475448" y="3934433"/>
            <a:ext cx="6505870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  <p:timing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919906" name=""/>
          <p:cNvSpPr/>
          <p:nvPr/>
        </p:nvSpPr>
        <p:spPr bwMode="auto">
          <a:xfrm rot="0" flipH="0" flipV="0">
            <a:off x="31253" y="14879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06172554" name=""/>
          <p:cNvSpPr txBox="1"/>
          <p:nvPr/>
        </p:nvSpPr>
        <p:spPr bwMode="auto">
          <a:xfrm rot="0" flipH="0" flipV="0">
            <a:off x="315874" y="12266807"/>
            <a:ext cx="6314679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cs typeface="3270 Nerd Font Mono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pic>
        <p:nvPicPr>
          <p:cNvPr id="40929501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7109527" y="1097847"/>
            <a:ext cx="4537281" cy="4537281"/>
          </a:xfrm>
          <a:prstGeom prst="rect">
            <a:avLst/>
          </a:prstGeom>
        </p:spPr>
      </p:pic>
      <p:sp>
        <p:nvSpPr>
          <p:cNvPr id="285772171" name=""/>
          <p:cNvSpPr txBox="1"/>
          <p:nvPr/>
        </p:nvSpPr>
        <p:spPr bwMode="auto">
          <a:xfrm rot="0" flipH="0" flipV="0">
            <a:off x="5116936" y="-2610893"/>
            <a:ext cx="6674303" cy="11890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defRPr/>
            </a:pPr>
            <a:r>
              <a:rPr sz="3600" b="1">
                <a:solidFill>
                  <a:schemeClr val="accent5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Pentingnya Keamanan Data &amp; Informasi Pada Website</a:t>
            </a:r>
            <a:endParaRPr sz="3600" b="1">
              <a:solidFill>
                <a:schemeClr val="accent5">
                  <a:lumMod val="60000"/>
                  <a:lumOff val="40000"/>
                </a:schemeClr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sp>
        <p:nvSpPr>
          <p:cNvPr id="425569407" name=""/>
          <p:cNvSpPr txBox="1"/>
          <p:nvPr/>
        </p:nvSpPr>
        <p:spPr bwMode="auto">
          <a:xfrm rot="0" flipH="0" flipV="0">
            <a:off x="5475448" y="9864876"/>
            <a:ext cx="6405070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Semenjak perkembangan internet 3.0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317996232" name=""/>
          <p:cNvSpPr txBox="1"/>
          <p:nvPr/>
        </p:nvSpPr>
        <p:spPr bwMode="auto">
          <a:xfrm rot="0" flipH="0" flipV="0">
            <a:off x="5475448" y="12141988"/>
            <a:ext cx="6506229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 advTm="0">
        <p159:morph option="byObject"/>
      </p:transition>
    </mc:Choice>
    <mc:Fallback>
      <p:transition spd="slow" advClick="1" advTm="0">
        <p:fade/>
      </p:transition>
    </mc:Fallback>
  </mc:AlternateContent>
  <p:timing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3944570" name=""/>
          <p:cNvSpPr/>
          <p:nvPr/>
        </p:nvSpPr>
        <p:spPr bwMode="auto">
          <a:xfrm rot="0" flipH="0" flipV="0">
            <a:off x="31253" y="62504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70057235" name=""/>
          <p:cNvSpPr txBox="1"/>
          <p:nvPr/>
        </p:nvSpPr>
        <p:spPr bwMode="auto">
          <a:xfrm rot="0" flipH="0" flipV="0">
            <a:off x="315874" y="12266807"/>
            <a:ext cx="6314679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cs typeface="3270 Nerd Font Mono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pic>
        <p:nvPicPr>
          <p:cNvPr id="41434090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7109527" y="1097847"/>
            <a:ext cx="4537281" cy="4537281"/>
          </a:xfrm>
          <a:prstGeom prst="rect">
            <a:avLst/>
          </a:prstGeom>
        </p:spPr>
      </p:pic>
      <p:sp>
        <p:nvSpPr>
          <p:cNvPr id="1694742353" name=""/>
          <p:cNvSpPr txBox="1"/>
          <p:nvPr/>
        </p:nvSpPr>
        <p:spPr bwMode="auto">
          <a:xfrm rot="0" flipH="0" flipV="0">
            <a:off x="5116936" y="-2610893"/>
            <a:ext cx="6674303" cy="11890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defRPr/>
            </a:pPr>
            <a:r>
              <a:rPr sz="3600" b="1">
                <a:solidFill>
                  <a:schemeClr val="accent5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Pentingnya Keamanan Data &amp; Informasi Pada Website</a:t>
            </a:r>
            <a:endParaRPr sz="3600" b="1">
              <a:solidFill>
                <a:schemeClr val="accent5">
                  <a:lumMod val="60000"/>
                  <a:lumOff val="40000"/>
                </a:schemeClr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sp>
        <p:nvSpPr>
          <p:cNvPr id="52048120" name=""/>
          <p:cNvSpPr txBox="1"/>
          <p:nvPr/>
        </p:nvSpPr>
        <p:spPr bwMode="auto">
          <a:xfrm rot="0" flipH="0" flipV="0">
            <a:off x="5475448" y="9864876"/>
            <a:ext cx="6405070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Semenjak perkembangan internet 3.0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673326708" name=""/>
          <p:cNvSpPr txBox="1"/>
          <p:nvPr/>
        </p:nvSpPr>
        <p:spPr bwMode="auto">
          <a:xfrm rot="0" flipH="0" flipV="0">
            <a:off x="5475448" y="12141988"/>
            <a:ext cx="6506229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754732421" name=""/>
          <p:cNvSpPr txBox="1"/>
          <p:nvPr/>
        </p:nvSpPr>
        <p:spPr bwMode="auto">
          <a:xfrm rot="0" flipH="0" flipV="0">
            <a:off x="2064929" y="1600020"/>
            <a:ext cx="8062498" cy="36579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7200" b="1">
                <a:solidFill>
                  <a:schemeClr val="bg1"/>
                </a:solidFill>
                <a:latin typeface="3270 Nerd Font Propo Cond"/>
                <a:ea typeface="3270 Nerd Font Propo Cond"/>
                <a:cs typeface="3270 Nerd Font Propo Cond"/>
              </a:rPr>
              <a:t>Jenis-Jenis</a:t>
            </a:r>
            <a:br>
              <a:rPr sz="7200" b="1">
                <a:solidFill>
                  <a:schemeClr val="bg1"/>
                </a:solidFill>
                <a:latin typeface="3270 Nerd Font Propo Cond"/>
                <a:ea typeface="3270 Nerd Font Propo Cond"/>
                <a:cs typeface="3270 Nerd Font Propo Cond"/>
              </a:rPr>
            </a:br>
            <a:r>
              <a:rPr sz="9000" b="1">
                <a:solidFill>
                  <a:srgbClr val="C00000"/>
                </a:solidFill>
                <a:latin typeface="3270 Nerd Font Propo Cond"/>
                <a:ea typeface="3270 Nerd Font Propo Cond"/>
                <a:cs typeface="3270 Nerd Font Propo Cond"/>
              </a:rPr>
              <a:t>Serangan</a:t>
            </a:r>
            <a:r>
              <a:rPr sz="7200" b="1">
                <a:solidFill>
                  <a:schemeClr val="bg1"/>
                </a:solidFill>
                <a:latin typeface="3270 Nerd Font Propo Cond"/>
                <a:ea typeface="3270 Nerd Font Propo Cond"/>
                <a:cs typeface="3270 Nerd Font Propo Cond"/>
              </a:rPr>
              <a:t> </a:t>
            </a:r>
            <a:br>
              <a:rPr sz="7200" b="1">
                <a:solidFill>
                  <a:schemeClr val="bg1"/>
                </a:solidFill>
                <a:latin typeface="3270 Nerd Font Propo Cond"/>
                <a:ea typeface="3270 Nerd Font Propo Cond"/>
                <a:cs typeface="3270 Nerd Font Propo Cond"/>
              </a:rPr>
            </a:br>
            <a:r>
              <a:rPr sz="7200" b="1">
                <a:solidFill>
                  <a:schemeClr val="bg1"/>
                </a:solidFill>
                <a:latin typeface="3270 Nerd Font Propo Cond"/>
                <a:ea typeface="3270 Nerd Font Propo Cond"/>
                <a:cs typeface="3270 Nerd Font Propo Cond"/>
              </a:rPr>
              <a:t>Pada Website</a:t>
            </a:r>
            <a:endParaRPr sz="7200" b="1">
              <a:solidFill>
                <a:schemeClr val="bg1"/>
              </a:solidFill>
              <a:latin typeface="3270 Nerd Font Propo Cond"/>
              <a:cs typeface="3270 Nerd Font Propo Con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473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1" dur="500"/>
                                        <p:tgtEl>
                                          <p:spTgt spid="17547324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7547324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5473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440435" name="Rectangle 1407440435"/>
          <p:cNvSpPr/>
          <p:nvPr/>
        </p:nvSpPr>
        <p:spPr bwMode="auto">
          <a:xfrm rot="0" flipH="0" flipV="0">
            <a:off x="27431" y="9144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pic>
        <p:nvPicPr>
          <p:cNvPr id="43483651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7109528" y="1097847"/>
            <a:ext cx="4537281" cy="4537281"/>
          </a:xfrm>
          <a:prstGeom prst="rect">
            <a:avLst/>
          </a:prstGeom>
        </p:spPr>
      </p:pic>
      <p:sp>
        <p:nvSpPr>
          <p:cNvPr id="1029943108" name=""/>
          <p:cNvSpPr txBox="1"/>
          <p:nvPr/>
        </p:nvSpPr>
        <p:spPr bwMode="auto">
          <a:xfrm rot="0" flipH="0" flipV="0">
            <a:off x="5116936" y="-2610893"/>
            <a:ext cx="6673944" cy="11890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defRPr/>
            </a:pPr>
            <a:r>
              <a:rPr sz="3600" b="1">
                <a:solidFill>
                  <a:schemeClr val="accent5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Pentingnya Keamanan Data &amp; Informasi Pada Website</a:t>
            </a:r>
            <a:endParaRPr sz="3600" b="1">
              <a:solidFill>
                <a:schemeClr val="accent5">
                  <a:lumMod val="60000"/>
                  <a:lumOff val="40000"/>
                </a:schemeClr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sp>
        <p:nvSpPr>
          <p:cNvPr id="1075401287" name=""/>
          <p:cNvSpPr txBox="1"/>
          <p:nvPr/>
        </p:nvSpPr>
        <p:spPr bwMode="auto">
          <a:xfrm rot="0" flipH="0" flipV="0">
            <a:off x="5475448" y="9864876"/>
            <a:ext cx="6404711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Semenjak perkembangan internet 3.0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950929016" name=""/>
          <p:cNvSpPr txBox="1"/>
          <p:nvPr/>
        </p:nvSpPr>
        <p:spPr bwMode="auto">
          <a:xfrm rot="0" flipH="0" flipV="0">
            <a:off x="5475448" y="12141808"/>
            <a:ext cx="6505870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grpSp>
        <p:nvGrpSpPr>
          <p:cNvPr id="1977584078" name=""/>
          <p:cNvGrpSpPr/>
          <p:nvPr/>
        </p:nvGrpSpPr>
        <p:grpSpPr bwMode="auto">
          <a:xfrm>
            <a:off x="-1003547" y="6113"/>
            <a:ext cx="13160469" cy="1374630"/>
            <a:chOff x="0" y="0"/>
            <a:chExt cx="13160469" cy="1374630"/>
          </a:xfrm>
        </p:grpSpPr>
        <p:sp>
          <p:nvSpPr>
            <p:cNvPr id="1000949080" name=""/>
            <p:cNvSpPr/>
            <p:nvPr/>
          </p:nvSpPr>
          <p:spPr bwMode="auto">
            <a:xfrm rot="0" flipH="0" flipV="0">
              <a:off x="979067" y="3030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04217831" name=""/>
            <p:cNvSpPr/>
            <p:nvPr/>
          </p:nvSpPr>
          <p:spPr bwMode="auto">
            <a:xfrm rot="0" flipH="1" flipV="1">
              <a:off x="0" y="0"/>
              <a:ext cx="979067" cy="1374630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511647566" name=""/>
          <p:cNvGrpSpPr/>
          <p:nvPr/>
        </p:nvGrpSpPr>
        <p:grpSpPr bwMode="auto">
          <a:xfrm>
            <a:off x="54895" y="1368569"/>
            <a:ext cx="13160468" cy="1383773"/>
            <a:chOff x="0" y="0"/>
            <a:chExt cx="13160468" cy="1383773"/>
          </a:xfrm>
        </p:grpSpPr>
        <p:sp>
          <p:nvSpPr>
            <p:cNvPr id="1075258292" name=""/>
            <p:cNvSpPr/>
            <p:nvPr/>
          </p:nvSpPr>
          <p:spPr bwMode="auto">
            <a:xfrm rot="0" flipH="0" flipV="0">
              <a:off x="0" y="12173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12932188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2144144158" name=""/>
          <p:cNvGrpSpPr/>
          <p:nvPr/>
        </p:nvGrpSpPr>
        <p:grpSpPr bwMode="auto">
          <a:xfrm>
            <a:off x="-1031009" y="2743200"/>
            <a:ext cx="13187931" cy="1374629"/>
            <a:chOff x="0" y="0"/>
            <a:chExt cx="13187931" cy="1374629"/>
          </a:xfrm>
        </p:grpSpPr>
        <p:sp>
          <p:nvSpPr>
            <p:cNvPr id="532777364" name=""/>
            <p:cNvSpPr/>
            <p:nvPr/>
          </p:nvSpPr>
          <p:spPr bwMode="auto">
            <a:xfrm rot="0" flipH="0" flipV="0">
              <a:off x="1006530" y="0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64384455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806778163" name=""/>
          <p:cNvGrpSpPr/>
          <p:nvPr/>
        </p:nvGrpSpPr>
        <p:grpSpPr bwMode="auto">
          <a:xfrm>
            <a:off x="54895" y="4109006"/>
            <a:ext cx="13160468" cy="1377392"/>
            <a:chOff x="0" y="0"/>
            <a:chExt cx="13160468" cy="1377392"/>
          </a:xfrm>
        </p:grpSpPr>
        <p:sp>
          <p:nvSpPr>
            <p:cNvPr id="1795773882" name=""/>
            <p:cNvSpPr/>
            <p:nvPr/>
          </p:nvSpPr>
          <p:spPr bwMode="auto">
            <a:xfrm rot="0" flipH="0" flipV="0">
              <a:off x="0" y="5792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65802643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614066268" name=""/>
          <p:cNvGrpSpPr/>
          <p:nvPr/>
        </p:nvGrpSpPr>
        <p:grpSpPr bwMode="auto">
          <a:xfrm>
            <a:off x="-1003546" y="5480606"/>
            <a:ext cx="13160468" cy="1374629"/>
            <a:chOff x="0" y="0"/>
            <a:chExt cx="13160468" cy="1374629"/>
          </a:xfrm>
        </p:grpSpPr>
        <p:sp>
          <p:nvSpPr>
            <p:cNvPr id="32975023" name=""/>
            <p:cNvSpPr/>
            <p:nvPr/>
          </p:nvSpPr>
          <p:spPr bwMode="auto">
            <a:xfrm rot="0" flipH="0" flipV="0">
              <a:off x="979066" y="3029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3968842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423307272" name=""/>
          <p:cNvSpPr txBox="1"/>
          <p:nvPr/>
        </p:nvSpPr>
        <p:spPr bwMode="auto">
          <a:xfrm rot="0" flipH="0" flipV="0">
            <a:off x="2217288" y="281768"/>
            <a:ext cx="7773263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FF0000"/>
                </a:solidFill>
                <a:latin typeface="3270 Nerd Font Propo Cond"/>
                <a:ea typeface="3270 Nerd Font Propo Cond"/>
                <a:cs typeface="3270 Nerd Font Propo Cond"/>
              </a:rPr>
              <a:t>Cross-Site Scripting (XSS)</a:t>
            </a:r>
            <a:endParaRPr sz="4800" b="1">
              <a:solidFill>
                <a:srgbClr val="FF0000"/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270234989" name=""/>
          <p:cNvSpPr txBox="1"/>
          <p:nvPr/>
        </p:nvSpPr>
        <p:spPr bwMode="auto">
          <a:xfrm rot="0" flipH="0" flipV="0">
            <a:off x="2580425" y="1648796"/>
            <a:ext cx="7038708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chemeClr val="accent4">
                    <a:lumMod val="60000"/>
                    <a:lumOff val="40000"/>
                  </a:schemeClr>
                </a:solidFill>
                <a:latin typeface="3270 Nerd Font Propo Cond"/>
                <a:ea typeface="3270 Nerd Font Propo Cond"/>
                <a:cs typeface="3270 Nerd Font Propo Cond"/>
              </a:rPr>
              <a:t>Social Engineering</a:t>
            </a:r>
            <a:endParaRPr sz="4800" b="1">
              <a:solidFill>
                <a:schemeClr val="accent4">
                  <a:lumMod val="60000"/>
                  <a:lumOff val="40000"/>
                </a:schemeClr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1055548409" name=""/>
          <p:cNvSpPr txBox="1"/>
          <p:nvPr/>
        </p:nvSpPr>
        <p:spPr bwMode="auto">
          <a:xfrm rot="0" flipH="0" flipV="0">
            <a:off x="2732824" y="3018854"/>
            <a:ext cx="7044467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92D050"/>
                </a:solidFill>
                <a:latin typeface="3270 Nerd Font Propo Cond"/>
                <a:cs typeface="3270 Nerd Font Propo Cond"/>
              </a:rPr>
              <a:t>SQL Injection</a:t>
            </a:r>
            <a:endParaRPr sz="4800" b="1">
              <a:solidFill>
                <a:srgbClr val="92D050"/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479754342" name=""/>
          <p:cNvSpPr txBox="1"/>
          <p:nvPr/>
        </p:nvSpPr>
        <p:spPr bwMode="auto">
          <a:xfrm rot="0" flipH="0" flipV="0">
            <a:off x="2732824" y="4386043"/>
            <a:ext cx="7048787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00B0F0"/>
                </a:solidFill>
                <a:latin typeface="3270 Nerd Font Propo Cond"/>
                <a:cs typeface="3270 Nerd Font Propo Cond"/>
              </a:rPr>
              <a:t>Dos / DDoS</a:t>
            </a:r>
            <a:endParaRPr sz="4800" b="1">
              <a:solidFill>
                <a:srgbClr val="00B0F0"/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897076400" name=""/>
          <p:cNvSpPr txBox="1"/>
          <p:nvPr/>
        </p:nvSpPr>
        <p:spPr bwMode="auto">
          <a:xfrm rot="0" flipH="0" flipV="0">
            <a:off x="2732824" y="5756261"/>
            <a:ext cx="7055627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4750FF"/>
                </a:solidFill>
                <a:latin typeface="3270 Nerd Font Propo Cond"/>
                <a:cs typeface="3270 Nerd Font Propo Cond"/>
              </a:rPr>
              <a:t>Man in the Middle</a:t>
            </a:r>
            <a:endParaRPr sz="4800" b="1">
              <a:solidFill>
                <a:srgbClr val="4750FF"/>
              </a:solidFill>
              <a:latin typeface="3270 Nerd Font Propo Cond"/>
              <a:cs typeface="3270 Nerd Font Propo Con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7584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9775840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9775840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307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4233072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233072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4144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1441441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144144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548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555484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555484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4066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140662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6140662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7076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970764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970764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234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02349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702349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647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116475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116475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75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797543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797543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6778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067781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806778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419671" name="Rectangle 1407440435"/>
          <p:cNvSpPr/>
          <p:nvPr/>
        </p:nvSpPr>
        <p:spPr bwMode="auto">
          <a:xfrm rot="0" flipH="0" flipV="0">
            <a:off x="27431" y="9144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grpSp>
        <p:nvGrpSpPr>
          <p:cNvPr id="1333818595" name=""/>
          <p:cNvGrpSpPr/>
          <p:nvPr/>
        </p:nvGrpSpPr>
        <p:grpSpPr bwMode="auto">
          <a:xfrm>
            <a:off x="-1003547" y="6113"/>
            <a:ext cx="13160469" cy="1374630"/>
            <a:chOff x="0" y="0"/>
            <a:chExt cx="13160469" cy="1374630"/>
          </a:xfrm>
        </p:grpSpPr>
        <p:sp>
          <p:nvSpPr>
            <p:cNvPr id="113921065" name=""/>
            <p:cNvSpPr/>
            <p:nvPr/>
          </p:nvSpPr>
          <p:spPr bwMode="auto">
            <a:xfrm rot="0" flipH="0" flipV="0">
              <a:off x="979067" y="3030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78170824" name=""/>
            <p:cNvSpPr/>
            <p:nvPr/>
          </p:nvSpPr>
          <p:spPr bwMode="auto">
            <a:xfrm rot="0" flipH="1" flipV="1">
              <a:off x="0" y="0"/>
              <a:ext cx="979067" cy="1374630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201812407" name=""/>
          <p:cNvGrpSpPr/>
          <p:nvPr/>
        </p:nvGrpSpPr>
        <p:grpSpPr bwMode="auto">
          <a:xfrm>
            <a:off x="54895" y="1368569"/>
            <a:ext cx="13160468" cy="1383773"/>
            <a:chOff x="0" y="0"/>
            <a:chExt cx="13160468" cy="1383773"/>
          </a:xfrm>
        </p:grpSpPr>
        <p:sp>
          <p:nvSpPr>
            <p:cNvPr id="1825444571" name=""/>
            <p:cNvSpPr/>
            <p:nvPr/>
          </p:nvSpPr>
          <p:spPr bwMode="auto">
            <a:xfrm rot="0" flipH="0" flipV="0">
              <a:off x="0" y="12173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0986456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2129198103" name=""/>
          <p:cNvGrpSpPr/>
          <p:nvPr/>
        </p:nvGrpSpPr>
        <p:grpSpPr bwMode="auto">
          <a:xfrm>
            <a:off x="-1031009" y="2743200"/>
            <a:ext cx="13187931" cy="1374629"/>
            <a:chOff x="0" y="0"/>
            <a:chExt cx="13187931" cy="1374629"/>
          </a:xfrm>
        </p:grpSpPr>
        <p:sp>
          <p:nvSpPr>
            <p:cNvPr id="1041888501" name=""/>
            <p:cNvSpPr/>
            <p:nvPr/>
          </p:nvSpPr>
          <p:spPr bwMode="auto">
            <a:xfrm rot="0" flipH="0" flipV="0">
              <a:off x="1006530" y="0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98804777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720385800" name=""/>
          <p:cNvGrpSpPr/>
          <p:nvPr/>
        </p:nvGrpSpPr>
        <p:grpSpPr bwMode="auto">
          <a:xfrm>
            <a:off x="54895" y="4109006"/>
            <a:ext cx="13160468" cy="1377392"/>
            <a:chOff x="0" y="0"/>
            <a:chExt cx="13160468" cy="1377392"/>
          </a:xfrm>
        </p:grpSpPr>
        <p:sp>
          <p:nvSpPr>
            <p:cNvPr id="520303314" name=""/>
            <p:cNvSpPr/>
            <p:nvPr/>
          </p:nvSpPr>
          <p:spPr bwMode="auto">
            <a:xfrm rot="0" flipH="0" flipV="0">
              <a:off x="0" y="5792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20111066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097589367" name=""/>
          <p:cNvGrpSpPr/>
          <p:nvPr/>
        </p:nvGrpSpPr>
        <p:grpSpPr bwMode="auto">
          <a:xfrm>
            <a:off x="-1003546" y="5480606"/>
            <a:ext cx="13160468" cy="1374629"/>
            <a:chOff x="0" y="0"/>
            <a:chExt cx="13160468" cy="1374629"/>
          </a:xfrm>
        </p:grpSpPr>
        <p:sp>
          <p:nvSpPr>
            <p:cNvPr id="445022407" name=""/>
            <p:cNvSpPr/>
            <p:nvPr/>
          </p:nvSpPr>
          <p:spPr bwMode="auto">
            <a:xfrm rot="0" flipH="0" flipV="0">
              <a:off x="979066" y="3029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99019048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460248003" name=""/>
          <p:cNvSpPr txBox="1"/>
          <p:nvPr/>
        </p:nvSpPr>
        <p:spPr bwMode="auto">
          <a:xfrm rot="0" flipH="0" flipV="0">
            <a:off x="2217288" y="281768"/>
            <a:ext cx="7773263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FF0000"/>
                </a:solidFill>
                <a:latin typeface="3270 Nerd Font Propo Cond"/>
                <a:ea typeface="3270 Nerd Font Propo Cond"/>
                <a:cs typeface="3270 Nerd Font Propo Cond"/>
              </a:rPr>
              <a:t>Cross-Site Scripting (XSS)</a:t>
            </a:r>
            <a:endParaRPr sz="4800" b="1">
              <a:solidFill>
                <a:srgbClr val="FF0000"/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1648642352" name=""/>
          <p:cNvSpPr txBox="1"/>
          <p:nvPr/>
        </p:nvSpPr>
        <p:spPr bwMode="auto">
          <a:xfrm rot="0" flipH="0" flipV="0">
            <a:off x="2580425" y="1648796"/>
            <a:ext cx="7038708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chemeClr val="accent4">
                    <a:lumMod val="60000"/>
                    <a:lumOff val="40000"/>
                  </a:schemeClr>
                </a:solidFill>
                <a:latin typeface="3270 Nerd Font Propo Cond"/>
                <a:ea typeface="3270 Nerd Font Propo Cond"/>
                <a:cs typeface="3270 Nerd Font Propo Cond"/>
              </a:rPr>
              <a:t>Social Engineering</a:t>
            </a:r>
            <a:endParaRPr sz="4800" b="1">
              <a:solidFill>
                <a:schemeClr val="accent4">
                  <a:lumMod val="60000"/>
                  <a:lumOff val="40000"/>
                </a:schemeClr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1452574821" name=""/>
          <p:cNvSpPr txBox="1"/>
          <p:nvPr/>
        </p:nvSpPr>
        <p:spPr bwMode="auto">
          <a:xfrm rot="0" flipH="0" flipV="0">
            <a:off x="2732824" y="3018854"/>
            <a:ext cx="7044467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92D050"/>
                </a:solidFill>
                <a:latin typeface="3270 Nerd Font Propo Cond"/>
                <a:cs typeface="3270 Nerd Font Propo Cond"/>
              </a:rPr>
              <a:t>SQL Injection</a:t>
            </a:r>
            <a:endParaRPr sz="4800" b="1">
              <a:solidFill>
                <a:srgbClr val="92D050"/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1762095989" name=""/>
          <p:cNvSpPr txBox="1"/>
          <p:nvPr/>
        </p:nvSpPr>
        <p:spPr bwMode="auto">
          <a:xfrm rot="0" flipH="0" flipV="0">
            <a:off x="2732824" y="4386043"/>
            <a:ext cx="7048787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00B0F0"/>
                </a:solidFill>
                <a:latin typeface="3270 Nerd Font Propo Cond"/>
                <a:cs typeface="3270 Nerd Font Propo Cond"/>
              </a:rPr>
              <a:t>Dos / DDoS</a:t>
            </a:r>
            <a:endParaRPr sz="4800" b="1">
              <a:solidFill>
                <a:srgbClr val="00B0F0"/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1803174922" name=""/>
          <p:cNvSpPr txBox="1"/>
          <p:nvPr/>
        </p:nvSpPr>
        <p:spPr bwMode="auto">
          <a:xfrm rot="0" flipH="0" flipV="0">
            <a:off x="2732824" y="5756261"/>
            <a:ext cx="7055627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4750FF"/>
                </a:solidFill>
                <a:latin typeface="3270 Nerd Font Propo Cond"/>
                <a:cs typeface="3270 Nerd Font Propo Cond"/>
              </a:rPr>
              <a:t>Man in the Middle</a:t>
            </a:r>
            <a:endParaRPr sz="4800" b="1">
              <a:solidFill>
                <a:srgbClr val="4750FF"/>
              </a:solidFill>
              <a:latin typeface="3270 Nerd Font Propo Cond"/>
              <a:cs typeface="3270 Nerd Font Propo Con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  <p:timing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459591" name="Rectangle 1407440435"/>
          <p:cNvSpPr/>
          <p:nvPr/>
        </p:nvSpPr>
        <p:spPr bwMode="auto">
          <a:xfrm rot="0" flipH="0" flipV="0">
            <a:off x="0" y="9143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grpSp>
        <p:nvGrpSpPr>
          <p:cNvPr id="685130688" name=""/>
          <p:cNvGrpSpPr/>
          <p:nvPr/>
        </p:nvGrpSpPr>
        <p:grpSpPr bwMode="auto">
          <a:xfrm>
            <a:off x="-1003546" y="6112"/>
            <a:ext cx="13160468" cy="1374629"/>
            <a:chOff x="0" y="0"/>
            <a:chExt cx="13160468" cy="1374629"/>
          </a:xfrm>
        </p:grpSpPr>
        <p:sp>
          <p:nvSpPr>
            <p:cNvPr id="189523911" name=""/>
            <p:cNvSpPr/>
            <p:nvPr/>
          </p:nvSpPr>
          <p:spPr bwMode="auto">
            <a:xfrm rot="0" flipH="0" flipV="0">
              <a:off x="979066" y="3029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11991399" name=""/>
            <p:cNvSpPr/>
            <p:nvPr/>
          </p:nvSpPr>
          <p:spPr bwMode="auto">
            <a:xfrm rot="0" flipH="1" flipV="1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63933745" name=""/>
          <p:cNvGrpSpPr/>
          <p:nvPr/>
        </p:nvGrpSpPr>
        <p:grpSpPr bwMode="auto">
          <a:xfrm>
            <a:off x="9675144" y="1368569"/>
            <a:ext cx="13160467" cy="1383772"/>
            <a:chOff x="0" y="0"/>
            <a:chExt cx="13160467" cy="1383772"/>
          </a:xfrm>
        </p:grpSpPr>
        <p:sp>
          <p:nvSpPr>
            <p:cNvPr id="206271557" name=""/>
            <p:cNvSpPr/>
            <p:nvPr/>
          </p:nvSpPr>
          <p:spPr bwMode="auto">
            <a:xfrm rot="0" flipH="0" flipV="0">
              <a:off x="0" y="12172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00053823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361692532" name=""/>
          <p:cNvGrpSpPr/>
          <p:nvPr/>
        </p:nvGrpSpPr>
        <p:grpSpPr bwMode="auto">
          <a:xfrm>
            <a:off x="-11032259" y="2743200"/>
            <a:ext cx="13187931" cy="1374629"/>
            <a:chOff x="0" y="0"/>
            <a:chExt cx="13187931" cy="1374629"/>
          </a:xfrm>
        </p:grpSpPr>
        <p:sp>
          <p:nvSpPr>
            <p:cNvPr id="2118156290" name=""/>
            <p:cNvSpPr/>
            <p:nvPr/>
          </p:nvSpPr>
          <p:spPr bwMode="auto">
            <a:xfrm rot="0" flipH="0" flipV="0">
              <a:off x="1006529" y="0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78486488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883529058" name=""/>
          <p:cNvGrpSpPr/>
          <p:nvPr/>
        </p:nvGrpSpPr>
        <p:grpSpPr bwMode="auto">
          <a:xfrm>
            <a:off x="9675144" y="4109006"/>
            <a:ext cx="13160467" cy="1377391"/>
            <a:chOff x="0" y="0"/>
            <a:chExt cx="13160467" cy="1377391"/>
          </a:xfrm>
        </p:grpSpPr>
        <p:sp>
          <p:nvSpPr>
            <p:cNvPr id="683841512" name=""/>
            <p:cNvSpPr/>
            <p:nvPr/>
          </p:nvSpPr>
          <p:spPr bwMode="auto">
            <a:xfrm rot="0" flipH="0" flipV="0">
              <a:off x="0" y="5791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80655737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713609020" name=""/>
          <p:cNvGrpSpPr/>
          <p:nvPr/>
        </p:nvGrpSpPr>
        <p:grpSpPr bwMode="auto">
          <a:xfrm>
            <a:off x="-11004795" y="5480606"/>
            <a:ext cx="13160467" cy="1374629"/>
            <a:chOff x="0" y="0"/>
            <a:chExt cx="13160467" cy="1374629"/>
          </a:xfrm>
        </p:grpSpPr>
        <p:sp>
          <p:nvSpPr>
            <p:cNvPr id="2127200756" name=""/>
            <p:cNvSpPr/>
            <p:nvPr/>
          </p:nvSpPr>
          <p:spPr bwMode="auto">
            <a:xfrm rot="0" flipH="0" flipV="0">
              <a:off x="979066" y="3029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38910024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817683560" name=""/>
          <p:cNvSpPr txBox="1"/>
          <p:nvPr/>
        </p:nvSpPr>
        <p:spPr bwMode="auto">
          <a:xfrm rot="0" flipH="0" flipV="0">
            <a:off x="2217287" y="281767"/>
            <a:ext cx="7773982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rgbClr val="FF0000"/>
                </a:solidFill>
                <a:latin typeface="3270 Nerd Font Propo Cond"/>
                <a:ea typeface="3270 Nerd Font Propo Cond"/>
                <a:cs typeface="3270 Nerd Font Propo Cond"/>
              </a:rPr>
              <a:t>Cross-Site Scripting (XSS)</a:t>
            </a:r>
            <a:endParaRPr sz="3600" b="1">
              <a:solidFill>
                <a:srgbClr val="FF0000"/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212546270" name=""/>
          <p:cNvSpPr txBox="1"/>
          <p:nvPr/>
        </p:nvSpPr>
        <p:spPr bwMode="auto">
          <a:xfrm rot="0" flipH="0" flipV="0">
            <a:off x="12200674" y="1648795"/>
            <a:ext cx="7039067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chemeClr val="accent4">
                    <a:lumMod val="60000"/>
                    <a:lumOff val="40000"/>
                  </a:schemeClr>
                </a:solidFill>
                <a:latin typeface="3270 Nerd Font Propo Cond"/>
                <a:ea typeface="3270 Nerd Font Propo Cond"/>
                <a:cs typeface="3270 Nerd Font Propo Cond"/>
              </a:rPr>
              <a:t>Social Engineering</a:t>
            </a:r>
            <a:endParaRPr sz="4800" b="1">
              <a:solidFill>
                <a:schemeClr val="accent4">
                  <a:lumMod val="60000"/>
                  <a:lumOff val="40000"/>
                </a:schemeClr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545623421" name=""/>
          <p:cNvSpPr txBox="1"/>
          <p:nvPr/>
        </p:nvSpPr>
        <p:spPr bwMode="auto">
          <a:xfrm rot="0" flipH="0" flipV="0">
            <a:off x="-7268424" y="3018854"/>
            <a:ext cx="7044826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92D050"/>
                </a:solidFill>
                <a:latin typeface="3270 Nerd Font Propo Cond"/>
                <a:cs typeface="3270 Nerd Font Propo Cond"/>
              </a:rPr>
              <a:t>SQL Injection</a:t>
            </a:r>
            <a:endParaRPr sz="4800" b="1">
              <a:solidFill>
                <a:srgbClr val="92D050"/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1438654984" name=""/>
          <p:cNvSpPr txBox="1"/>
          <p:nvPr/>
        </p:nvSpPr>
        <p:spPr bwMode="auto">
          <a:xfrm rot="0" flipH="0" flipV="0">
            <a:off x="12353074" y="4386042"/>
            <a:ext cx="7049146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00B0F0"/>
                </a:solidFill>
                <a:latin typeface="3270 Nerd Font Propo Cond"/>
                <a:cs typeface="3270 Nerd Font Propo Cond"/>
              </a:rPr>
              <a:t>Dos / DDoS</a:t>
            </a:r>
            <a:endParaRPr sz="4800" b="1">
              <a:solidFill>
                <a:srgbClr val="00B0F0"/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658194907" name=""/>
          <p:cNvSpPr txBox="1"/>
          <p:nvPr/>
        </p:nvSpPr>
        <p:spPr bwMode="auto">
          <a:xfrm rot="0" flipH="0" flipV="0">
            <a:off x="-7268424" y="5756261"/>
            <a:ext cx="7056706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4750FF"/>
                </a:solidFill>
                <a:latin typeface="3270 Nerd Font Propo Cond"/>
                <a:cs typeface="3270 Nerd Font Propo Cond"/>
              </a:rPr>
              <a:t>Man in the Middle</a:t>
            </a:r>
            <a:endParaRPr sz="4800" b="1">
              <a:solidFill>
                <a:srgbClr val="4750FF"/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1966912126" name=""/>
          <p:cNvSpPr txBox="1"/>
          <p:nvPr/>
        </p:nvSpPr>
        <p:spPr bwMode="auto">
          <a:xfrm rot="0" flipH="0" flipV="0">
            <a:off x="807586" y="1579888"/>
            <a:ext cx="10469050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800" b="1">
                <a:solidFill>
                  <a:schemeClr val="bg1"/>
                </a:solidFill>
                <a:latin typeface="3270 Nerd Font Propo Cond"/>
                <a:ea typeface="3270 Nerd Font Propo Cond"/>
                <a:cs typeface="3270 Nerd Font Propo Cond"/>
              </a:rPr>
              <a:t>XSS adalah serangan yang memanfaatkan form input yang belum divalidasi website dengan cara menyisipkan kode berbahaya</a:t>
            </a:r>
            <a:r>
              <a:rPr sz="2800" b="1">
                <a:solidFill>
                  <a:schemeClr val="bg1"/>
                </a:solidFill>
                <a:latin typeface="3270 Nerd Font Propo Cond"/>
                <a:cs typeface="3270 Nerd Font Propo Cond"/>
              </a:rPr>
              <a:t> pada form tersebut dimana kode tersebut kemudian dibaca dan dijalankan website untuk user lain.</a:t>
            </a:r>
            <a:endParaRPr sz="2800" b="1">
              <a:solidFill>
                <a:schemeClr val="bg1"/>
              </a:solidFill>
              <a:latin typeface="3270 Nerd Font Propo Cond"/>
              <a:cs typeface="3270 Nerd Font Propo Cond"/>
            </a:endParaRPr>
          </a:p>
        </p:txBody>
      </p:sp>
      <p:sp>
        <p:nvSpPr>
          <p:cNvPr id="413740293" name=""/>
          <p:cNvSpPr txBox="1"/>
          <p:nvPr/>
        </p:nvSpPr>
        <p:spPr bwMode="auto">
          <a:xfrm rot="0" flipH="0" flipV="0">
            <a:off x="583713" y="3565077"/>
            <a:ext cx="1911024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chemeClr val="bg1"/>
                </a:solidFill>
                <a:latin typeface="3270 Nerd Font Propo Cond"/>
                <a:ea typeface="3270 Nerd Font Propo Cond"/>
                <a:cs typeface="3270 Nerd Font Propo Cond"/>
              </a:rPr>
              <a:t>Contoh :</a:t>
            </a:r>
            <a:endParaRPr sz="3600" b="1">
              <a:solidFill>
                <a:schemeClr val="bg1"/>
              </a:solidFill>
              <a:latin typeface="3270 Nerd Font Propo Cond"/>
              <a:cs typeface="3270 Nerd Font Propo Cond"/>
            </a:endParaRPr>
          </a:p>
        </p:txBody>
      </p:sp>
      <p:grpSp>
        <p:nvGrpSpPr>
          <p:cNvPr id="149046084" name=""/>
          <p:cNvGrpSpPr/>
          <p:nvPr/>
        </p:nvGrpSpPr>
        <p:grpSpPr bwMode="auto">
          <a:xfrm>
            <a:off x="5811467" y="4490356"/>
            <a:ext cx="8327158" cy="1932213"/>
            <a:chOff x="0" y="0"/>
            <a:chExt cx="8327158" cy="1932213"/>
          </a:xfrm>
        </p:grpSpPr>
        <p:sp>
          <p:nvSpPr>
            <p:cNvPr id="2139479999" name=""/>
            <p:cNvSpPr/>
            <p:nvPr/>
          </p:nvSpPr>
          <p:spPr bwMode="auto">
            <a:xfrm rot="0" flipH="0" flipV="0">
              <a:off x="0" y="0"/>
              <a:ext cx="5953124" cy="1932213"/>
            </a:xfrm>
            <a:prstGeom prst="rect">
              <a:avLst/>
            </a:prstGeom>
            <a:noFill/>
            <a:ln w="57150" cap="flat" cmpd="sng" algn="ctr">
              <a:solidFill>
                <a:srgbClr val="FFFFFF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6384777" name=""/>
            <p:cNvSpPr txBox="1"/>
            <p:nvPr/>
          </p:nvSpPr>
          <p:spPr bwMode="auto">
            <a:xfrm rot="0" flipH="0" flipV="0">
              <a:off x="1686915" y="125191"/>
              <a:ext cx="2579652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800" b="1">
                  <a:solidFill>
                    <a:schemeClr val="bg1"/>
                  </a:solidFill>
                  <a:latin typeface="3270 Nerd Font Propo Cond"/>
                  <a:ea typeface="3270 Nerd Font Propo Cond"/>
                  <a:cs typeface="3270 Nerd Font Propo Cond"/>
                </a:rPr>
                <a:t>XSS Pada URL </a:t>
              </a:r>
              <a:endParaRPr sz="2800" b="1">
                <a:solidFill>
                  <a:schemeClr val="bg1"/>
                </a:solidFill>
                <a:latin typeface="3270 Nerd Font Propo Cond"/>
                <a:cs typeface="3270 Nerd Font Propo Cond"/>
              </a:endParaRPr>
            </a:p>
          </p:txBody>
        </p:sp>
        <p:sp>
          <p:nvSpPr>
            <p:cNvPr id="1117681691" name=""/>
            <p:cNvSpPr txBox="1"/>
            <p:nvPr/>
          </p:nvSpPr>
          <p:spPr bwMode="auto">
            <a:xfrm rot="0" flipH="0" flipV="0">
              <a:off x="51870" y="1048122"/>
              <a:ext cx="8275287" cy="36612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l">
                <a:defRPr/>
              </a:pPr>
              <a:r>
                <a:rPr sz="1800" b="1">
                  <a:solidFill>
                    <a:schemeClr val="bg1"/>
                  </a:solidFill>
                  <a:latin typeface="3270 Nerd Font Propo Cond"/>
                  <a:cs typeface="3270 Nerd Font Propo Cond"/>
                </a:rPr>
                <a:t>https::/alamat.com/search?q=&lt;script&gt;alert(“XSS”)&lt;/script&gt;</a:t>
              </a:r>
              <a:endParaRPr sz="1800" b="1">
                <a:solidFill>
                  <a:schemeClr val="bg1"/>
                </a:solidFill>
                <a:latin typeface="3270 Nerd Font Propo Cond"/>
                <a:cs typeface="3270 Nerd Font Propo Cond"/>
              </a:endParaRPr>
            </a:p>
          </p:txBody>
        </p:sp>
      </p:grpSp>
      <p:grpSp>
        <p:nvGrpSpPr>
          <p:cNvPr id="343203705" name=""/>
          <p:cNvGrpSpPr/>
          <p:nvPr/>
        </p:nvGrpSpPr>
        <p:grpSpPr bwMode="auto">
          <a:xfrm>
            <a:off x="695356" y="4490356"/>
            <a:ext cx="4218213" cy="1932213"/>
            <a:chOff x="0" y="0"/>
            <a:chExt cx="4218213" cy="1932213"/>
          </a:xfrm>
        </p:grpSpPr>
        <p:sp>
          <p:nvSpPr>
            <p:cNvPr id="1735776371" name=""/>
            <p:cNvSpPr txBox="1"/>
            <p:nvPr/>
          </p:nvSpPr>
          <p:spPr bwMode="auto">
            <a:xfrm rot="0" flipH="0" flipV="0">
              <a:off x="180265" y="659025"/>
              <a:ext cx="1861884" cy="45756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just">
                <a:defRPr/>
              </a:pPr>
              <a:r>
                <a:rPr sz="2400" b="1">
                  <a:solidFill>
                    <a:schemeClr val="bg1"/>
                  </a:solidFill>
                  <a:latin typeface="Cantarell Extra Bold"/>
                  <a:ea typeface="Cantarell Extra Bold"/>
                  <a:cs typeface="Cantarell Extra Bold"/>
                </a:rPr>
                <a:t>username : </a:t>
              </a:r>
              <a:endParaRPr sz="2400" b="1">
                <a:solidFill>
                  <a:schemeClr val="bg1"/>
                </a:solidFill>
                <a:latin typeface="Cantarell Extra Bold"/>
                <a:cs typeface="Cantarell Extra Bold"/>
              </a:endParaRPr>
            </a:p>
          </p:txBody>
        </p:sp>
        <p:sp>
          <p:nvSpPr>
            <p:cNvPr id="661727550" name=""/>
            <p:cNvSpPr/>
            <p:nvPr/>
          </p:nvSpPr>
          <p:spPr bwMode="auto">
            <a:xfrm rot="0" flipH="0" flipV="0">
              <a:off x="227016" y="1229177"/>
              <a:ext cx="3528552" cy="380999"/>
            </a:xfrm>
            <a:prstGeom prst="flowChartAlternateProcess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l">
                <a:defRPr/>
              </a:pPr>
              <a:r>
                <a:rPr>
                  <a:solidFill>
                    <a:schemeClr val="tx1"/>
                  </a:solidFill>
                  <a:latin typeface="Cantarell Extra Bold"/>
                  <a:ea typeface="Cantarell Extra Bold"/>
                  <a:cs typeface="Cantarell Extra Bold"/>
                </a:rPr>
                <a:t>&lt;script&gt;alert(“XSS”)&lt;/script&gt;</a:t>
              </a:r>
              <a:endParaRPr>
                <a:solidFill>
                  <a:schemeClr val="tx1"/>
                </a:solidFill>
                <a:latin typeface="Cantarell Extra Bold"/>
                <a:cs typeface="Cantarell Extra Bold"/>
              </a:endParaRPr>
            </a:p>
          </p:txBody>
        </p:sp>
        <p:sp>
          <p:nvSpPr>
            <p:cNvPr id="1885323825" name=""/>
            <p:cNvSpPr txBox="1"/>
            <p:nvPr/>
          </p:nvSpPr>
          <p:spPr bwMode="auto">
            <a:xfrm rot="0" flipH="0" flipV="0">
              <a:off x="820719" y="125191"/>
              <a:ext cx="2577132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800" b="1">
                  <a:solidFill>
                    <a:schemeClr val="bg1"/>
                  </a:solidFill>
                  <a:latin typeface="3270 Nerd Font Propo Cond"/>
                  <a:ea typeface="3270 Nerd Font Propo Cond"/>
                  <a:cs typeface="3270 Nerd Font Propo Cond"/>
                </a:rPr>
                <a:t>XSS Pada Form </a:t>
              </a:r>
              <a:endParaRPr sz="2800" b="1">
                <a:solidFill>
                  <a:schemeClr val="bg1"/>
                </a:solidFill>
                <a:latin typeface="3270 Nerd Font Propo Cond"/>
                <a:cs typeface="3270 Nerd Font Propo Cond"/>
              </a:endParaRPr>
            </a:p>
          </p:txBody>
        </p:sp>
        <p:sp>
          <p:nvSpPr>
            <p:cNvPr id="909222848" name=""/>
            <p:cNvSpPr/>
            <p:nvPr/>
          </p:nvSpPr>
          <p:spPr bwMode="auto">
            <a:xfrm rot="0" flipH="0" flipV="0">
              <a:off x="0" y="0"/>
              <a:ext cx="4218213" cy="1932213"/>
            </a:xfrm>
            <a:prstGeom prst="rect">
              <a:avLst/>
            </a:prstGeom>
            <a:noFill/>
            <a:ln w="57150" cap="flat" cmpd="sng" algn="ctr">
              <a:solidFill>
                <a:srgbClr val="FFFFFF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159:morph option="byObject"/>
      </p:transition>
    </mc:Choice>
    <mc:Fallback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6912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9" dur="500"/>
                                        <p:tgtEl>
                                          <p:spTgt spid="1966912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740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6" dur="500"/>
                                        <p:tgtEl>
                                          <p:spTgt spid="413740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046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3" dur="500"/>
                                        <p:tgtEl>
                                          <p:spTgt spid="1490460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203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0" dur="500"/>
                                        <p:tgtEl>
                                          <p:spTgt spid="3432037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xit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9669121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6912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4137402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3740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490460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046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3432037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3203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0775972" name="Rectangle 1407440435"/>
          <p:cNvSpPr/>
          <p:nvPr/>
        </p:nvSpPr>
        <p:spPr bwMode="auto">
          <a:xfrm rot="0" flipH="0" flipV="0">
            <a:off x="0" y="9143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grpSp>
        <p:nvGrpSpPr>
          <p:cNvPr id="312741399" name=""/>
          <p:cNvGrpSpPr/>
          <p:nvPr/>
        </p:nvGrpSpPr>
        <p:grpSpPr bwMode="auto">
          <a:xfrm>
            <a:off x="-1003546" y="6112"/>
            <a:ext cx="13160468" cy="1374629"/>
            <a:chOff x="0" y="0"/>
            <a:chExt cx="13160468" cy="1374629"/>
          </a:xfrm>
        </p:grpSpPr>
        <p:sp>
          <p:nvSpPr>
            <p:cNvPr id="37917233" name=""/>
            <p:cNvSpPr/>
            <p:nvPr/>
          </p:nvSpPr>
          <p:spPr bwMode="auto">
            <a:xfrm rot="0" flipH="0" flipV="0">
              <a:off x="979066" y="3029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92398552" name=""/>
            <p:cNvSpPr/>
            <p:nvPr/>
          </p:nvSpPr>
          <p:spPr bwMode="auto">
            <a:xfrm rot="0" flipH="1" flipV="1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163565882" name=""/>
          <p:cNvGrpSpPr/>
          <p:nvPr/>
        </p:nvGrpSpPr>
        <p:grpSpPr bwMode="auto">
          <a:xfrm>
            <a:off x="9675144" y="1368569"/>
            <a:ext cx="13160467" cy="1383772"/>
            <a:chOff x="0" y="0"/>
            <a:chExt cx="13160467" cy="1383772"/>
          </a:xfrm>
        </p:grpSpPr>
        <p:sp>
          <p:nvSpPr>
            <p:cNvPr id="643039984" name=""/>
            <p:cNvSpPr/>
            <p:nvPr/>
          </p:nvSpPr>
          <p:spPr bwMode="auto">
            <a:xfrm rot="0" flipH="0" flipV="0">
              <a:off x="0" y="12172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9807446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865786368" name=""/>
          <p:cNvGrpSpPr/>
          <p:nvPr/>
        </p:nvGrpSpPr>
        <p:grpSpPr bwMode="auto">
          <a:xfrm>
            <a:off x="-11032259" y="2743200"/>
            <a:ext cx="13187931" cy="1374629"/>
            <a:chOff x="0" y="0"/>
            <a:chExt cx="13187931" cy="1374629"/>
          </a:xfrm>
        </p:grpSpPr>
        <p:sp>
          <p:nvSpPr>
            <p:cNvPr id="410306143" name=""/>
            <p:cNvSpPr/>
            <p:nvPr/>
          </p:nvSpPr>
          <p:spPr bwMode="auto">
            <a:xfrm rot="0" flipH="0" flipV="0">
              <a:off x="1006529" y="0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03666730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2143189627" name=""/>
          <p:cNvGrpSpPr/>
          <p:nvPr/>
        </p:nvGrpSpPr>
        <p:grpSpPr bwMode="auto">
          <a:xfrm>
            <a:off x="9675144" y="4109006"/>
            <a:ext cx="13160467" cy="1377391"/>
            <a:chOff x="0" y="0"/>
            <a:chExt cx="13160467" cy="1377391"/>
          </a:xfrm>
        </p:grpSpPr>
        <p:sp>
          <p:nvSpPr>
            <p:cNvPr id="1252595114" name=""/>
            <p:cNvSpPr/>
            <p:nvPr/>
          </p:nvSpPr>
          <p:spPr bwMode="auto">
            <a:xfrm rot="0" flipH="0" flipV="0">
              <a:off x="0" y="5791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16077733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868335765" name=""/>
          <p:cNvGrpSpPr/>
          <p:nvPr/>
        </p:nvGrpSpPr>
        <p:grpSpPr bwMode="auto">
          <a:xfrm>
            <a:off x="-11004795" y="5480606"/>
            <a:ext cx="13160467" cy="1374629"/>
            <a:chOff x="0" y="0"/>
            <a:chExt cx="13160467" cy="1374629"/>
          </a:xfrm>
        </p:grpSpPr>
        <p:sp>
          <p:nvSpPr>
            <p:cNvPr id="1684809240" name=""/>
            <p:cNvSpPr/>
            <p:nvPr/>
          </p:nvSpPr>
          <p:spPr bwMode="auto">
            <a:xfrm rot="0" flipH="0" flipV="0">
              <a:off x="979066" y="3029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57465993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47546326" name=""/>
          <p:cNvSpPr txBox="1"/>
          <p:nvPr/>
        </p:nvSpPr>
        <p:spPr bwMode="auto">
          <a:xfrm rot="0" flipH="0" flipV="0">
            <a:off x="2217287" y="281767"/>
            <a:ext cx="7773982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rgbClr val="FF0000"/>
                </a:solidFill>
                <a:latin typeface="3270 Nerd Font Propo Cond"/>
                <a:ea typeface="3270 Nerd Font Propo Cond"/>
                <a:cs typeface="3270 Nerd Font Propo Cond"/>
              </a:rPr>
              <a:t>Cross-Site Scripting (XSS)</a:t>
            </a:r>
            <a:endParaRPr sz="3600" b="1">
              <a:solidFill>
                <a:srgbClr val="FF0000"/>
              </a:solidFill>
              <a:latin typeface="3270 Nerd Font Propo Cond"/>
              <a:cs typeface="3270 Nerd Font Propo Cond"/>
            </a:endParaRPr>
          </a:p>
        </p:txBody>
      </p:sp>
      <p:grpSp>
        <p:nvGrpSpPr>
          <p:cNvPr id="454015139" name=""/>
          <p:cNvGrpSpPr/>
          <p:nvPr/>
        </p:nvGrpSpPr>
        <p:grpSpPr bwMode="auto">
          <a:xfrm>
            <a:off x="727305" y="1224642"/>
            <a:ext cx="3252106" cy="5197928"/>
            <a:chOff x="0" y="0"/>
            <a:chExt cx="3252106" cy="5197928"/>
          </a:xfrm>
        </p:grpSpPr>
        <p:sp>
          <p:nvSpPr>
            <p:cNvPr id="1064402117" name=""/>
            <p:cNvSpPr/>
            <p:nvPr/>
          </p:nvSpPr>
          <p:spPr bwMode="auto">
            <a:xfrm rot="0" flipH="0" flipV="0">
              <a:off x="0" y="0"/>
              <a:ext cx="3252106" cy="5197928"/>
            </a:xfrm>
            <a:prstGeom prst="flowChartAlternateProcess">
              <a:avLst/>
            </a:prstGeom>
            <a:solidFill>
              <a:srgbClr val="A62D2D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pic>
          <p:nvPicPr>
            <p:cNvPr id="475590664" name="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 flipH="0" flipV="0">
              <a:off x="1265268" y="148703"/>
              <a:ext cx="721569" cy="817403"/>
            </a:xfrm>
            <a:prstGeom prst="rect">
              <a:avLst/>
            </a:prstGeom>
          </p:spPr>
        </p:pic>
        <p:sp>
          <p:nvSpPr>
            <p:cNvPr id="1119290939" name=""/>
            <p:cNvSpPr txBox="1"/>
            <p:nvPr/>
          </p:nvSpPr>
          <p:spPr bwMode="auto">
            <a:xfrm rot="0" flipH="0" flipV="0">
              <a:off x="306126" y="1106724"/>
              <a:ext cx="2639853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600" b="1">
                  <a:solidFill>
                    <a:schemeClr val="bg1"/>
                  </a:solidFill>
                  <a:latin typeface="3270 Nerd Font Propo Cond"/>
                  <a:ea typeface="3270 Nerd Font Propo Cond"/>
                  <a:cs typeface="3270 Nerd Font Propo Cond"/>
                </a:rPr>
                <a:t>Storage XSS</a:t>
              </a:r>
              <a:endParaRPr sz="2600" b="1">
                <a:solidFill>
                  <a:schemeClr val="bg1"/>
                </a:solidFill>
                <a:latin typeface="3270 Nerd Font Propo Cond"/>
                <a:cs typeface="3270 Nerd Font Propo Cond"/>
              </a:endParaRPr>
            </a:p>
          </p:txBody>
        </p:sp>
        <p:sp>
          <p:nvSpPr>
            <p:cNvPr id="2060155184" name=""/>
            <p:cNvSpPr txBox="1"/>
            <p:nvPr/>
          </p:nvSpPr>
          <p:spPr bwMode="auto">
            <a:xfrm rot="0" flipH="0" flipV="0">
              <a:off x="287766" y="1871445"/>
              <a:ext cx="2676573" cy="24692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600" b="1">
                  <a:solidFill>
                    <a:schemeClr val="bg1"/>
                  </a:solidFill>
                  <a:latin typeface="3270 Nerd Font Propo Cond"/>
                  <a:cs typeface="3270 Nerd Font Propo Cond"/>
                </a:rPr>
                <a:t>XSS Tersimpan Pada Penyimpanan Server dan Dijalankan Ketika User Lain Mengakses Website</a:t>
              </a:r>
              <a:endParaRPr sz="2600" b="1">
                <a:solidFill>
                  <a:schemeClr val="bg1"/>
                </a:solidFill>
                <a:latin typeface="3270 Nerd Font Propo Cond"/>
                <a:cs typeface="3270 Nerd Font Propo Cond"/>
              </a:endParaRPr>
            </a:p>
          </p:txBody>
        </p:sp>
      </p:grpSp>
      <p:grpSp>
        <p:nvGrpSpPr>
          <p:cNvPr id="144040670" name=""/>
          <p:cNvGrpSpPr/>
          <p:nvPr/>
        </p:nvGrpSpPr>
        <p:grpSpPr bwMode="auto">
          <a:xfrm>
            <a:off x="4446492" y="1224642"/>
            <a:ext cx="3252106" cy="5197928"/>
            <a:chOff x="0" y="0"/>
            <a:chExt cx="3252106" cy="5197928"/>
          </a:xfrm>
        </p:grpSpPr>
        <p:sp>
          <p:nvSpPr>
            <p:cNvPr id="1944058859" name=""/>
            <p:cNvSpPr/>
            <p:nvPr/>
          </p:nvSpPr>
          <p:spPr bwMode="auto">
            <a:xfrm rot="0" flipH="0" flipV="0">
              <a:off x="0" y="0"/>
              <a:ext cx="3252106" cy="5197928"/>
            </a:xfrm>
            <a:prstGeom prst="flowChartAlternateProcess">
              <a:avLst/>
            </a:prstGeom>
            <a:solidFill>
              <a:schemeClr val="bg1">
                <a:lumMod val="85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pic>
          <p:nvPicPr>
            <p:cNvPr id="324422878" name="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 flipH="1" flipV="0">
              <a:off x="1218211" y="148703"/>
              <a:ext cx="800081" cy="817403"/>
            </a:xfrm>
            <a:prstGeom prst="rect">
              <a:avLst/>
            </a:prstGeom>
          </p:spPr>
        </p:pic>
        <p:sp>
          <p:nvSpPr>
            <p:cNvPr id="973686314" name=""/>
            <p:cNvSpPr txBox="1"/>
            <p:nvPr/>
          </p:nvSpPr>
          <p:spPr bwMode="auto">
            <a:xfrm rot="0" flipH="0" flipV="0">
              <a:off x="337680" y="1106724"/>
              <a:ext cx="2646333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600" b="1">
                  <a:solidFill>
                    <a:schemeClr val="tx1"/>
                  </a:solidFill>
                  <a:latin typeface="3270 Nerd Font Propo Cond"/>
                  <a:ea typeface="3270 Nerd Font Propo Cond"/>
                  <a:cs typeface="3270 Nerd Font Propo Cond"/>
                </a:rPr>
                <a:t>Reflected XSS</a:t>
              </a:r>
              <a:endParaRPr sz="2600" b="1">
                <a:solidFill>
                  <a:schemeClr val="tx1"/>
                </a:solidFill>
                <a:latin typeface="3270 Nerd Font Propo Cond"/>
                <a:cs typeface="3270 Nerd Font Propo Cond"/>
              </a:endParaRPr>
            </a:p>
          </p:txBody>
        </p:sp>
        <p:sp>
          <p:nvSpPr>
            <p:cNvPr id="1447022080" name=""/>
            <p:cNvSpPr txBox="1"/>
            <p:nvPr/>
          </p:nvSpPr>
          <p:spPr bwMode="auto">
            <a:xfrm rot="0" flipH="0" flipV="0">
              <a:off x="279966" y="1871445"/>
              <a:ext cx="2689173" cy="228636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400" b="1">
                  <a:solidFill>
                    <a:schemeClr val="tx1"/>
                  </a:solidFill>
                  <a:latin typeface="3270 Nerd Font"/>
                  <a:ea typeface="3270 Nerd Font"/>
                  <a:cs typeface="3270 Nerd Font"/>
                </a:rPr>
                <a:t>XSS Tersimpan </a:t>
              </a:r>
              <a:r>
                <a:rPr sz="2400" b="1">
                  <a:solidFill>
                    <a:schemeClr val="tx1"/>
                  </a:solidFill>
                  <a:latin typeface="3270 Nerd Font"/>
                  <a:ea typeface="3270 Nerd Font"/>
                  <a:cs typeface="3270 Nerd Font"/>
                </a:rPr>
                <a:t>Pada Url Website Dan Akan Dijalankan  Ketika Url  Tersebut Dimuat</a:t>
              </a:r>
              <a:endParaRPr sz="2400" b="1">
                <a:solidFill>
                  <a:schemeClr val="tx1"/>
                </a:solidFill>
                <a:latin typeface="3270 Nerd Font"/>
                <a:cs typeface="3270 Nerd Font"/>
              </a:endParaRPr>
            </a:p>
          </p:txBody>
        </p:sp>
      </p:grpSp>
      <p:grpSp>
        <p:nvGrpSpPr>
          <p:cNvPr id="677889655" name=""/>
          <p:cNvGrpSpPr/>
          <p:nvPr/>
        </p:nvGrpSpPr>
        <p:grpSpPr bwMode="auto">
          <a:xfrm>
            <a:off x="8180798" y="1224642"/>
            <a:ext cx="3252106" cy="5197928"/>
            <a:chOff x="0" y="0"/>
            <a:chExt cx="3252106" cy="5197928"/>
          </a:xfrm>
        </p:grpSpPr>
        <p:sp>
          <p:nvSpPr>
            <p:cNvPr id="63845239" name=""/>
            <p:cNvSpPr/>
            <p:nvPr/>
          </p:nvSpPr>
          <p:spPr bwMode="auto">
            <a:xfrm rot="0" flipH="0" flipV="0">
              <a:off x="0" y="0"/>
              <a:ext cx="3252106" cy="5197928"/>
            </a:xfrm>
            <a:prstGeom prst="flowChartAlternateProcess">
              <a:avLst/>
            </a:prstGeom>
            <a:solidFill>
              <a:srgbClr val="A62D2D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pic>
          <p:nvPicPr>
            <p:cNvPr id="405799876" name="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 flipH="1" flipV="0">
              <a:off x="1174976" y="148703"/>
              <a:ext cx="902153" cy="902153"/>
            </a:xfrm>
            <a:prstGeom prst="rect">
              <a:avLst/>
            </a:prstGeom>
          </p:spPr>
        </p:pic>
        <p:sp>
          <p:nvSpPr>
            <p:cNvPr id="284839609" name=""/>
            <p:cNvSpPr txBox="1"/>
            <p:nvPr/>
          </p:nvSpPr>
          <p:spPr bwMode="auto">
            <a:xfrm rot="0" flipH="0" flipV="0">
              <a:off x="302886" y="1106724"/>
              <a:ext cx="2650293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600" b="1">
                  <a:solidFill>
                    <a:schemeClr val="bg1"/>
                  </a:solidFill>
                  <a:latin typeface="3270 Nerd Font Propo Cond"/>
                  <a:ea typeface="3270 Nerd Font Propo Cond"/>
                  <a:cs typeface="3270 Nerd Font Propo Cond"/>
                </a:rPr>
                <a:t>DOM Based XSS</a:t>
              </a:r>
              <a:endParaRPr sz="2600" b="1">
                <a:solidFill>
                  <a:schemeClr val="bg1"/>
                </a:solidFill>
                <a:latin typeface="3270 Nerd Font Propo Cond"/>
                <a:cs typeface="3270 Nerd Font Propo Cond"/>
              </a:endParaRPr>
            </a:p>
          </p:txBody>
        </p:sp>
        <p:sp>
          <p:nvSpPr>
            <p:cNvPr id="1305344708" name=""/>
            <p:cNvSpPr txBox="1"/>
            <p:nvPr/>
          </p:nvSpPr>
          <p:spPr bwMode="auto">
            <a:xfrm rot="0" flipH="0" flipV="0">
              <a:off x="287766" y="1871445"/>
              <a:ext cx="2697813" cy="20729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600" b="1">
                  <a:solidFill>
                    <a:schemeClr val="bg1"/>
                  </a:solidFill>
                  <a:latin typeface="3270 Nerd Font Propo Cond"/>
                  <a:cs typeface="3270 Nerd Font Propo Cond"/>
                </a:rPr>
                <a:t>XSS Tersimpan Pada Client Side Browser Sehingga Sulit Terdeteksi Oleh Server </a:t>
              </a:r>
              <a:endParaRPr sz="2600" b="1">
                <a:solidFill>
                  <a:schemeClr val="bg1"/>
                </a:solidFill>
                <a:latin typeface="3270 Nerd Font Propo Cond"/>
                <a:cs typeface="3270 Nerd Font Propo Cond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015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54015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54015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40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40406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40406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7889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778896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778896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454015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454015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4015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1440406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440406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4040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2" presetClass="exit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" dur="500"/>
                                        <p:tgtEl>
                                          <p:spTgt spid="6778896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6778896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7889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255222" name="Rectangle 1407440435"/>
          <p:cNvSpPr/>
          <p:nvPr/>
        </p:nvSpPr>
        <p:spPr bwMode="auto">
          <a:xfrm rot="0" flipH="0" flipV="0">
            <a:off x="0" y="9143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grpSp>
        <p:nvGrpSpPr>
          <p:cNvPr id="536546327" name=""/>
          <p:cNvGrpSpPr/>
          <p:nvPr/>
        </p:nvGrpSpPr>
        <p:grpSpPr bwMode="auto">
          <a:xfrm>
            <a:off x="-1003546" y="6112"/>
            <a:ext cx="13160468" cy="1374629"/>
            <a:chOff x="0" y="0"/>
            <a:chExt cx="13160468" cy="1374629"/>
          </a:xfrm>
        </p:grpSpPr>
        <p:sp>
          <p:nvSpPr>
            <p:cNvPr id="1298484964" name=""/>
            <p:cNvSpPr/>
            <p:nvPr/>
          </p:nvSpPr>
          <p:spPr bwMode="auto">
            <a:xfrm rot="0" flipH="0" flipV="0">
              <a:off x="979066" y="3029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77373834" name=""/>
            <p:cNvSpPr/>
            <p:nvPr/>
          </p:nvSpPr>
          <p:spPr bwMode="auto">
            <a:xfrm rot="0" flipH="1" flipV="1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93559620" name=""/>
          <p:cNvGrpSpPr/>
          <p:nvPr/>
        </p:nvGrpSpPr>
        <p:grpSpPr bwMode="auto">
          <a:xfrm>
            <a:off x="9675144" y="1368569"/>
            <a:ext cx="13160467" cy="1383772"/>
            <a:chOff x="0" y="0"/>
            <a:chExt cx="13160467" cy="1383772"/>
          </a:xfrm>
        </p:grpSpPr>
        <p:sp>
          <p:nvSpPr>
            <p:cNvPr id="168927861" name=""/>
            <p:cNvSpPr/>
            <p:nvPr/>
          </p:nvSpPr>
          <p:spPr bwMode="auto">
            <a:xfrm rot="0" flipH="0" flipV="0">
              <a:off x="0" y="12172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18450612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376683453" name=""/>
          <p:cNvGrpSpPr/>
          <p:nvPr/>
        </p:nvGrpSpPr>
        <p:grpSpPr bwMode="auto">
          <a:xfrm>
            <a:off x="-11032259" y="2743200"/>
            <a:ext cx="13187931" cy="1374629"/>
            <a:chOff x="0" y="0"/>
            <a:chExt cx="13187931" cy="1374629"/>
          </a:xfrm>
        </p:grpSpPr>
        <p:sp>
          <p:nvSpPr>
            <p:cNvPr id="770901522" name=""/>
            <p:cNvSpPr/>
            <p:nvPr/>
          </p:nvSpPr>
          <p:spPr bwMode="auto">
            <a:xfrm rot="0" flipH="0" flipV="0">
              <a:off x="1006529" y="0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42932169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704781607" name=""/>
          <p:cNvGrpSpPr/>
          <p:nvPr/>
        </p:nvGrpSpPr>
        <p:grpSpPr bwMode="auto">
          <a:xfrm>
            <a:off x="9675144" y="4109006"/>
            <a:ext cx="13160467" cy="1377391"/>
            <a:chOff x="0" y="0"/>
            <a:chExt cx="13160467" cy="1377391"/>
          </a:xfrm>
        </p:grpSpPr>
        <p:sp>
          <p:nvSpPr>
            <p:cNvPr id="1141411884" name=""/>
            <p:cNvSpPr/>
            <p:nvPr/>
          </p:nvSpPr>
          <p:spPr bwMode="auto">
            <a:xfrm rot="0" flipH="0" flipV="0">
              <a:off x="0" y="5791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845062941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595753855" name=""/>
          <p:cNvGrpSpPr/>
          <p:nvPr/>
        </p:nvGrpSpPr>
        <p:grpSpPr bwMode="auto">
          <a:xfrm>
            <a:off x="-11004795" y="5480606"/>
            <a:ext cx="13160467" cy="1374629"/>
            <a:chOff x="0" y="0"/>
            <a:chExt cx="13160467" cy="1374629"/>
          </a:xfrm>
        </p:grpSpPr>
        <p:sp>
          <p:nvSpPr>
            <p:cNvPr id="973042117" name=""/>
            <p:cNvSpPr/>
            <p:nvPr/>
          </p:nvSpPr>
          <p:spPr bwMode="auto">
            <a:xfrm rot="0" flipH="0" flipV="0">
              <a:off x="979066" y="3029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18591426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232897169" name=""/>
          <p:cNvSpPr txBox="1"/>
          <p:nvPr/>
        </p:nvSpPr>
        <p:spPr bwMode="auto">
          <a:xfrm rot="0" flipH="0" flipV="0">
            <a:off x="2217287" y="281767"/>
            <a:ext cx="7773982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rgbClr val="FF0000"/>
                </a:solidFill>
                <a:latin typeface="3270 Nerd Font Propo Cond"/>
                <a:ea typeface="3270 Nerd Font Propo Cond"/>
                <a:cs typeface="3270 Nerd Font Propo Cond"/>
              </a:rPr>
              <a:t>Cross-Site Scripting (XSS)</a:t>
            </a:r>
            <a:endParaRPr sz="3600" b="1">
              <a:solidFill>
                <a:srgbClr val="FF0000"/>
              </a:solidFill>
              <a:latin typeface="3270 Nerd Font Propo Cond"/>
              <a:cs typeface="3270 Nerd Font Propo Con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ONLYOFFICE/9.2.1.43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2026-04-12T12:17:24Z</dcterms:modified>
</cp:coreProperties>
</file>
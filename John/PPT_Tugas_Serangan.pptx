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 /><Relationship Id="rId24" Type="http://schemas.openxmlformats.org/officeDocument/2006/relationships/tableStyles" Target="tableStyles.xml" /><Relationship Id="rId25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411299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1408825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792928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340810231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2214487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5787585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979105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976071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984937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D18BF9-1D2B-010D-3618-E54C4230185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58647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651383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549720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3D5719-6C29-0337-15FA-C529C1598CC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619830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321425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661036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F0D2EE3-312B-8FD8-E459-62A734A2BBC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59446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300240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426459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15038B2-2198-E188-BB55-1344269DE29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456646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095722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619674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4681E7A-3D9F-6663-6C22-EDE58CDE1B7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75867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009544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11199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DF2AEC-81F1-78D2-3B41-D56F6D92C12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301263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207472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843015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A2FF9A8-F347-024E-6F22-67036762C33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730350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089291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655506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0D98004-5967-68D9-518B-F07B920E529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398285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316703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721190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B62FC76-6240-3AE3-00B1-8EE76FB3687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4271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812830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743563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3D00D4A-EC1E-6E76-7BC9-8E2B3921AD5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943454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47761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40432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001E04-14D6-A73B-C9B9-F546FD71465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521294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418031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80605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93D8227-28D1-78AF-1E80-62E5E95ECF2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118537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682886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252712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FBC2F1F-AD30-3370-61F2-365B881541D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23350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881912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118231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3C5BC7F-0227-1903-E50E-C83422DF38D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81603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985028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856299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F351B64-92A1-CFBD-DCBD-711A2B82A42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95731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886354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10199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AA8FB19-AD3F-E23C-114E-D4796B84A3B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117051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633088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84759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A0BE107-DF2A-2F07-5A83-5038511768E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086714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163469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734971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56731E-DBE7-C154-EFA3-41B87A54978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2479498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39523941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20377348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3438052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4609791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385422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998989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8624471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1553522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0190553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219516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1955199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4282314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2872751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2169968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743034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20679442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0858930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320754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2413405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5616621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5625026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3907354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5876755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2111199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0338958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7165347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2672163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0087911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180515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2335993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58957418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55290908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6114043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9111071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472238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8352125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13108688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0743622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9787703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72782688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8280231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8498959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06079076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82221291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1886440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12177608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5105872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857897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35876241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8507292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5218243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9332639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237589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96105097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0678991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8382043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7932058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5749354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0553815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3383663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059871103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98560453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3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Relationship Id="rId4" Type="http://schemas.openxmlformats.org/officeDocument/2006/relationships/image" Target="../media/image7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Relationship Id="rId4" Type="http://schemas.openxmlformats.org/officeDocument/2006/relationships/image" Target="../media/image11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Relationship Id="rId4" Type="http://schemas.openxmlformats.org/officeDocument/2006/relationships/image" Target="../media/image11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Relationship Id="rId4" Type="http://schemas.openxmlformats.org/officeDocument/2006/relationships/image" Target="../media/image11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Relationship Id="rId4" Type="http://schemas.openxmlformats.org/officeDocument/2006/relationships/image" Target="../media/image11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4441088" name=""/>
          <p:cNvSpPr/>
          <p:nvPr/>
        </p:nvSpPr>
        <p:spPr bwMode="auto">
          <a:xfrm rot="0" flipH="0" flipV="0">
            <a:off x="33045" y="14881"/>
            <a:ext cx="12129490" cy="6846093"/>
          </a:xfrm>
          <a:prstGeom prst="rect">
            <a:avLst/>
          </a:prstGeom>
          <a:solidFill>
            <a:srgbClr val="000000">
              <a:alpha val="49999"/>
            </a:srgbClr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80045867" name=""/>
          <p:cNvSpPr txBox="1"/>
          <p:nvPr/>
        </p:nvSpPr>
        <p:spPr bwMode="auto">
          <a:xfrm rot="0" flipH="0" flipV="0">
            <a:off x="1411583" y="641479"/>
            <a:ext cx="9369192" cy="33836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7200">
                <a:solidFill>
                  <a:schemeClr val="bg1"/>
                </a:solidFill>
                <a:latin typeface="3270 Nerd Font Mono"/>
                <a:ea typeface="3270 Nerd Font Mono"/>
                <a:cs typeface="3270 Nerd Font Mono"/>
              </a:rPr>
              <a:t>Ana</a:t>
            </a:r>
            <a:r>
              <a:rPr sz="7200">
                <a:solidFill>
                  <a:schemeClr val="bg1"/>
                </a:solidFill>
                <a:latin typeface="3270 Nerd Font Mono"/>
                <a:ea typeface="3270 Nerd Font Mono"/>
                <a:cs typeface="3270 Nerd Font Mono"/>
              </a:rPr>
              <a:t>lisis Serangan </a:t>
            </a:r>
            <a:br>
              <a:rPr sz="7200">
                <a:solidFill>
                  <a:schemeClr val="bg1"/>
                </a:solidFill>
                <a:latin typeface="3270 Nerd Font Mono"/>
                <a:ea typeface="3270 Nerd Font Mono"/>
                <a:cs typeface="3270 Nerd Font Mono"/>
              </a:rPr>
            </a:br>
            <a:r>
              <a:rPr sz="7200">
                <a:solidFill>
                  <a:srgbClr val="C00000"/>
                </a:solidFill>
                <a:latin typeface="3270 Nerd Font Mono"/>
                <a:ea typeface="3270 Nerd Font Mono"/>
                <a:cs typeface="3270 Nerd Font Mono"/>
              </a:rPr>
              <a:t>Data &amp; Informasi</a:t>
            </a:r>
            <a:r>
              <a:rPr sz="7200">
                <a:solidFill>
                  <a:schemeClr val="bg1"/>
                </a:solidFill>
                <a:latin typeface="3270 Nerd Font Mono"/>
                <a:ea typeface="3270 Nerd Font Mono"/>
                <a:cs typeface="3270 Nerd Font Mono"/>
              </a:rPr>
              <a:t> </a:t>
            </a:r>
            <a:br>
              <a:rPr sz="7200">
                <a:solidFill>
                  <a:schemeClr val="bg1"/>
                </a:solidFill>
                <a:latin typeface="3270 Nerd Font Mono"/>
                <a:ea typeface="3270 Nerd Font Mono"/>
                <a:cs typeface="3270 Nerd Font Mono"/>
              </a:rPr>
            </a:br>
            <a:r>
              <a:rPr sz="7200">
                <a:solidFill>
                  <a:schemeClr val="bg1"/>
                </a:solidFill>
                <a:latin typeface="3270 Nerd Font Mono"/>
                <a:ea typeface="3270 Nerd Font Mono"/>
                <a:cs typeface="3270 Nerd Font Mono"/>
              </a:rPr>
              <a:t>Pada Website </a:t>
            </a:r>
            <a:endParaRPr sz="7200">
              <a:solidFill>
                <a:schemeClr val="bg1"/>
              </a:solidFill>
              <a:latin typeface="3270 Nerd Font Mono"/>
              <a:cs typeface="3270 Nerd Font Mono"/>
            </a:endParaRPr>
          </a:p>
        </p:txBody>
      </p:sp>
      <p:sp>
        <p:nvSpPr>
          <p:cNvPr id="1196769820" name=""/>
          <p:cNvSpPr txBox="1"/>
          <p:nvPr/>
        </p:nvSpPr>
        <p:spPr bwMode="auto">
          <a:xfrm rot="0" flipH="0" flipV="0">
            <a:off x="1372163" y="4222879"/>
            <a:ext cx="9447672" cy="16157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0">
                <a:solidFill>
                  <a:schemeClr val="bg1"/>
                </a:solidFill>
                <a:latin typeface="3270 Nerd Font Mono"/>
                <a:ea typeface="3270 Nerd Font Mono"/>
                <a:cs typeface="3270 Nerd Font Mono"/>
              </a:rPr>
              <a:t>Muhammad Rafly Fattaya</a:t>
            </a:r>
            <a:r>
              <a:rPr sz="2000">
                <a:solidFill>
                  <a:schemeClr val="bg1"/>
                </a:solidFill>
                <a:latin typeface="3270 Nerd Font Mono"/>
                <a:ea typeface="3270 Nerd Font Mono"/>
                <a:cs typeface="3270 Nerd Font Mono"/>
              </a:rPr>
              <a:t> (310124023697)</a:t>
            </a:r>
            <a:endParaRPr sz="2000">
              <a:solidFill>
                <a:schemeClr val="bg1"/>
              </a:solidFill>
              <a:latin typeface="3270 Nerd Font Mono"/>
              <a:cs typeface="3270 Nerd Font Mono"/>
            </a:endParaRPr>
          </a:p>
          <a:p>
            <a:pPr algn="ctr">
              <a:defRPr/>
            </a:pPr>
            <a:r>
              <a:rPr sz="2000">
                <a:solidFill>
                  <a:schemeClr val="bg1"/>
                </a:solidFill>
                <a:latin typeface="3270 Nerd Font Mono"/>
                <a:ea typeface="3270 Nerd Font Mono"/>
                <a:cs typeface="3270 Nerd Font Mono"/>
              </a:rPr>
              <a:t>Jonathan Andrew Wijaya (310124023844)</a:t>
            </a:r>
            <a:endParaRPr sz="2000">
              <a:solidFill>
                <a:schemeClr val="bg1"/>
              </a:solidFill>
              <a:latin typeface="3270 Nerd Font Mono"/>
              <a:ea typeface="3270 Nerd Font Mono"/>
              <a:cs typeface="3270 Nerd Font Mono"/>
            </a:endParaRPr>
          </a:p>
          <a:p>
            <a:pPr algn="ctr">
              <a:defRPr/>
            </a:pPr>
            <a:r>
              <a:rPr sz="2000">
                <a:solidFill>
                  <a:schemeClr val="bg1"/>
                </a:solidFill>
                <a:latin typeface="3270 Nerd Font Mono"/>
                <a:ea typeface="3270 Nerd Font Mono"/>
                <a:cs typeface="3270 Nerd Font Mono"/>
              </a:rPr>
              <a:t>Nazril Anbiya Rasyada (310124023851)</a:t>
            </a:r>
            <a:endParaRPr sz="2000">
              <a:solidFill>
                <a:schemeClr val="bg1"/>
              </a:solidFill>
              <a:latin typeface="3270 Nerd Font Mono"/>
              <a:ea typeface="3270 Nerd Font Mono"/>
              <a:cs typeface="3270 Nerd Font Mono"/>
            </a:endParaRPr>
          </a:p>
          <a:p>
            <a:pPr algn="ctr">
              <a:defRPr/>
            </a:pPr>
            <a:r>
              <a:rPr sz="2000">
                <a:solidFill>
                  <a:schemeClr val="bg1"/>
                </a:solidFill>
                <a:latin typeface="3270 Nerd Font Mono"/>
                <a:ea typeface="3270 Nerd Font Mono"/>
                <a:cs typeface="3270 Nerd Font Mono"/>
              </a:rPr>
              <a:t>Muhammad Iqbal Fahrezi (310124023855)</a:t>
            </a:r>
            <a:endParaRPr sz="2000">
              <a:solidFill>
                <a:schemeClr val="bg1"/>
              </a:solidFill>
              <a:latin typeface="3270 Nerd Font Mono"/>
              <a:ea typeface="3270 Nerd Font Mono"/>
              <a:cs typeface="3270 Nerd Font Mono"/>
            </a:endParaRPr>
          </a:p>
          <a:p>
            <a:pPr algn="ctr">
              <a:defRPr/>
            </a:pPr>
            <a:r>
              <a:rPr sz="2000">
                <a:solidFill>
                  <a:schemeClr val="bg1"/>
                </a:solidFill>
                <a:latin typeface="3270 Nerd Font Mono"/>
                <a:ea typeface="3270 Nerd Font Mono"/>
                <a:cs typeface="3270 Nerd Font Mono"/>
              </a:rPr>
              <a:t>Valentinus Bolly Wuran Tedez (310124023876)</a:t>
            </a:r>
            <a:endParaRPr sz="2000">
              <a:solidFill>
                <a:schemeClr val="bg1"/>
              </a:solidFill>
              <a:latin typeface="3270 Nerd Font Mono"/>
              <a:cs typeface="3270 Nerd Font Mono"/>
            </a:endParaRPr>
          </a:p>
        </p:txBody>
      </p:sp>
      <p:sp>
        <p:nvSpPr>
          <p:cNvPr id="1982053003" name=""/>
          <p:cNvSpPr txBox="1"/>
          <p:nvPr/>
        </p:nvSpPr>
        <p:spPr bwMode="auto">
          <a:xfrm rot="0" flipH="0" flipV="0">
            <a:off x="315875" y="-1198337"/>
            <a:ext cx="5919026" cy="518519"/>
          </a:xfrm>
          <a:prstGeom prst="rect">
            <a:avLst/>
          </a:prstGeom>
          <a:solidFill>
            <a:schemeClr val="tx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2800" b="1">
                <a:solidFill>
                  <a:srgbClr val="1CB728"/>
                </a:solidFill>
                <a:highlight>
                  <a:srgbClr val="000000"/>
                </a:highlight>
                <a:latin typeface="3270 Nerd Font Mono"/>
                <a:ea typeface="3270 Nerd Font Mono"/>
                <a:cs typeface="3270 Nerd Font Mono"/>
              </a:rPr>
              <a:t>Keamanan Data &amp; Informasi</a:t>
            </a:r>
            <a:endParaRPr sz="2800" b="1">
              <a:solidFill>
                <a:srgbClr val="1CB728"/>
              </a:solidFill>
              <a:highlight>
                <a:srgbClr val="000000"/>
              </a:highlight>
              <a:latin typeface="3270 Nerd Font Mono"/>
              <a:cs typeface="3270 Nerd Font Mon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5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045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9" dur="500"/>
                                        <p:tgtEl>
                                          <p:spTgt spid="1180045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769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4" dur="500"/>
                                        <p:tgtEl>
                                          <p:spTgt spid="1196769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4" presetClass="exit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vertical)">
                                      <p:cBhvr>
                                        <p:cTn id="6" dur="500"/>
                                        <p:tgtEl>
                                          <p:spTgt spid="11800458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0045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4" presetClass="exit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vertical)">
                                      <p:cBhvr>
                                        <p:cTn id="6" dur="500"/>
                                        <p:tgtEl>
                                          <p:spTgt spid="11967698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6769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3757163" name=""/>
          <p:cNvSpPr/>
          <p:nvPr/>
        </p:nvSpPr>
        <p:spPr bwMode="auto">
          <a:xfrm rot="0" flipH="0" flipV="0">
            <a:off x="31254" y="14880"/>
            <a:ext cx="12129490" cy="6846093"/>
          </a:xfrm>
          <a:prstGeom prst="rect">
            <a:avLst/>
          </a:prstGeom>
          <a:solidFill>
            <a:srgbClr val="000000">
              <a:alpha val="49999"/>
            </a:srgbClr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153614" name=""/>
          <p:cNvSpPr txBox="1"/>
          <p:nvPr/>
        </p:nvSpPr>
        <p:spPr bwMode="auto">
          <a:xfrm rot="0" flipH="0" flipV="0">
            <a:off x="315875" y="366483"/>
            <a:ext cx="6487643" cy="640440"/>
          </a:xfrm>
          <a:prstGeom prst="rect">
            <a:avLst/>
          </a:prstGeom>
          <a:solidFill>
            <a:schemeClr val="tx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3600" b="1">
                <a:solidFill>
                  <a:srgbClr val="1CB728"/>
                </a:solidFill>
                <a:highlight>
                  <a:srgbClr val="000000"/>
                </a:highlight>
                <a:latin typeface="3270 Nerd Font Mono"/>
                <a:ea typeface="3270 Nerd Font Mono"/>
                <a:cs typeface="3270 Nerd Font Mono"/>
              </a:rPr>
              <a:t>Keamanan Data &amp; Informasi</a:t>
            </a:r>
            <a:endParaRPr sz="3600" b="1">
              <a:solidFill>
                <a:srgbClr val="1CB728"/>
              </a:solidFill>
              <a:highlight>
                <a:srgbClr val="000000"/>
              </a:highlight>
              <a:latin typeface="3270 Nerd Font Mono"/>
              <a:cs typeface="3270 Nerd Font Mono"/>
            </a:endParaRPr>
          </a:p>
        </p:txBody>
      </p:sp>
      <p:pic>
        <p:nvPicPr>
          <p:cNvPr id="1297530196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6938323" y="960116"/>
            <a:ext cx="5222421" cy="5222421"/>
          </a:xfrm>
          <a:prstGeom prst="rect">
            <a:avLst/>
          </a:prstGeom>
        </p:spPr>
      </p:pic>
      <p:sp>
        <p:nvSpPr>
          <p:cNvPr id="1521996933" name=""/>
          <p:cNvSpPr txBox="1"/>
          <p:nvPr/>
        </p:nvSpPr>
        <p:spPr bwMode="auto">
          <a:xfrm rot="0" flipH="0" flipV="0">
            <a:off x="315875" y="1254276"/>
            <a:ext cx="6312914" cy="22863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just">
              <a:defRPr/>
            </a:pPr>
            <a:r>
              <a:rPr sz="2400" b="1">
                <a:solidFill>
                  <a:schemeClr val="bg1"/>
                </a:solidFill>
                <a:latin typeface="3270 Nerd Font Mono"/>
                <a:cs typeface="3270 Nerd Font Mono"/>
              </a:rPr>
              <a:t>Perlindungan atas data dan informasi pada era digital ini menjadi hal yang sangat penting</a:t>
            </a:r>
            <a:r>
              <a:rPr sz="2400" b="1">
                <a:solidFill>
                  <a:schemeClr val="bg1"/>
                </a:solidFill>
                <a:latin typeface="3270 Nerd Font Mono"/>
                <a:cs typeface="3270 Nerd Font Mono"/>
              </a:rPr>
              <a:t> yang disebabkan oleh banyaknya tindakan kejahatan yang dapat merugikan banyak pihak tanpa adanya keamanan data &amp; informasi</a:t>
            </a:r>
            <a:endParaRPr sz="2400" b="1">
              <a:solidFill>
                <a:schemeClr val="bg1"/>
              </a:solidFill>
              <a:latin typeface="3270 Nerd Font Mono"/>
              <a:cs typeface="3270 Nerd Font Mono"/>
            </a:endParaRPr>
          </a:p>
        </p:txBody>
      </p:sp>
      <p:sp>
        <p:nvSpPr>
          <p:cNvPr id="1207189436" name=""/>
          <p:cNvSpPr txBox="1"/>
          <p:nvPr/>
        </p:nvSpPr>
        <p:spPr bwMode="auto">
          <a:xfrm rot="0" flipH="0" flipV="0">
            <a:off x="315875" y="3789558"/>
            <a:ext cx="6313959" cy="2072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just">
              <a:defRPr/>
            </a:pPr>
            <a:r>
              <a:rPr sz="2600" b="1">
                <a:solidFill>
                  <a:schemeClr val="bg1"/>
                </a:solidFill>
                <a:latin typeface="3270 Nerd Font Mono"/>
                <a:cs typeface="3270 Nerd Font Mono"/>
              </a:rPr>
              <a:t>Dengan memiliki akses pada data digital yang sensitif, pelaku kejahatan dapat melakukan berbagai hal seperti transaksi illegal, pemerasan, kecurangan, dan lainya</a:t>
            </a:r>
            <a:endParaRPr sz="2600" b="1">
              <a:solidFill>
                <a:schemeClr val="bg1"/>
              </a:solidFill>
              <a:latin typeface="3270 Nerd Font Mono"/>
              <a:cs typeface="3270 Nerd Font Mon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7530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5" dur="500"/>
                                        <p:tgtEl>
                                          <p:spTgt spid="1297530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1996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2" dur="500"/>
                                        <p:tgtEl>
                                          <p:spTgt spid="1521996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189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9" dur="500"/>
                                        <p:tgtEl>
                                          <p:spTgt spid="1207189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14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153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6" dur="500"/>
                                        <p:tgtEl>
                                          <p:spTgt spid="157153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9862209" name=""/>
          <p:cNvSpPr/>
          <p:nvPr/>
        </p:nvSpPr>
        <p:spPr bwMode="auto">
          <a:xfrm rot="0" flipH="0" flipV="0">
            <a:off x="31253" y="14879"/>
            <a:ext cx="12129489" cy="6846093"/>
          </a:xfrm>
          <a:prstGeom prst="rect">
            <a:avLst/>
          </a:prstGeom>
          <a:solidFill>
            <a:srgbClr val="000000">
              <a:alpha val="49999"/>
            </a:srgbClr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828508433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6938322" y="960115"/>
            <a:ext cx="5222421" cy="5222421"/>
          </a:xfrm>
          <a:prstGeom prst="rect">
            <a:avLst/>
          </a:prstGeom>
        </p:spPr>
      </p:pic>
      <p:sp>
        <p:nvSpPr>
          <p:cNvPr id="1067890437" name=""/>
          <p:cNvSpPr txBox="1"/>
          <p:nvPr/>
        </p:nvSpPr>
        <p:spPr bwMode="auto">
          <a:xfrm rot="0" flipH="0" flipV="0">
            <a:off x="315875" y="1254276"/>
            <a:ext cx="6313273" cy="22863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just">
              <a:defRPr/>
            </a:pPr>
            <a:r>
              <a:rPr sz="2400" b="1">
                <a:solidFill>
                  <a:schemeClr val="bg1"/>
                </a:solidFill>
                <a:latin typeface="3270 Nerd Font Mono"/>
                <a:cs typeface="3270 Nerd Font Mono"/>
              </a:rPr>
              <a:t>Perlindungan atas data dan informasi pada era digital ini menjadi hal yang sangat penting</a:t>
            </a:r>
            <a:r>
              <a:rPr sz="2400" b="1">
                <a:solidFill>
                  <a:schemeClr val="bg1"/>
                </a:solidFill>
                <a:latin typeface="3270 Nerd Font Mono"/>
                <a:cs typeface="3270 Nerd Font Mono"/>
              </a:rPr>
              <a:t> yang disebabkan oleh banyaknya tindakan kejahatan yang dapat merugikan banyak pihak tanpa adanya keamanan data &amp; informasi</a:t>
            </a:r>
            <a:endParaRPr sz="2400" b="1">
              <a:solidFill>
                <a:schemeClr val="bg1"/>
              </a:solidFill>
              <a:latin typeface="3270 Nerd Font Mono"/>
              <a:cs typeface="3270 Nerd Font Mono"/>
            </a:endParaRPr>
          </a:p>
        </p:txBody>
      </p:sp>
      <p:sp>
        <p:nvSpPr>
          <p:cNvPr id="1532678691" name=""/>
          <p:cNvSpPr txBox="1"/>
          <p:nvPr/>
        </p:nvSpPr>
        <p:spPr bwMode="auto">
          <a:xfrm rot="0" flipH="0" flipV="0">
            <a:off x="315874" y="3789558"/>
            <a:ext cx="6314319" cy="2072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just">
              <a:defRPr/>
            </a:pPr>
            <a:r>
              <a:rPr sz="2600" b="1">
                <a:solidFill>
                  <a:schemeClr val="bg1"/>
                </a:solidFill>
                <a:latin typeface="3270 Nerd Font Mono"/>
                <a:cs typeface="3270 Nerd Font Mono"/>
              </a:rPr>
              <a:t>Dengan memiliki akses pada data digital yang sensitif, pelaku kejahatan dapat melakukan berbagai hal seperti transaksi illegal, pemerasan, kecurangan, dan lainya</a:t>
            </a:r>
            <a:endParaRPr sz="2600" b="1">
              <a:solidFill>
                <a:schemeClr val="bg1"/>
              </a:solidFill>
              <a:latin typeface="3270 Nerd Font Mono"/>
              <a:cs typeface="3270 Nerd Font Mono"/>
            </a:endParaRPr>
          </a:p>
        </p:txBody>
      </p:sp>
      <p:sp>
        <p:nvSpPr>
          <p:cNvPr id="838575806" name=""/>
          <p:cNvSpPr txBox="1"/>
          <p:nvPr/>
        </p:nvSpPr>
        <p:spPr bwMode="auto">
          <a:xfrm rot="0" flipH="0" flipV="0">
            <a:off x="315874" y="366482"/>
            <a:ext cx="6488003" cy="640440"/>
          </a:xfrm>
          <a:prstGeom prst="rect">
            <a:avLst/>
          </a:prstGeom>
          <a:solidFill>
            <a:schemeClr val="tx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3600" b="1">
                <a:solidFill>
                  <a:srgbClr val="1CB728"/>
                </a:solidFill>
                <a:highlight>
                  <a:srgbClr val="000000"/>
                </a:highlight>
                <a:latin typeface="3270 Nerd Font Mono"/>
                <a:ea typeface="3270 Nerd Font Mono"/>
                <a:cs typeface="3270 Nerd Font Mono"/>
              </a:rPr>
              <a:t>Keamanan Data &amp; Informasi</a:t>
            </a:r>
            <a:endParaRPr sz="3600" b="1">
              <a:solidFill>
                <a:srgbClr val="1CB728"/>
              </a:solidFill>
              <a:highlight>
                <a:srgbClr val="000000"/>
              </a:highlight>
              <a:latin typeface="3270 Nerd Font Mono"/>
              <a:cs typeface="3270 Nerd Font Mon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0" advClick="1" advTm="0"/>
    </mc:Choice>
    <mc:Fallback>
      <p:transition advClick="1" advTm="0"/>
    </mc:Fallback>
  </mc:AlternateContent>
  <p:timing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6332956" name=""/>
          <p:cNvSpPr/>
          <p:nvPr/>
        </p:nvSpPr>
        <p:spPr bwMode="auto">
          <a:xfrm rot="0" flipH="0" flipV="0">
            <a:off x="31253" y="14879"/>
            <a:ext cx="12129489" cy="6846093"/>
          </a:xfrm>
          <a:prstGeom prst="rect">
            <a:avLst/>
          </a:prstGeom>
          <a:solidFill>
            <a:srgbClr val="000000">
              <a:alpha val="49999"/>
            </a:srgbClr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463221645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15225071" y="960115"/>
            <a:ext cx="5222421" cy="5222421"/>
          </a:xfrm>
          <a:prstGeom prst="rect">
            <a:avLst/>
          </a:prstGeom>
        </p:spPr>
      </p:pic>
      <p:sp>
        <p:nvSpPr>
          <p:cNvPr id="1659655049" name=""/>
          <p:cNvSpPr txBox="1"/>
          <p:nvPr/>
        </p:nvSpPr>
        <p:spPr bwMode="auto">
          <a:xfrm rot="0" flipH="0" flipV="0">
            <a:off x="315875" y="9731526"/>
            <a:ext cx="6313632" cy="22863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just">
              <a:defRPr/>
            </a:pPr>
            <a:r>
              <a:rPr sz="2400" b="1">
                <a:solidFill>
                  <a:schemeClr val="bg1"/>
                </a:solidFill>
                <a:latin typeface="3270 Nerd Font Mono"/>
                <a:cs typeface="3270 Nerd Font Mono"/>
              </a:rPr>
              <a:t>Perlindungan atas data dan informasi pada era digital ini menjadi hal yang sangat penting</a:t>
            </a:r>
            <a:r>
              <a:rPr sz="2400" b="1">
                <a:solidFill>
                  <a:schemeClr val="bg1"/>
                </a:solidFill>
                <a:latin typeface="3270 Nerd Font Mono"/>
                <a:cs typeface="3270 Nerd Font Mono"/>
              </a:rPr>
              <a:t> yang disebabkan oleh banyaknya tindakan kejahatan yang dapat merugikan banyak pihak tanpa adanya keamanan data &amp; informasi</a:t>
            </a:r>
            <a:endParaRPr sz="2400" b="1">
              <a:solidFill>
                <a:schemeClr val="bg1"/>
              </a:solidFill>
              <a:latin typeface="3270 Nerd Font Mono"/>
              <a:cs typeface="3270 Nerd Font Mono"/>
            </a:endParaRPr>
          </a:p>
        </p:txBody>
      </p:sp>
      <p:sp>
        <p:nvSpPr>
          <p:cNvPr id="1108423722" name=""/>
          <p:cNvSpPr txBox="1"/>
          <p:nvPr/>
        </p:nvSpPr>
        <p:spPr bwMode="auto">
          <a:xfrm rot="0" flipH="0" flipV="0">
            <a:off x="315874" y="12266807"/>
            <a:ext cx="6314679" cy="2072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just">
              <a:defRPr/>
            </a:pPr>
            <a:r>
              <a:rPr sz="2600" b="1">
                <a:solidFill>
                  <a:schemeClr val="bg1"/>
                </a:solidFill>
                <a:latin typeface="3270 Nerd Font Mono"/>
                <a:cs typeface="3270 Nerd Font Mono"/>
              </a:rPr>
              <a:t>Dengan memiliki akses pada data digital yang sensitif, pelaku kejahatan dapat melakukan berbagai hal seperti transaksi illegal, pemerasan, kecurangan, dan lainya</a:t>
            </a:r>
            <a:endParaRPr sz="2600" b="1">
              <a:solidFill>
                <a:schemeClr val="bg1"/>
              </a:solidFill>
              <a:latin typeface="3270 Nerd Font Mono"/>
              <a:cs typeface="3270 Nerd Font Mono"/>
            </a:endParaRPr>
          </a:p>
        </p:txBody>
      </p:sp>
      <p:sp>
        <p:nvSpPr>
          <p:cNvPr id="1158593095" name=""/>
          <p:cNvSpPr txBox="1"/>
          <p:nvPr/>
        </p:nvSpPr>
        <p:spPr bwMode="auto">
          <a:xfrm rot="0" flipH="0" flipV="0">
            <a:off x="315874" y="-1252766"/>
            <a:ext cx="6488363" cy="640440"/>
          </a:xfrm>
          <a:prstGeom prst="rect">
            <a:avLst/>
          </a:prstGeom>
          <a:solidFill>
            <a:schemeClr val="tx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3600" b="1">
                <a:solidFill>
                  <a:srgbClr val="1CB728"/>
                </a:solidFill>
                <a:highlight>
                  <a:srgbClr val="000000"/>
                </a:highlight>
                <a:latin typeface="3270 Nerd Font Mono"/>
                <a:ea typeface="3270 Nerd Font Mono"/>
                <a:cs typeface="3270 Nerd Font Mono"/>
              </a:rPr>
              <a:t>Keamanan Data &amp; Informasi</a:t>
            </a:r>
            <a:endParaRPr sz="3600" b="1">
              <a:solidFill>
                <a:srgbClr val="1CB728"/>
              </a:solidFill>
              <a:highlight>
                <a:srgbClr val="000000"/>
              </a:highlight>
              <a:latin typeface="3270 Nerd Font Mono"/>
              <a:cs typeface="3270 Nerd Font Mono"/>
            </a:endParaRPr>
          </a:p>
        </p:txBody>
      </p:sp>
      <p:sp>
        <p:nvSpPr>
          <p:cNvPr id="104386853" name=""/>
          <p:cNvSpPr txBox="1"/>
          <p:nvPr/>
        </p:nvSpPr>
        <p:spPr bwMode="auto">
          <a:xfrm rot="0" flipH="0" flipV="0">
            <a:off x="5116937" y="214856"/>
            <a:ext cx="6673585" cy="1189080"/>
          </a:xfrm>
          <a:prstGeom prst="rect">
            <a:avLst/>
          </a:prstGeom>
          <a:solidFill>
            <a:schemeClr val="tx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3600" b="1">
                <a:solidFill>
                  <a:schemeClr val="accent5">
                    <a:lumMod val="60000"/>
                    <a:lumOff val="40000"/>
                  </a:schemeClr>
                </a:solidFill>
                <a:latin typeface="3270 Nerd Font Mono"/>
                <a:ea typeface="3270 Nerd Font Mono"/>
                <a:cs typeface="3270 Nerd Font Mono"/>
              </a:rPr>
              <a:t>Pentingnya Keamanan Data &amp; Informasi Pada Website</a:t>
            </a:r>
            <a:endParaRPr sz="3600" b="1">
              <a:solidFill>
                <a:schemeClr val="accent5">
                  <a:lumMod val="60000"/>
                  <a:lumOff val="40000"/>
                </a:schemeClr>
              </a:solidFill>
              <a:highlight>
                <a:srgbClr val="000000"/>
              </a:highlight>
              <a:latin typeface="3270 Nerd Font Mono"/>
              <a:cs typeface="3270 Nerd Font Mono"/>
            </a:endParaRPr>
          </a:p>
        </p:txBody>
      </p:sp>
      <p:sp>
        <p:nvSpPr>
          <p:cNvPr id="1052521697" name=""/>
          <p:cNvSpPr txBox="1"/>
          <p:nvPr/>
        </p:nvSpPr>
        <p:spPr bwMode="auto">
          <a:xfrm rot="0" flipH="0" flipV="0">
            <a:off x="5475449" y="1657502"/>
            <a:ext cx="6404352" cy="210348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just">
              <a:defRPr/>
            </a:pPr>
            <a:r>
              <a:rPr sz="2200" b="1">
                <a:solidFill>
                  <a:schemeClr val="bg1"/>
                </a:solidFill>
                <a:latin typeface="3270 Nerd Font Mono"/>
                <a:cs typeface="3270 Nerd Font Mono"/>
              </a:rPr>
              <a:t>Semenjak perkembangan internet 3.0</a:t>
            </a:r>
            <a:r>
              <a:rPr sz="2200" b="1">
                <a:solidFill>
                  <a:schemeClr val="bg1"/>
                </a:solidFill>
                <a:latin typeface="3270 Nerd Font Mono"/>
                <a:cs typeface="3270 Nerd Font Mono"/>
              </a:rPr>
              <a:t>, website sudah menjadi salah satu media untuk berbagi dan mendapatkan data. Kemudahan akses suatu website menjadi salah satu alasan utama pendukung alasan tersebut.</a:t>
            </a:r>
            <a:endParaRPr sz="2200" b="1">
              <a:solidFill>
                <a:schemeClr val="bg1"/>
              </a:solidFill>
              <a:latin typeface="3270 Nerd Font Mono"/>
              <a:cs typeface="3270 Nerd Font Mono"/>
            </a:endParaRPr>
          </a:p>
        </p:txBody>
      </p:sp>
      <p:sp>
        <p:nvSpPr>
          <p:cNvPr id="322688665" name=""/>
          <p:cNvSpPr txBox="1"/>
          <p:nvPr/>
        </p:nvSpPr>
        <p:spPr bwMode="auto">
          <a:xfrm rot="0" flipH="0" flipV="0">
            <a:off x="5475449" y="3934254"/>
            <a:ext cx="6505511" cy="210348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spAutoFit/>
          </a:bodyPr>
          <a:p>
            <a:pPr algn="just">
              <a:defRPr/>
            </a:pPr>
            <a:r>
              <a:rPr sz="2200" b="1">
                <a:solidFill>
                  <a:schemeClr val="bg1"/>
                </a:solidFill>
                <a:latin typeface="3270 Nerd Font Mono"/>
                <a:cs typeface="3270 Nerd Font Mono"/>
              </a:rPr>
              <a:t>Namun kemudahan akses tersebut menjadikan website suatu target utama dalam berbagai macam serangan data dan informasi. Jumlah pengunjung yang menggunakan suatu website serta kemudahan akses membuat website rentan diserang</a:t>
            </a:r>
            <a:r>
              <a:rPr sz="2200" b="1">
                <a:solidFill>
                  <a:schemeClr val="bg1"/>
                </a:solidFill>
                <a:latin typeface="3270 Nerd Font Mono"/>
                <a:cs typeface="3270 Nerd Font Mono"/>
              </a:rPr>
              <a:t>.</a:t>
            </a:r>
            <a:endParaRPr sz="2200" b="1">
              <a:solidFill>
                <a:schemeClr val="bg1"/>
              </a:solidFill>
              <a:latin typeface="3270 Nerd Font Mono"/>
              <a:cs typeface="3270 Nerd Font Mono"/>
            </a:endParaRPr>
          </a:p>
        </p:txBody>
      </p:sp>
      <p:pic>
        <p:nvPicPr>
          <p:cNvPr id="1580477989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233660" y="1097847"/>
            <a:ext cx="4537281" cy="45372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159:morph option="byObject"/>
      </p:transition>
    </mc:Choice>
    <mc:Fallback>
      <p:transition spd="slow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86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5" dur="500"/>
                                        <p:tgtEl>
                                          <p:spTgt spid="104386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521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2" dur="500"/>
                                        <p:tgtEl>
                                          <p:spTgt spid="1052521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688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9" dur="500"/>
                                        <p:tgtEl>
                                          <p:spTgt spid="322688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14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0477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1580477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1161134" name=""/>
          <p:cNvSpPr/>
          <p:nvPr/>
        </p:nvSpPr>
        <p:spPr bwMode="auto">
          <a:xfrm rot="0" flipH="0" flipV="0">
            <a:off x="31253" y="14879"/>
            <a:ext cx="12129489" cy="6846093"/>
          </a:xfrm>
          <a:prstGeom prst="rect">
            <a:avLst/>
          </a:prstGeom>
          <a:solidFill>
            <a:srgbClr val="000000">
              <a:alpha val="49999"/>
            </a:srgbClr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8026835" name=""/>
          <p:cNvSpPr txBox="1"/>
          <p:nvPr/>
        </p:nvSpPr>
        <p:spPr bwMode="auto">
          <a:xfrm rot="0" flipH="0" flipV="0">
            <a:off x="315874" y="12266807"/>
            <a:ext cx="6314679" cy="2072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just">
              <a:defRPr/>
            </a:pPr>
            <a:r>
              <a:rPr sz="2600" b="1">
                <a:solidFill>
                  <a:schemeClr val="bg1"/>
                </a:solidFill>
                <a:latin typeface="3270 Nerd Font Mono"/>
                <a:cs typeface="3270 Nerd Font Mono"/>
              </a:rPr>
              <a:t>Dengan memiliki akses pada data digital yang sensitif, pelaku kejahatan dapat melakukan berbagai hal seperti transaksi illegal, pemerasan, kecurangan, dan lainya</a:t>
            </a:r>
            <a:endParaRPr sz="2600" b="1">
              <a:solidFill>
                <a:schemeClr val="bg1"/>
              </a:solidFill>
              <a:latin typeface="3270 Nerd Font Mono"/>
              <a:cs typeface="3270 Nerd Font Mono"/>
            </a:endParaRPr>
          </a:p>
        </p:txBody>
      </p:sp>
      <p:pic>
        <p:nvPicPr>
          <p:cNvPr id="1067735649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233660" y="1097847"/>
            <a:ext cx="4537281" cy="4537281"/>
          </a:xfrm>
          <a:prstGeom prst="rect">
            <a:avLst/>
          </a:prstGeom>
        </p:spPr>
      </p:pic>
      <p:sp>
        <p:nvSpPr>
          <p:cNvPr id="1757944554" name=""/>
          <p:cNvSpPr txBox="1"/>
          <p:nvPr/>
        </p:nvSpPr>
        <p:spPr bwMode="auto">
          <a:xfrm rot="0" flipH="0" flipV="0">
            <a:off x="5116936" y="214855"/>
            <a:ext cx="6673944" cy="1189080"/>
          </a:xfrm>
          <a:prstGeom prst="rect">
            <a:avLst/>
          </a:prstGeom>
          <a:solidFill>
            <a:schemeClr val="tx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3600" b="1">
                <a:solidFill>
                  <a:schemeClr val="accent5">
                    <a:lumMod val="60000"/>
                    <a:lumOff val="40000"/>
                  </a:schemeClr>
                </a:solidFill>
                <a:latin typeface="3270 Nerd Font Mono"/>
                <a:ea typeface="3270 Nerd Font Mono"/>
                <a:cs typeface="3270 Nerd Font Mono"/>
              </a:rPr>
              <a:t>Pentingnya Keamanan Data &amp; Informasi Pada Website</a:t>
            </a:r>
            <a:endParaRPr sz="3600" b="1">
              <a:solidFill>
                <a:schemeClr val="accent5">
                  <a:lumMod val="60000"/>
                  <a:lumOff val="40000"/>
                </a:schemeClr>
              </a:solidFill>
              <a:highlight>
                <a:srgbClr val="000000"/>
              </a:highlight>
              <a:latin typeface="3270 Nerd Font Mono"/>
              <a:cs typeface="3270 Nerd Font Mono"/>
            </a:endParaRPr>
          </a:p>
        </p:txBody>
      </p:sp>
      <p:sp>
        <p:nvSpPr>
          <p:cNvPr id="145073308" name=""/>
          <p:cNvSpPr txBox="1"/>
          <p:nvPr/>
        </p:nvSpPr>
        <p:spPr bwMode="auto">
          <a:xfrm rot="0" flipH="0" flipV="0">
            <a:off x="5475448" y="1657501"/>
            <a:ext cx="6404711" cy="210348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just">
              <a:defRPr/>
            </a:pPr>
            <a:r>
              <a:rPr sz="2200" b="1">
                <a:solidFill>
                  <a:schemeClr val="bg1"/>
                </a:solidFill>
                <a:latin typeface="3270 Nerd Font Mono"/>
                <a:cs typeface="3270 Nerd Font Mono"/>
              </a:rPr>
              <a:t>Semenjak perkembangan internet 3.0</a:t>
            </a:r>
            <a:r>
              <a:rPr sz="2200" b="1">
                <a:solidFill>
                  <a:schemeClr val="bg1"/>
                </a:solidFill>
                <a:latin typeface="3270 Nerd Font Mono"/>
                <a:cs typeface="3270 Nerd Font Mono"/>
              </a:rPr>
              <a:t>, website sudah menjadi salah satu media untuk berbagi dan mendapatkan data. Kemudahan akses suatu website menjadi salah satu alasan utama pendukung alasan tersebut.</a:t>
            </a:r>
            <a:endParaRPr sz="2200" b="1">
              <a:solidFill>
                <a:schemeClr val="bg1"/>
              </a:solidFill>
              <a:latin typeface="3270 Nerd Font Mono"/>
              <a:cs typeface="3270 Nerd Font Mono"/>
            </a:endParaRPr>
          </a:p>
        </p:txBody>
      </p:sp>
      <p:sp>
        <p:nvSpPr>
          <p:cNvPr id="701379894" name=""/>
          <p:cNvSpPr txBox="1"/>
          <p:nvPr/>
        </p:nvSpPr>
        <p:spPr bwMode="auto">
          <a:xfrm rot="0" flipH="0" flipV="0">
            <a:off x="5475448" y="3934433"/>
            <a:ext cx="6505870" cy="210348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spAutoFit/>
          </a:bodyPr>
          <a:p>
            <a:pPr algn="just">
              <a:defRPr/>
            </a:pPr>
            <a:r>
              <a:rPr sz="2200" b="1">
                <a:solidFill>
                  <a:schemeClr val="bg1"/>
                </a:solidFill>
                <a:latin typeface="3270 Nerd Font Mono"/>
                <a:cs typeface="3270 Nerd Font Mono"/>
              </a:rPr>
              <a:t>Namun kemudahan akses tersebut menjadikan website suatu target utama dalam berbagai macam serangan data dan informasi. Jumlah pengunjung yang menggunakan suatu website serta kemudahan akses membuat website rentan diserang</a:t>
            </a:r>
            <a:r>
              <a:rPr sz="2200" b="1">
                <a:solidFill>
                  <a:schemeClr val="bg1"/>
                </a:solidFill>
                <a:latin typeface="3270 Nerd Font Mono"/>
                <a:cs typeface="3270 Nerd Font Mono"/>
              </a:rPr>
              <a:t>.</a:t>
            </a:r>
            <a:endParaRPr sz="2200" b="1">
              <a:solidFill>
                <a:schemeClr val="bg1"/>
              </a:solidFill>
              <a:latin typeface="3270 Nerd Font Mono"/>
              <a:cs typeface="3270 Nerd Font Mon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0" advClick="1" advTm="0"/>
    </mc:Choice>
    <mc:Fallback>
      <p:transition advClick="1" advTm="0"/>
    </mc:Fallback>
  </mc:AlternateContent>
  <p:timing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9695004" name=""/>
          <p:cNvSpPr/>
          <p:nvPr/>
        </p:nvSpPr>
        <p:spPr bwMode="auto">
          <a:xfrm rot="0" flipH="0" flipV="0">
            <a:off x="31253" y="14879"/>
            <a:ext cx="12129489" cy="6846093"/>
          </a:xfrm>
          <a:prstGeom prst="rect">
            <a:avLst/>
          </a:prstGeom>
          <a:solidFill>
            <a:srgbClr val="000000">
              <a:alpha val="49999"/>
            </a:srgbClr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82845183" name=""/>
          <p:cNvSpPr txBox="1"/>
          <p:nvPr/>
        </p:nvSpPr>
        <p:spPr bwMode="auto">
          <a:xfrm rot="0" flipH="0" flipV="0">
            <a:off x="315874" y="12266807"/>
            <a:ext cx="6314679" cy="2072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just">
              <a:defRPr/>
            </a:pPr>
            <a:r>
              <a:rPr sz="2600" b="1">
                <a:solidFill>
                  <a:schemeClr val="bg1"/>
                </a:solidFill>
                <a:latin typeface="3270 Nerd Font Mono"/>
                <a:cs typeface="3270 Nerd Font Mono"/>
              </a:rPr>
              <a:t>Dengan memiliki akses pada data digital yang sensitif, pelaku kejahatan dapat melakukan berbagai hal seperti transaksi illegal, pemerasan, kecurangan, dan lainya</a:t>
            </a:r>
            <a:endParaRPr sz="2600" b="1">
              <a:solidFill>
                <a:schemeClr val="bg1"/>
              </a:solidFill>
              <a:latin typeface="3270 Nerd Font Mono"/>
              <a:cs typeface="3270 Nerd Font Mono"/>
            </a:endParaRPr>
          </a:p>
        </p:txBody>
      </p:sp>
      <p:pic>
        <p:nvPicPr>
          <p:cNvPr id="1042670811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-7109527" y="1097847"/>
            <a:ext cx="4537281" cy="4537281"/>
          </a:xfrm>
          <a:prstGeom prst="rect">
            <a:avLst/>
          </a:prstGeom>
        </p:spPr>
      </p:pic>
      <p:sp>
        <p:nvSpPr>
          <p:cNvPr id="1424797811" name=""/>
          <p:cNvSpPr txBox="1"/>
          <p:nvPr/>
        </p:nvSpPr>
        <p:spPr bwMode="auto">
          <a:xfrm rot="0" flipH="0" flipV="0">
            <a:off x="5116936" y="-2610893"/>
            <a:ext cx="6674303" cy="1189080"/>
          </a:xfrm>
          <a:prstGeom prst="rect">
            <a:avLst/>
          </a:prstGeom>
          <a:solidFill>
            <a:schemeClr val="tx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3600" b="1">
                <a:solidFill>
                  <a:schemeClr val="accent5">
                    <a:lumMod val="60000"/>
                    <a:lumOff val="40000"/>
                  </a:schemeClr>
                </a:solidFill>
                <a:latin typeface="3270 Nerd Font Mono"/>
                <a:ea typeface="3270 Nerd Font Mono"/>
                <a:cs typeface="3270 Nerd Font Mono"/>
              </a:rPr>
              <a:t>Pentingnya Keamanan Data &amp; Informasi Pada Website</a:t>
            </a:r>
            <a:endParaRPr sz="3600" b="1">
              <a:solidFill>
                <a:schemeClr val="accent5">
                  <a:lumMod val="60000"/>
                  <a:lumOff val="40000"/>
                </a:schemeClr>
              </a:solidFill>
              <a:highlight>
                <a:srgbClr val="000000"/>
              </a:highlight>
              <a:latin typeface="3270 Nerd Font Mono"/>
              <a:cs typeface="3270 Nerd Font Mono"/>
            </a:endParaRPr>
          </a:p>
        </p:txBody>
      </p:sp>
      <p:sp>
        <p:nvSpPr>
          <p:cNvPr id="1650734772" name=""/>
          <p:cNvSpPr txBox="1"/>
          <p:nvPr/>
        </p:nvSpPr>
        <p:spPr bwMode="auto">
          <a:xfrm rot="0" flipH="0" flipV="0">
            <a:off x="5475448" y="9864876"/>
            <a:ext cx="6405070" cy="210348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just">
              <a:defRPr/>
            </a:pPr>
            <a:r>
              <a:rPr sz="2200" b="1">
                <a:solidFill>
                  <a:schemeClr val="bg1"/>
                </a:solidFill>
                <a:latin typeface="3270 Nerd Font Mono"/>
                <a:cs typeface="3270 Nerd Font Mono"/>
              </a:rPr>
              <a:t>Semenjak perkembangan internet 3.0</a:t>
            </a:r>
            <a:r>
              <a:rPr sz="2200" b="1">
                <a:solidFill>
                  <a:schemeClr val="bg1"/>
                </a:solidFill>
                <a:latin typeface="3270 Nerd Font Mono"/>
                <a:cs typeface="3270 Nerd Font Mono"/>
              </a:rPr>
              <a:t>, website sudah menjadi salah satu media untuk berbagi dan mendapatkan data. Kemudahan akses suatu website menjadi salah satu alasan utama pendukung alasan tersebut.</a:t>
            </a:r>
            <a:endParaRPr sz="2200" b="1">
              <a:solidFill>
                <a:schemeClr val="bg1"/>
              </a:solidFill>
              <a:latin typeface="3270 Nerd Font Mono"/>
              <a:cs typeface="3270 Nerd Font Mono"/>
            </a:endParaRPr>
          </a:p>
        </p:txBody>
      </p:sp>
      <p:sp>
        <p:nvSpPr>
          <p:cNvPr id="377560947" name=""/>
          <p:cNvSpPr txBox="1"/>
          <p:nvPr/>
        </p:nvSpPr>
        <p:spPr bwMode="auto">
          <a:xfrm rot="0" flipH="0" flipV="0">
            <a:off x="5475448" y="12141988"/>
            <a:ext cx="6506229" cy="210348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spAutoFit/>
          </a:bodyPr>
          <a:p>
            <a:pPr algn="just">
              <a:defRPr/>
            </a:pPr>
            <a:r>
              <a:rPr sz="2200" b="1">
                <a:solidFill>
                  <a:schemeClr val="bg1"/>
                </a:solidFill>
                <a:latin typeface="3270 Nerd Font Mono"/>
                <a:cs typeface="3270 Nerd Font Mono"/>
              </a:rPr>
              <a:t>Namun kemudahan akses tersebut menjadikan website suatu target utama dalam berbagai macam serangan data dan informasi. Jumlah pengunjung yang menggunakan suatu website serta kemudahan akses membuat website rentan diserang</a:t>
            </a:r>
            <a:r>
              <a:rPr sz="2200" b="1">
                <a:solidFill>
                  <a:schemeClr val="bg1"/>
                </a:solidFill>
                <a:latin typeface="3270 Nerd Font Mono"/>
                <a:cs typeface="3270 Nerd Font Mono"/>
              </a:rPr>
              <a:t>.</a:t>
            </a:r>
            <a:endParaRPr sz="2200" b="1">
              <a:solidFill>
                <a:schemeClr val="bg1"/>
              </a:solidFill>
              <a:latin typeface="3270 Nerd Font Mono"/>
              <a:cs typeface="3270 Nerd Font Mon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500" advClick="1" advTm="0">
        <p159:morph option="byObject"/>
      </p:transition>
    </mc:Choice>
    <mc:Fallback>
      <p:transition spd="slow" advClick="1" advTm="0">
        <p:fade/>
      </p:transition>
    </mc:Fallback>
  </mc:AlternateContent>
  <p:timing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8522562" name=""/>
          <p:cNvSpPr/>
          <p:nvPr/>
        </p:nvSpPr>
        <p:spPr bwMode="auto">
          <a:xfrm rot="0" flipH="0" flipV="0">
            <a:off x="31253" y="62503"/>
            <a:ext cx="12129489" cy="6846093"/>
          </a:xfrm>
          <a:prstGeom prst="rect">
            <a:avLst/>
          </a:prstGeom>
          <a:solidFill>
            <a:srgbClr val="000000">
              <a:alpha val="49999"/>
            </a:srgbClr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latin typeface="3270 Nerd Font Mono"/>
              <a:cs typeface="3270 Nerd Font Mono"/>
            </a:endParaRPr>
          </a:p>
        </p:txBody>
      </p:sp>
      <p:sp>
        <p:nvSpPr>
          <p:cNvPr id="57685875" name=""/>
          <p:cNvSpPr txBox="1"/>
          <p:nvPr/>
        </p:nvSpPr>
        <p:spPr bwMode="auto">
          <a:xfrm rot="0" flipH="0" flipV="0">
            <a:off x="315873" y="12266806"/>
            <a:ext cx="6315039" cy="2072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just">
              <a:defRPr/>
            </a:pPr>
            <a:r>
              <a:rPr sz="2600" b="1">
                <a:solidFill>
                  <a:schemeClr val="bg1"/>
                </a:solidFill>
                <a:latin typeface="3270 Nerd Font Mono"/>
                <a:ea typeface="3270 Nerd Font Mono"/>
                <a:cs typeface="3270 Nerd Font Mono"/>
              </a:rPr>
              <a:t>Dengan memiliki akses pada data digital yang sensitif, pelaku kejahatan dapat melakukan berbagai hal seperti transaksi illegal, pemerasan, kecurangan, dan lainya</a:t>
            </a:r>
            <a:endParaRPr sz="2600" b="1">
              <a:solidFill>
                <a:schemeClr val="bg1"/>
              </a:solidFill>
              <a:latin typeface="3270 Nerd Font Mono"/>
              <a:cs typeface="3270 Nerd Font Mono"/>
            </a:endParaRPr>
          </a:p>
        </p:txBody>
      </p:sp>
      <p:pic>
        <p:nvPicPr>
          <p:cNvPr id="672982938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-7109527" y="1097847"/>
            <a:ext cx="4537281" cy="4537281"/>
          </a:xfrm>
          <a:prstGeom prst="rect">
            <a:avLst/>
          </a:prstGeom>
        </p:spPr>
      </p:pic>
      <p:sp>
        <p:nvSpPr>
          <p:cNvPr id="650494771" name=""/>
          <p:cNvSpPr txBox="1"/>
          <p:nvPr/>
        </p:nvSpPr>
        <p:spPr bwMode="auto">
          <a:xfrm rot="0" flipH="0" flipV="0">
            <a:off x="5116935" y="-2610892"/>
            <a:ext cx="6674662" cy="1189080"/>
          </a:xfrm>
          <a:prstGeom prst="rect">
            <a:avLst/>
          </a:prstGeom>
          <a:solidFill>
            <a:schemeClr val="tx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3600" b="1">
                <a:solidFill>
                  <a:schemeClr val="accent5">
                    <a:lumMod val="60000"/>
                    <a:lumOff val="40000"/>
                  </a:schemeClr>
                </a:solidFill>
                <a:latin typeface="3270 Nerd Font Mono"/>
                <a:ea typeface="3270 Nerd Font Mono"/>
                <a:cs typeface="3270 Nerd Font Mono"/>
              </a:rPr>
              <a:t>Pentingnya Keamanan Data &amp; Informasi Pada Website</a:t>
            </a:r>
            <a:endParaRPr sz="3600" b="1">
              <a:solidFill>
                <a:schemeClr val="accent5">
                  <a:lumMod val="60000"/>
                  <a:lumOff val="40000"/>
                </a:schemeClr>
              </a:solidFill>
              <a:highlight>
                <a:srgbClr val="000000"/>
              </a:highlight>
              <a:latin typeface="3270 Nerd Font Mono"/>
              <a:cs typeface="3270 Nerd Font Mono"/>
            </a:endParaRPr>
          </a:p>
        </p:txBody>
      </p:sp>
      <p:sp>
        <p:nvSpPr>
          <p:cNvPr id="979416757" name=""/>
          <p:cNvSpPr txBox="1"/>
          <p:nvPr/>
        </p:nvSpPr>
        <p:spPr bwMode="auto">
          <a:xfrm rot="0" flipH="0" flipV="0">
            <a:off x="5475447" y="9864875"/>
            <a:ext cx="6405429" cy="210348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just">
              <a:defRPr/>
            </a:pPr>
            <a:r>
              <a:rPr sz="2200" b="1">
                <a:solidFill>
                  <a:schemeClr val="bg1"/>
                </a:solidFill>
                <a:latin typeface="3270 Nerd Font Mono"/>
                <a:ea typeface="3270 Nerd Font Mono"/>
                <a:cs typeface="3270 Nerd Font Mono"/>
              </a:rPr>
              <a:t>Semenjak perkembangan internet 3.0</a:t>
            </a:r>
            <a:r>
              <a:rPr sz="2200" b="1">
                <a:solidFill>
                  <a:schemeClr val="bg1"/>
                </a:solidFill>
                <a:latin typeface="3270 Nerd Font Mono"/>
                <a:ea typeface="3270 Nerd Font Mono"/>
                <a:cs typeface="3270 Nerd Font Mono"/>
              </a:rPr>
              <a:t>, website sudah menjadi salah satu media untuk berbagi dan mendapatkan data. Kemudahan akses suatu website menjadi salah satu alasan utama pendukung alasan tersebut.</a:t>
            </a:r>
            <a:endParaRPr sz="2200" b="1">
              <a:solidFill>
                <a:schemeClr val="bg1"/>
              </a:solidFill>
              <a:latin typeface="3270 Nerd Font Mono"/>
              <a:cs typeface="3270 Nerd Font Mono"/>
            </a:endParaRPr>
          </a:p>
        </p:txBody>
      </p:sp>
      <p:sp>
        <p:nvSpPr>
          <p:cNvPr id="329367616" name=""/>
          <p:cNvSpPr txBox="1"/>
          <p:nvPr/>
        </p:nvSpPr>
        <p:spPr bwMode="auto">
          <a:xfrm rot="0" flipH="0" flipV="0">
            <a:off x="5475447" y="12142167"/>
            <a:ext cx="6506588" cy="210348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spAutoFit/>
          </a:bodyPr>
          <a:p>
            <a:pPr algn="just">
              <a:defRPr/>
            </a:pPr>
            <a:r>
              <a:rPr sz="2200" b="1">
                <a:solidFill>
                  <a:schemeClr val="bg1"/>
                </a:solidFill>
                <a:latin typeface="3270 Nerd Font Mono"/>
                <a:ea typeface="3270 Nerd Font Mono"/>
                <a:cs typeface="3270 Nerd Font Mono"/>
              </a:rPr>
              <a:t>Namun kemudahan akses tersebut menjadikan website suatu target utama dalam berbagai macam serangan data dan informasi. Jumlah pengunjung yang menggunakan suatu website serta kemudahan akses membuat website rentan diserang</a:t>
            </a:r>
            <a:r>
              <a:rPr sz="2200" b="1">
                <a:solidFill>
                  <a:schemeClr val="bg1"/>
                </a:solidFill>
                <a:latin typeface="3270 Nerd Font Mono"/>
                <a:ea typeface="3270 Nerd Font Mono"/>
                <a:cs typeface="3270 Nerd Font Mono"/>
              </a:rPr>
              <a:t>.</a:t>
            </a:r>
            <a:endParaRPr sz="2200" b="1">
              <a:solidFill>
                <a:schemeClr val="bg1"/>
              </a:solidFill>
              <a:latin typeface="3270 Nerd Font Mono"/>
              <a:cs typeface="3270 Nerd Font Mono"/>
            </a:endParaRPr>
          </a:p>
        </p:txBody>
      </p:sp>
      <p:sp>
        <p:nvSpPr>
          <p:cNvPr id="1573993130" name=""/>
          <p:cNvSpPr txBox="1"/>
          <p:nvPr/>
        </p:nvSpPr>
        <p:spPr bwMode="auto">
          <a:xfrm rot="0" flipH="0" flipV="0">
            <a:off x="2064928" y="1600020"/>
            <a:ext cx="8063217" cy="36579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7200" b="1">
                <a:solidFill>
                  <a:schemeClr val="bg1"/>
                </a:solidFill>
                <a:latin typeface="3270 Nerd Font Mono"/>
                <a:ea typeface="3270 Nerd Font Mono"/>
                <a:cs typeface="3270 Nerd Font Mono"/>
              </a:rPr>
              <a:t>Jenis-Jenis</a:t>
            </a:r>
            <a:br>
              <a:rPr sz="7200" b="1">
                <a:solidFill>
                  <a:schemeClr val="bg1"/>
                </a:solidFill>
                <a:latin typeface="3270 Nerd Font Mono"/>
                <a:ea typeface="3270 Nerd Font Mono"/>
                <a:cs typeface="3270 Nerd Font Mono"/>
              </a:rPr>
            </a:br>
            <a:r>
              <a:rPr sz="9000" b="1">
                <a:solidFill>
                  <a:srgbClr val="C00000"/>
                </a:solidFill>
                <a:latin typeface="3270 Nerd Font Mono"/>
                <a:ea typeface="3270 Nerd Font Mono"/>
                <a:cs typeface="3270 Nerd Font Mono"/>
              </a:rPr>
              <a:t>Serangan</a:t>
            </a:r>
            <a:r>
              <a:rPr sz="7200" b="1">
                <a:solidFill>
                  <a:schemeClr val="bg1"/>
                </a:solidFill>
                <a:latin typeface="3270 Nerd Font Mono"/>
                <a:ea typeface="3270 Nerd Font Mono"/>
                <a:cs typeface="3270 Nerd Font Mono"/>
              </a:rPr>
              <a:t> </a:t>
            </a:r>
            <a:br>
              <a:rPr sz="7200" b="1">
                <a:solidFill>
                  <a:schemeClr val="bg1"/>
                </a:solidFill>
                <a:latin typeface="3270 Nerd Font Mono"/>
                <a:ea typeface="3270 Nerd Font Mono"/>
                <a:cs typeface="3270 Nerd Font Mono"/>
              </a:rPr>
            </a:br>
            <a:r>
              <a:rPr sz="7200" b="1">
                <a:solidFill>
                  <a:schemeClr val="bg1"/>
                </a:solidFill>
                <a:latin typeface="3270 Nerd Font Mono"/>
                <a:ea typeface="3270 Nerd Font Mono"/>
                <a:cs typeface="3270 Nerd Font Mono"/>
              </a:rPr>
              <a:t>Pada Website</a:t>
            </a:r>
            <a:endParaRPr sz="7200" b="1">
              <a:solidFill>
                <a:schemeClr val="bg1"/>
              </a:solidFill>
              <a:latin typeface="3270 Nerd Font Mono"/>
              <a:cs typeface="3270 Nerd Font Mon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  <p:cond evt="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3993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1" dur="500"/>
                                        <p:tgtEl>
                                          <p:spTgt spid="1573993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vertical)">
                                      <p:cBhvr>
                                        <p:cTn id="6" dur="500"/>
                                        <p:tgtEl>
                                          <p:spTgt spid="15739931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73993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1554779" name="Rectangle 1407440435"/>
          <p:cNvSpPr/>
          <p:nvPr/>
        </p:nvSpPr>
        <p:spPr bwMode="auto">
          <a:xfrm rot="0" flipH="0" flipV="0">
            <a:off x="27431" y="9144"/>
            <a:ext cx="12129489" cy="6846093"/>
          </a:xfrm>
          <a:prstGeom prst="rect">
            <a:avLst/>
          </a:prstGeom>
          <a:solidFill>
            <a:srgbClr val="000000">
              <a:alpha val="49999"/>
            </a:srgbClr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latin typeface="3270 Nerd Font Mono"/>
              <a:cs typeface="3270 Nerd Font Mono"/>
            </a:endParaRPr>
          </a:p>
        </p:txBody>
      </p:sp>
      <p:pic>
        <p:nvPicPr>
          <p:cNvPr id="1382963073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-7109528" y="1097847"/>
            <a:ext cx="4537281" cy="4537281"/>
          </a:xfrm>
          <a:prstGeom prst="rect">
            <a:avLst/>
          </a:prstGeom>
        </p:spPr>
      </p:pic>
      <p:sp>
        <p:nvSpPr>
          <p:cNvPr id="327957007" name=""/>
          <p:cNvSpPr txBox="1"/>
          <p:nvPr/>
        </p:nvSpPr>
        <p:spPr bwMode="auto">
          <a:xfrm rot="0" flipH="0" flipV="0">
            <a:off x="5116935" y="-2610892"/>
            <a:ext cx="6674303" cy="1189080"/>
          </a:xfrm>
          <a:prstGeom prst="rect">
            <a:avLst/>
          </a:prstGeom>
          <a:solidFill>
            <a:schemeClr val="tx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3600" b="1">
                <a:solidFill>
                  <a:schemeClr val="accent5">
                    <a:lumMod val="60000"/>
                    <a:lumOff val="40000"/>
                  </a:schemeClr>
                </a:solidFill>
                <a:latin typeface="3270 Nerd Font Mono"/>
                <a:ea typeface="3270 Nerd Font Mono"/>
                <a:cs typeface="3270 Nerd Font Mono"/>
              </a:rPr>
              <a:t>Pentingnya Keamanan Data &amp; Informasi Pada Website</a:t>
            </a:r>
            <a:endParaRPr sz="3600" b="1">
              <a:solidFill>
                <a:schemeClr val="accent5">
                  <a:lumMod val="60000"/>
                  <a:lumOff val="40000"/>
                </a:schemeClr>
              </a:solidFill>
              <a:highlight>
                <a:srgbClr val="000000"/>
              </a:highlight>
              <a:latin typeface="3270 Nerd Font Mono"/>
              <a:cs typeface="3270 Nerd Font Mono"/>
            </a:endParaRPr>
          </a:p>
        </p:txBody>
      </p:sp>
      <p:sp>
        <p:nvSpPr>
          <p:cNvPr id="1418079080" name=""/>
          <p:cNvSpPr txBox="1"/>
          <p:nvPr/>
        </p:nvSpPr>
        <p:spPr bwMode="auto">
          <a:xfrm rot="0" flipH="0" flipV="0">
            <a:off x="5475447" y="9864875"/>
            <a:ext cx="6405070" cy="210348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just">
              <a:defRPr/>
            </a:pPr>
            <a:r>
              <a:rPr sz="2200" b="1">
                <a:solidFill>
                  <a:schemeClr val="bg1"/>
                </a:solidFill>
                <a:latin typeface="3270 Nerd Font Mono"/>
                <a:ea typeface="3270 Nerd Font Mono"/>
                <a:cs typeface="3270 Nerd Font Mono"/>
              </a:rPr>
              <a:t>Semenjak perkembangan internet 3.0</a:t>
            </a:r>
            <a:r>
              <a:rPr sz="2200" b="1">
                <a:solidFill>
                  <a:schemeClr val="bg1"/>
                </a:solidFill>
                <a:latin typeface="3270 Nerd Font Mono"/>
                <a:ea typeface="3270 Nerd Font Mono"/>
                <a:cs typeface="3270 Nerd Font Mono"/>
              </a:rPr>
              <a:t>, website sudah menjadi salah satu media untuk berbagi dan mendapatkan data. Kemudahan akses suatu website menjadi salah satu alasan utama pendukung alasan tersebut.</a:t>
            </a:r>
            <a:endParaRPr sz="2200" b="1">
              <a:solidFill>
                <a:schemeClr val="bg1"/>
              </a:solidFill>
              <a:latin typeface="3270 Nerd Font Mono"/>
              <a:cs typeface="3270 Nerd Font Mono"/>
            </a:endParaRPr>
          </a:p>
        </p:txBody>
      </p:sp>
      <p:sp>
        <p:nvSpPr>
          <p:cNvPr id="1621936093" name=""/>
          <p:cNvSpPr txBox="1"/>
          <p:nvPr/>
        </p:nvSpPr>
        <p:spPr bwMode="auto">
          <a:xfrm rot="0" flipH="0" flipV="0">
            <a:off x="5475447" y="12141987"/>
            <a:ext cx="6506229" cy="210348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spAutoFit/>
          </a:bodyPr>
          <a:p>
            <a:pPr algn="just">
              <a:defRPr/>
            </a:pPr>
            <a:r>
              <a:rPr sz="2200" b="1">
                <a:solidFill>
                  <a:schemeClr val="bg1"/>
                </a:solidFill>
                <a:latin typeface="3270 Nerd Font Mono"/>
                <a:ea typeface="3270 Nerd Font Mono"/>
                <a:cs typeface="3270 Nerd Font Mono"/>
              </a:rPr>
              <a:t>Namun kemudahan akses tersebut menjadikan website suatu target utama dalam berbagai macam serangan data dan informasi. Jumlah pengunjung yang menggunakan suatu website serta kemudahan akses membuat website rentan diserang</a:t>
            </a:r>
            <a:r>
              <a:rPr sz="2200" b="1">
                <a:solidFill>
                  <a:schemeClr val="bg1"/>
                </a:solidFill>
                <a:latin typeface="3270 Nerd Font Mono"/>
                <a:ea typeface="3270 Nerd Font Mono"/>
                <a:cs typeface="3270 Nerd Font Mono"/>
              </a:rPr>
              <a:t>.</a:t>
            </a:r>
            <a:endParaRPr sz="2200" b="1">
              <a:solidFill>
                <a:schemeClr val="bg1"/>
              </a:solidFill>
              <a:latin typeface="3270 Nerd Font Mono"/>
              <a:cs typeface="3270 Nerd Font Mono"/>
            </a:endParaRPr>
          </a:p>
        </p:txBody>
      </p:sp>
      <p:grpSp>
        <p:nvGrpSpPr>
          <p:cNvPr id="1930378002" name=""/>
          <p:cNvGrpSpPr/>
          <p:nvPr/>
        </p:nvGrpSpPr>
        <p:grpSpPr bwMode="auto">
          <a:xfrm>
            <a:off x="-1003546" y="6113"/>
            <a:ext cx="13160469" cy="1374630"/>
            <a:chOff x="0" y="0"/>
            <a:chExt cx="13160469" cy="1374630"/>
          </a:xfrm>
        </p:grpSpPr>
        <p:sp>
          <p:nvSpPr>
            <p:cNvPr id="1000949080" name=""/>
            <p:cNvSpPr/>
            <p:nvPr/>
          </p:nvSpPr>
          <p:spPr bwMode="auto">
            <a:xfrm rot="0" flipH="0" flipV="0">
              <a:off x="979067" y="3030"/>
              <a:ext cx="12181401" cy="1371599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  <p:sp>
          <p:nvSpPr>
            <p:cNvPr id="1704217831" name=""/>
            <p:cNvSpPr/>
            <p:nvPr/>
          </p:nvSpPr>
          <p:spPr bwMode="auto">
            <a:xfrm rot="0" flipH="1" flipV="1">
              <a:off x="0" y="0"/>
              <a:ext cx="979067" cy="1374630"/>
            </a:xfrm>
            <a:prstGeom prst="chevron">
              <a:avLst>
                <a:gd name="adj" fmla="val 50000"/>
              </a:avLst>
            </a:prstGeom>
            <a:noFill/>
            <a:ln w="28575" cap="flat" cmpd="sng" algn="ctr">
              <a:solidFill>
                <a:srgbClr val="FF0000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</p:grpSp>
      <p:grpSp>
        <p:nvGrpSpPr>
          <p:cNvPr id="1196676080" name=""/>
          <p:cNvGrpSpPr/>
          <p:nvPr/>
        </p:nvGrpSpPr>
        <p:grpSpPr bwMode="auto">
          <a:xfrm>
            <a:off x="54894" y="1368568"/>
            <a:ext cx="13160468" cy="1383773"/>
            <a:chOff x="0" y="0"/>
            <a:chExt cx="13160468" cy="1383773"/>
          </a:xfrm>
        </p:grpSpPr>
        <p:sp>
          <p:nvSpPr>
            <p:cNvPr id="1075258292" name=""/>
            <p:cNvSpPr/>
            <p:nvPr/>
          </p:nvSpPr>
          <p:spPr bwMode="auto">
            <a:xfrm rot="0" flipH="0" flipV="0">
              <a:off x="0" y="12173"/>
              <a:ext cx="12181401" cy="1371599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  <p:sp>
          <p:nvSpPr>
            <p:cNvPr id="1612932188" name=""/>
            <p:cNvSpPr/>
            <p:nvPr/>
          </p:nvSpPr>
          <p:spPr bwMode="auto">
            <a:xfrm rot="0" flipH="0" flipV="1">
              <a:off x="12181401" y="0"/>
              <a:ext cx="979066" cy="1374629"/>
            </a:xfrm>
            <a:prstGeom prst="chevron">
              <a:avLst>
                <a:gd name="adj" fmla="val 50000"/>
              </a:avLst>
            </a:prstGeom>
            <a:noFill/>
            <a:ln w="28575" cap="flat" cmpd="sng" algn="ctr">
              <a:solidFill>
                <a:schemeClr val="accent4">
                  <a:lumMod val="60000"/>
                  <a:lumOff val="40000"/>
                </a:schemeClr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</p:grpSp>
      <p:grpSp>
        <p:nvGrpSpPr>
          <p:cNvPr id="992628074" name=""/>
          <p:cNvGrpSpPr/>
          <p:nvPr/>
        </p:nvGrpSpPr>
        <p:grpSpPr bwMode="auto">
          <a:xfrm>
            <a:off x="-1031009" y="2743200"/>
            <a:ext cx="13187931" cy="1374629"/>
            <a:chOff x="0" y="0"/>
            <a:chExt cx="13187931" cy="1374629"/>
          </a:xfrm>
        </p:grpSpPr>
        <p:sp>
          <p:nvSpPr>
            <p:cNvPr id="532777364" name=""/>
            <p:cNvSpPr/>
            <p:nvPr/>
          </p:nvSpPr>
          <p:spPr bwMode="auto">
            <a:xfrm rot="0" flipH="0" flipV="0">
              <a:off x="1006530" y="0"/>
              <a:ext cx="12181401" cy="1371599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  <p:sp>
          <p:nvSpPr>
            <p:cNvPr id="664384455" name=""/>
            <p:cNvSpPr/>
            <p:nvPr/>
          </p:nvSpPr>
          <p:spPr bwMode="auto">
            <a:xfrm rot="0" flipH="1" flipV="0">
              <a:off x="0" y="0"/>
              <a:ext cx="979066" cy="1374629"/>
            </a:xfrm>
            <a:prstGeom prst="chevron">
              <a:avLst>
                <a:gd name="adj" fmla="val 50000"/>
              </a:avLst>
            </a:prstGeom>
            <a:noFill/>
            <a:ln w="28575" cap="flat" cmpd="sng" algn="ctr">
              <a:solidFill>
                <a:srgbClr val="92D050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</p:grpSp>
      <p:grpSp>
        <p:nvGrpSpPr>
          <p:cNvPr id="849924664" name=""/>
          <p:cNvGrpSpPr/>
          <p:nvPr/>
        </p:nvGrpSpPr>
        <p:grpSpPr bwMode="auto">
          <a:xfrm>
            <a:off x="54894" y="4109006"/>
            <a:ext cx="13160468" cy="1377391"/>
            <a:chOff x="0" y="0"/>
            <a:chExt cx="13160468" cy="1377391"/>
          </a:xfrm>
        </p:grpSpPr>
        <p:sp>
          <p:nvSpPr>
            <p:cNvPr id="1795773882" name=""/>
            <p:cNvSpPr/>
            <p:nvPr/>
          </p:nvSpPr>
          <p:spPr bwMode="auto">
            <a:xfrm rot="0" flipH="0" flipV="0">
              <a:off x="0" y="5792"/>
              <a:ext cx="12181401" cy="1371599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  <p:sp>
          <p:nvSpPr>
            <p:cNvPr id="1865802643" name=""/>
            <p:cNvSpPr/>
            <p:nvPr/>
          </p:nvSpPr>
          <p:spPr bwMode="auto">
            <a:xfrm rot="0" flipH="0" flipV="1">
              <a:off x="12181401" y="0"/>
              <a:ext cx="979066" cy="1374629"/>
            </a:xfrm>
            <a:prstGeom prst="chevron">
              <a:avLst>
                <a:gd name="adj" fmla="val 50000"/>
              </a:avLst>
            </a:prstGeom>
            <a:noFill/>
            <a:ln w="28575" cap="flat" cmpd="sng" algn="ctr">
              <a:solidFill>
                <a:srgbClr val="00B0F0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</p:grpSp>
      <p:grpSp>
        <p:nvGrpSpPr>
          <p:cNvPr id="1502123561" name=""/>
          <p:cNvGrpSpPr/>
          <p:nvPr/>
        </p:nvGrpSpPr>
        <p:grpSpPr bwMode="auto">
          <a:xfrm>
            <a:off x="-1003546" y="5480606"/>
            <a:ext cx="13160468" cy="1374629"/>
            <a:chOff x="0" y="0"/>
            <a:chExt cx="13160468" cy="1374629"/>
          </a:xfrm>
        </p:grpSpPr>
        <p:sp>
          <p:nvSpPr>
            <p:cNvPr id="32975023" name=""/>
            <p:cNvSpPr/>
            <p:nvPr/>
          </p:nvSpPr>
          <p:spPr bwMode="auto">
            <a:xfrm rot="0" flipH="0" flipV="0">
              <a:off x="979066" y="3029"/>
              <a:ext cx="12181401" cy="1371599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  <p:sp>
          <p:nvSpPr>
            <p:cNvPr id="133968842" name=""/>
            <p:cNvSpPr/>
            <p:nvPr/>
          </p:nvSpPr>
          <p:spPr bwMode="auto">
            <a:xfrm rot="0" flipH="1" flipV="0">
              <a:off x="0" y="0"/>
              <a:ext cx="979066" cy="1374629"/>
            </a:xfrm>
            <a:prstGeom prst="chevron">
              <a:avLst>
                <a:gd name="adj" fmla="val 50000"/>
              </a:avLst>
            </a:prstGeom>
            <a:noFill/>
            <a:ln w="28575" cap="flat" cmpd="sng" algn="ctr">
              <a:solidFill>
                <a:srgbClr val="4750FF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</p:grpSp>
      <p:sp>
        <p:nvSpPr>
          <p:cNvPr id="1768851796" name=""/>
          <p:cNvSpPr txBox="1"/>
          <p:nvPr/>
        </p:nvSpPr>
        <p:spPr bwMode="auto">
          <a:xfrm rot="0" flipH="0" flipV="0">
            <a:off x="1582282" y="281766"/>
            <a:ext cx="9044350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4800" b="1">
                <a:solidFill>
                  <a:srgbClr val="FF0000"/>
                </a:solidFill>
                <a:latin typeface="3270 Nerd Font Mono"/>
                <a:ea typeface="3270 Nerd Font Mono"/>
                <a:cs typeface="3270 Nerd Font Mono"/>
              </a:rPr>
              <a:t>Cross-Site Scripting (XSS)</a:t>
            </a:r>
            <a:endParaRPr sz="4800" b="1">
              <a:solidFill>
                <a:srgbClr val="FF0000"/>
              </a:solidFill>
              <a:latin typeface="3270 Nerd Font Mono"/>
              <a:cs typeface="3270 Nerd Font Mono"/>
            </a:endParaRPr>
          </a:p>
        </p:txBody>
      </p:sp>
      <p:sp>
        <p:nvSpPr>
          <p:cNvPr id="1190658391" name=""/>
          <p:cNvSpPr txBox="1"/>
          <p:nvPr/>
        </p:nvSpPr>
        <p:spPr bwMode="auto">
          <a:xfrm rot="0" flipH="0" flipV="0">
            <a:off x="2580423" y="1648795"/>
            <a:ext cx="7039067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4800" b="1">
                <a:solidFill>
                  <a:schemeClr val="accent4">
                    <a:lumMod val="60000"/>
                    <a:lumOff val="40000"/>
                  </a:schemeClr>
                </a:solidFill>
                <a:latin typeface="3270 Nerd Font Mono"/>
                <a:ea typeface="3270 Nerd Font Mono"/>
                <a:cs typeface="3270 Nerd Font Mono"/>
              </a:rPr>
              <a:t>Social Engineering</a:t>
            </a:r>
            <a:endParaRPr sz="4800" b="1">
              <a:solidFill>
                <a:schemeClr val="accent4">
                  <a:lumMod val="60000"/>
                  <a:lumOff val="40000"/>
                </a:schemeClr>
              </a:solidFill>
              <a:latin typeface="3270 Nerd Font Mono"/>
              <a:cs typeface="3270 Nerd Font Mono"/>
            </a:endParaRPr>
          </a:p>
        </p:txBody>
      </p:sp>
      <p:sp>
        <p:nvSpPr>
          <p:cNvPr id="112761387" name=""/>
          <p:cNvSpPr txBox="1"/>
          <p:nvPr/>
        </p:nvSpPr>
        <p:spPr bwMode="auto">
          <a:xfrm rot="0" flipH="0" flipV="0">
            <a:off x="2732823" y="3018853"/>
            <a:ext cx="7044826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4800" b="1">
                <a:solidFill>
                  <a:srgbClr val="92D050"/>
                </a:solidFill>
                <a:latin typeface="3270 Nerd Font Mono"/>
                <a:ea typeface="3270 Nerd Font Mono"/>
                <a:cs typeface="3270 Nerd Font Mono"/>
              </a:rPr>
              <a:t>SQL Injection</a:t>
            </a:r>
            <a:endParaRPr sz="4800" b="1">
              <a:solidFill>
                <a:srgbClr val="92D050"/>
              </a:solidFill>
              <a:latin typeface="3270 Nerd Font Mono"/>
              <a:cs typeface="3270 Nerd Font Mono"/>
            </a:endParaRPr>
          </a:p>
        </p:txBody>
      </p:sp>
      <p:sp>
        <p:nvSpPr>
          <p:cNvPr id="1841577722" name=""/>
          <p:cNvSpPr txBox="1"/>
          <p:nvPr/>
        </p:nvSpPr>
        <p:spPr bwMode="auto">
          <a:xfrm rot="0" flipH="0" flipV="0">
            <a:off x="2732823" y="4386042"/>
            <a:ext cx="7049146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4800" b="1">
                <a:solidFill>
                  <a:srgbClr val="00B0F0"/>
                </a:solidFill>
                <a:latin typeface="3270 Nerd Font Mono"/>
                <a:ea typeface="3270 Nerd Font Mono"/>
                <a:cs typeface="3270 Nerd Font Mono"/>
              </a:rPr>
              <a:t>Dos / DDoS</a:t>
            </a:r>
            <a:endParaRPr sz="4800" b="1">
              <a:solidFill>
                <a:srgbClr val="00B0F0"/>
              </a:solidFill>
              <a:latin typeface="3270 Nerd Font Mono"/>
              <a:cs typeface="3270 Nerd Font Mono"/>
            </a:endParaRPr>
          </a:p>
        </p:txBody>
      </p:sp>
      <p:sp>
        <p:nvSpPr>
          <p:cNvPr id="1067831189" name=""/>
          <p:cNvSpPr txBox="1"/>
          <p:nvPr/>
        </p:nvSpPr>
        <p:spPr bwMode="auto">
          <a:xfrm rot="0" flipH="0" flipV="0">
            <a:off x="2732823" y="5756260"/>
            <a:ext cx="7055986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4800" b="1">
                <a:solidFill>
                  <a:srgbClr val="4750FF"/>
                </a:solidFill>
                <a:latin typeface="3270 Nerd Font Mono"/>
                <a:ea typeface="3270 Nerd Font Mono"/>
                <a:cs typeface="3270 Nerd Font Mono"/>
              </a:rPr>
              <a:t>Man in the Middle</a:t>
            </a:r>
            <a:endParaRPr sz="4800" b="1">
              <a:solidFill>
                <a:srgbClr val="4750FF"/>
              </a:solidFill>
              <a:latin typeface="3270 Nerd Font Mono"/>
              <a:cs typeface="3270 Nerd Font Mon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0378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303780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9303780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8851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688517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688517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628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92628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92628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61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2761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2761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21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021235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021235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83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678311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67831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658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906583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906583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676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966760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966760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1577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415777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8415777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24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499246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8499246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7850628" name="Rectangle 1407440435"/>
          <p:cNvSpPr/>
          <p:nvPr/>
        </p:nvSpPr>
        <p:spPr bwMode="auto">
          <a:xfrm rot="0" flipH="0" flipV="0">
            <a:off x="27431" y="9144"/>
            <a:ext cx="12129489" cy="6846093"/>
          </a:xfrm>
          <a:prstGeom prst="rect">
            <a:avLst/>
          </a:prstGeom>
          <a:solidFill>
            <a:srgbClr val="000000">
              <a:alpha val="49999"/>
            </a:srgbClr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latin typeface="3270 Nerd Font Mono"/>
              <a:cs typeface="3270 Nerd Font Mono"/>
            </a:endParaRPr>
          </a:p>
        </p:txBody>
      </p:sp>
      <p:grpSp>
        <p:nvGrpSpPr>
          <p:cNvPr id="320774173" name=""/>
          <p:cNvGrpSpPr/>
          <p:nvPr/>
        </p:nvGrpSpPr>
        <p:grpSpPr bwMode="auto">
          <a:xfrm>
            <a:off x="-1003546" y="6113"/>
            <a:ext cx="13160469" cy="1374630"/>
            <a:chOff x="0" y="0"/>
            <a:chExt cx="13160469" cy="1374630"/>
          </a:xfrm>
        </p:grpSpPr>
        <p:sp>
          <p:nvSpPr>
            <p:cNvPr id="113921065" name=""/>
            <p:cNvSpPr/>
            <p:nvPr/>
          </p:nvSpPr>
          <p:spPr bwMode="auto">
            <a:xfrm rot="0" flipH="0" flipV="0">
              <a:off x="979067" y="3030"/>
              <a:ext cx="12181401" cy="1371599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  <p:sp>
          <p:nvSpPr>
            <p:cNvPr id="1178170824" name=""/>
            <p:cNvSpPr/>
            <p:nvPr/>
          </p:nvSpPr>
          <p:spPr bwMode="auto">
            <a:xfrm rot="0" flipH="1" flipV="1">
              <a:off x="0" y="0"/>
              <a:ext cx="979067" cy="1374630"/>
            </a:xfrm>
            <a:prstGeom prst="chevron">
              <a:avLst>
                <a:gd name="adj" fmla="val 50000"/>
              </a:avLst>
            </a:prstGeom>
            <a:noFill/>
            <a:ln w="28575" cap="flat" cmpd="sng" algn="ctr">
              <a:solidFill>
                <a:srgbClr val="FF0000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</p:grpSp>
      <p:grpSp>
        <p:nvGrpSpPr>
          <p:cNvPr id="751688151" name=""/>
          <p:cNvGrpSpPr/>
          <p:nvPr/>
        </p:nvGrpSpPr>
        <p:grpSpPr bwMode="auto">
          <a:xfrm>
            <a:off x="54894" y="1368568"/>
            <a:ext cx="13160468" cy="1383773"/>
            <a:chOff x="0" y="0"/>
            <a:chExt cx="13160468" cy="1383773"/>
          </a:xfrm>
        </p:grpSpPr>
        <p:sp>
          <p:nvSpPr>
            <p:cNvPr id="1825444571" name=""/>
            <p:cNvSpPr/>
            <p:nvPr/>
          </p:nvSpPr>
          <p:spPr bwMode="auto">
            <a:xfrm rot="0" flipH="0" flipV="0">
              <a:off x="0" y="12173"/>
              <a:ext cx="12181401" cy="1371599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  <p:sp>
          <p:nvSpPr>
            <p:cNvPr id="260986456" name=""/>
            <p:cNvSpPr/>
            <p:nvPr/>
          </p:nvSpPr>
          <p:spPr bwMode="auto">
            <a:xfrm rot="0" flipH="0" flipV="1">
              <a:off x="12181401" y="0"/>
              <a:ext cx="979066" cy="1374629"/>
            </a:xfrm>
            <a:prstGeom prst="chevron">
              <a:avLst>
                <a:gd name="adj" fmla="val 50000"/>
              </a:avLst>
            </a:prstGeom>
            <a:noFill/>
            <a:ln w="28575" cap="flat" cmpd="sng" algn="ctr">
              <a:solidFill>
                <a:schemeClr val="accent4">
                  <a:lumMod val="60000"/>
                  <a:lumOff val="40000"/>
                </a:schemeClr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</p:grpSp>
      <p:grpSp>
        <p:nvGrpSpPr>
          <p:cNvPr id="1957134590" name=""/>
          <p:cNvGrpSpPr/>
          <p:nvPr/>
        </p:nvGrpSpPr>
        <p:grpSpPr bwMode="auto">
          <a:xfrm>
            <a:off x="-1031009" y="2743200"/>
            <a:ext cx="13187931" cy="1374629"/>
            <a:chOff x="0" y="0"/>
            <a:chExt cx="13187931" cy="1374629"/>
          </a:xfrm>
        </p:grpSpPr>
        <p:sp>
          <p:nvSpPr>
            <p:cNvPr id="1041888501" name=""/>
            <p:cNvSpPr/>
            <p:nvPr/>
          </p:nvSpPr>
          <p:spPr bwMode="auto">
            <a:xfrm rot="0" flipH="0" flipV="0">
              <a:off x="1006530" y="0"/>
              <a:ext cx="12181401" cy="1371599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  <p:sp>
          <p:nvSpPr>
            <p:cNvPr id="1698804777" name=""/>
            <p:cNvSpPr/>
            <p:nvPr/>
          </p:nvSpPr>
          <p:spPr bwMode="auto">
            <a:xfrm rot="0" flipH="1" flipV="0">
              <a:off x="0" y="0"/>
              <a:ext cx="979066" cy="1374629"/>
            </a:xfrm>
            <a:prstGeom prst="chevron">
              <a:avLst>
                <a:gd name="adj" fmla="val 50000"/>
              </a:avLst>
            </a:prstGeom>
            <a:noFill/>
            <a:ln w="28575" cap="flat" cmpd="sng" algn="ctr">
              <a:solidFill>
                <a:srgbClr val="92D050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</p:grpSp>
      <p:grpSp>
        <p:nvGrpSpPr>
          <p:cNvPr id="727515816" name=""/>
          <p:cNvGrpSpPr/>
          <p:nvPr/>
        </p:nvGrpSpPr>
        <p:grpSpPr bwMode="auto">
          <a:xfrm>
            <a:off x="54894" y="4109006"/>
            <a:ext cx="13160468" cy="1377391"/>
            <a:chOff x="0" y="0"/>
            <a:chExt cx="13160468" cy="1377391"/>
          </a:xfrm>
        </p:grpSpPr>
        <p:sp>
          <p:nvSpPr>
            <p:cNvPr id="520303314" name=""/>
            <p:cNvSpPr/>
            <p:nvPr/>
          </p:nvSpPr>
          <p:spPr bwMode="auto">
            <a:xfrm rot="0" flipH="0" flipV="0">
              <a:off x="0" y="5792"/>
              <a:ext cx="12181401" cy="1371599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  <p:sp>
          <p:nvSpPr>
            <p:cNvPr id="420111066" name=""/>
            <p:cNvSpPr/>
            <p:nvPr/>
          </p:nvSpPr>
          <p:spPr bwMode="auto">
            <a:xfrm rot="0" flipH="0" flipV="1">
              <a:off x="12181401" y="0"/>
              <a:ext cx="979066" cy="1374629"/>
            </a:xfrm>
            <a:prstGeom prst="chevron">
              <a:avLst>
                <a:gd name="adj" fmla="val 50000"/>
              </a:avLst>
            </a:prstGeom>
            <a:noFill/>
            <a:ln w="28575" cap="flat" cmpd="sng" algn="ctr">
              <a:solidFill>
                <a:srgbClr val="00B0F0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</p:grpSp>
      <p:grpSp>
        <p:nvGrpSpPr>
          <p:cNvPr id="1830485440" name=""/>
          <p:cNvGrpSpPr/>
          <p:nvPr/>
        </p:nvGrpSpPr>
        <p:grpSpPr bwMode="auto">
          <a:xfrm>
            <a:off x="-1003546" y="5480606"/>
            <a:ext cx="13160468" cy="1374629"/>
            <a:chOff x="0" y="0"/>
            <a:chExt cx="13160468" cy="1374629"/>
          </a:xfrm>
        </p:grpSpPr>
        <p:sp>
          <p:nvSpPr>
            <p:cNvPr id="445022407" name=""/>
            <p:cNvSpPr/>
            <p:nvPr/>
          </p:nvSpPr>
          <p:spPr bwMode="auto">
            <a:xfrm rot="0" flipH="0" flipV="0">
              <a:off x="979066" y="3029"/>
              <a:ext cx="12181401" cy="1371599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  <p:sp>
          <p:nvSpPr>
            <p:cNvPr id="1999019048" name=""/>
            <p:cNvSpPr/>
            <p:nvPr/>
          </p:nvSpPr>
          <p:spPr bwMode="auto">
            <a:xfrm rot="0" flipH="1" flipV="0">
              <a:off x="0" y="0"/>
              <a:ext cx="979066" cy="1374629"/>
            </a:xfrm>
            <a:prstGeom prst="chevron">
              <a:avLst>
                <a:gd name="adj" fmla="val 50000"/>
              </a:avLst>
            </a:prstGeom>
            <a:noFill/>
            <a:ln w="28575" cap="flat" cmpd="sng" algn="ctr">
              <a:solidFill>
                <a:srgbClr val="4750FF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</p:grpSp>
      <p:sp>
        <p:nvSpPr>
          <p:cNvPr id="354881852" name=""/>
          <p:cNvSpPr txBox="1"/>
          <p:nvPr/>
        </p:nvSpPr>
        <p:spPr bwMode="auto">
          <a:xfrm rot="0" flipH="0" flipV="0">
            <a:off x="1197618" y="281766"/>
            <a:ext cx="9813677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4800" b="1">
                <a:solidFill>
                  <a:srgbClr val="FF0000"/>
                </a:solidFill>
                <a:latin typeface="3270 Nerd Font Mono"/>
                <a:ea typeface="3270 Nerd Font Mono"/>
                <a:cs typeface="3270 Nerd Font Mono"/>
              </a:rPr>
              <a:t>Cross-Site Scripting (XSS)</a:t>
            </a:r>
            <a:endParaRPr sz="4800" b="1">
              <a:solidFill>
                <a:srgbClr val="FF0000"/>
              </a:solidFill>
              <a:latin typeface="3270 Nerd Font Mono"/>
              <a:cs typeface="3270 Nerd Font Mono"/>
            </a:endParaRPr>
          </a:p>
        </p:txBody>
      </p:sp>
      <p:sp>
        <p:nvSpPr>
          <p:cNvPr id="1847017121" name=""/>
          <p:cNvSpPr txBox="1"/>
          <p:nvPr/>
        </p:nvSpPr>
        <p:spPr bwMode="auto">
          <a:xfrm rot="0" flipH="0" flipV="0">
            <a:off x="2580423" y="1648795"/>
            <a:ext cx="7039067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4800" b="1">
                <a:solidFill>
                  <a:schemeClr val="accent4">
                    <a:lumMod val="60000"/>
                    <a:lumOff val="40000"/>
                  </a:schemeClr>
                </a:solidFill>
                <a:latin typeface="3270 Nerd Font Mono"/>
                <a:ea typeface="3270 Nerd Font Mono"/>
                <a:cs typeface="3270 Nerd Font Mono"/>
              </a:rPr>
              <a:t>Social Engineering</a:t>
            </a:r>
            <a:endParaRPr sz="4800" b="1">
              <a:solidFill>
                <a:schemeClr val="accent4">
                  <a:lumMod val="60000"/>
                  <a:lumOff val="40000"/>
                </a:schemeClr>
              </a:solidFill>
              <a:latin typeface="3270 Nerd Font Mono"/>
              <a:cs typeface="3270 Nerd Font Mono"/>
            </a:endParaRPr>
          </a:p>
        </p:txBody>
      </p:sp>
      <p:sp>
        <p:nvSpPr>
          <p:cNvPr id="991042480" name=""/>
          <p:cNvSpPr txBox="1"/>
          <p:nvPr/>
        </p:nvSpPr>
        <p:spPr bwMode="auto">
          <a:xfrm rot="0" flipH="0" flipV="0">
            <a:off x="2732823" y="3018853"/>
            <a:ext cx="7044826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4800" b="1">
                <a:solidFill>
                  <a:srgbClr val="92D050"/>
                </a:solidFill>
                <a:latin typeface="3270 Nerd Font Mono"/>
                <a:ea typeface="3270 Nerd Font Mono"/>
                <a:cs typeface="3270 Nerd Font Mono"/>
              </a:rPr>
              <a:t>SQL Injection</a:t>
            </a:r>
            <a:endParaRPr sz="4800" b="1">
              <a:solidFill>
                <a:srgbClr val="92D050"/>
              </a:solidFill>
              <a:latin typeface="3270 Nerd Font Mono"/>
              <a:cs typeface="3270 Nerd Font Mono"/>
            </a:endParaRPr>
          </a:p>
        </p:txBody>
      </p:sp>
      <p:sp>
        <p:nvSpPr>
          <p:cNvPr id="211736967" name=""/>
          <p:cNvSpPr txBox="1"/>
          <p:nvPr/>
        </p:nvSpPr>
        <p:spPr bwMode="auto">
          <a:xfrm rot="0" flipH="0" flipV="0">
            <a:off x="2732823" y="4386042"/>
            <a:ext cx="7049146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4800" b="1">
                <a:solidFill>
                  <a:srgbClr val="00B0F0"/>
                </a:solidFill>
                <a:latin typeface="3270 Nerd Font Mono"/>
                <a:ea typeface="3270 Nerd Font Mono"/>
                <a:cs typeface="3270 Nerd Font Mono"/>
              </a:rPr>
              <a:t>Dos / DDoS</a:t>
            </a:r>
            <a:endParaRPr sz="4800" b="1">
              <a:solidFill>
                <a:srgbClr val="00B0F0"/>
              </a:solidFill>
              <a:latin typeface="3270 Nerd Font Mono"/>
              <a:cs typeface="3270 Nerd Font Mono"/>
            </a:endParaRPr>
          </a:p>
        </p:txBody>
      </p:sp>
      <p:sp>
        <p:nvSpPr>
          <p:cNvPr id="1735953336" name=""/>
          <p:cNvSpPr txBox="1"/>
          <p:nvPr/>
        </p:nvSpPr>
        <p:spPr bwMode="auto">
          <a:xfrm rot="0" flipH="0" flipV="0">
            <a:off x="2732823" y="5756260"/>
            <a:ext cx="7055986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4800" b="1">
                <a:solidFill>
                  <a:srgbClr val="4750FF"/>
                </a:solidFill>
                <a:latin typeface="3270 Nerd Font Mono"/>
                <a:ea typeface="3270 Nerd Font Mono"/>
                <a:cs typeface="3270 Nerd Font Mono"/>
              </a:rPr>
              <a:t>Man in the Middle</a:t>
            </a:r>
            <a:endParaRPr sz="4800" b="1">
              <a:solidFill>
                <a:srgbClr val="4750FF"/>
              </a:solidFill>
              <a:latin typeface="3270 Nerd Font Mono"/>
              <a:cs typeface="3270 Nerd Font Mon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0" advClick="1" advTm="0"/>
    </mc:Choice>
    <mc:Fallback>
      <p:transition advClick="1" advTm="0"/>
    </mc:Fallback>
  </mc:AlternateContent>
  <p:timing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5719289" name="Rectangle 1407440435"/>
          <p:cNvSpPr/>
          <p:nvPr/>
        </p:nvSpPr>
        <p:spPr bwMode="auto">
          <a:xfrm rot="0" flipH="0" flipV="0">
            <a:off x="0" y="9143"/>
            <a:ext cx="12129489" cy="6846093"/>
          </a:xfrm>
          <a:prstGeom prst="rect">
            <a:avLst/>
          </a:prstGeom>
          <a:solidFill>
            <a:srgbClr val="000000">
              <a:alpha val="49999"/>
            </a:srgbClr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latin typeface="3270 Nerd Font Mono"/>
              <a:cs typeface="3270 Nerd Font Mono"/>
            </a:endParaRPr>
          </a:p>
        </p:txBody>
      </p:sp>
      <p:grpSp>
        <p:nvGrpSpPr>
          <p:cNvPr id="1958228129" name=""/>
          <p:cNvGrpSpPr/>
          <p:nvPr/>
        </p:nvGrpSpPr>
        <p:grpSpPr bwMode="auto">
          <a:xfrm>
            <a:off x="-1003546" y="6112"/>
            <a:ext cx="13160468" cy="1374629"/>
            <a:chOff x="0" y="0"/>
            <a:chExt cx="13160468" cy="1374629"/>
          </a:xfrm>
        </p:grpSpPr>
        <p:sp>
          <p:nvSpPr>
            <p:cNvPr id="189523911" name=""/>
            <p:cNvSpPr/>
            <p:nvPr/>
          </p:nvSpPr>
          <p:spPr bwMode="auto">
            <a:xfrm rot="0" flipH="0" flipV="0">
              <a:off x="979066" y="3029"/>
              <a:ext cx="12181401" cy="137159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  <p:sp>
          <p:nvSpPr>
            <p:cNvPr id="1111991399" name=""/>
            <p:cNvSpPr/>
            <p:nvPr/>
          </p:nvSpPr>
          <p:spPr bwMode="auto">
            <a:xfrm rot="0" flipH="1" flipV="1">
              <a:off x="0" y="0"/>
              <a:ext cx="979066" cy="1374629"/>
            </a:xfrm>
            <a:prstGeom prst="chevron">
              <a:avLst>
                <a:gd name="adj" fmla="val 50000"/>
              </a:avLst>
            </a:prstGeom>
            <a:noFill/>
            <a:ln w="28575" cap="flat" cmpd="sng" algn="ctr">
              <a:solidFill>
                <a:srgbClr val="FF0000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</p:grpSp>
      <p:grpSp>
        <p:nvGrpSpPr>
          <p:cNvPr id="173879407" name=""/>
          <p:cNvGrpSpPr/>
          <p:nvPr/>
        </p:nvGrpSpPr>
        <p:grpSpPr bwMode="auto">
          <a:xfrm>
            <a:off x="9675144" y="1368568"/>
            <a:ext cx="13160467" cy="1383772"/>
            <a:chOff x="0" y="0"/>
            <a:chExt cx="13160467" cy="1383772"/>
          </a:xfrm>
        </p:grpSpPr>
        <p:sp>
          <p:nvSpPr>
            <p:cNvPr id="206271557" name=""/>
            <p:cNvSpPr/>
            <p:nvPr/>
          </p:nvSpPr>
          <p:spPr bwMode="auto">
            <a:xfrm rot="0" flipH="0" flipV="0">
              <a:off x="0" y="12171"/>
              <a:ext cx="12181401" cy="137159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  <p:sp>
          <p:nvSpPr>
            <p:cNvPr id="1100053823" name=""/>
            <p:cNvSpPr/>
            <p:nvPr/>
          </p:nvSpPr>
          <p:spPr bwMode="auto">
            <a:xfrm rot="0" flipH="0" flipV="1">
              <a:off x="12181401" y="0"/>
              <a:ext cx="979066" cy="1374629"/>
            </a:xfrm>
            <a:prstGeom prst="chevron">
              <a:avLst>
                <a:gd name="adj" fmla="val 50000"/>
              </a:avLst>
            </a:prstGeom>
            <a:noFill/>
            <a:ln w="28575" cap="flat" cmpd="sng" algn="ctr">
              <a:solidFill>
                <a:schemeClr val="accent4">
                  <a:lumMod val="60000"/>
                  <a:lumOff val="40000"/>
                </a:schemeClr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</p:grpSp>
      <p:grpSp>
        <p:nvGrpSpPr>
          <p:cNvPr id="875513679" name=""/>
          <p:cNvGrpSpPr/>
          <p:nvPr/>
        </p:nvGrpSpPr>
        <p:grpSpPr bwMode="auto">
          <a:xfrm>
            <a:off x="-11032259" y="2743200"/>
            <a:ext cx="13187931" cy="1374629"/>
            <a:chOff x="0" y="0"/>
            <a:chExt cx="13187931" cy="1374629"/>
          </a:xfrm>
        </p:grpSpPr>
        <p:sp>
          <p:nvSpPr>
            <p:cNvPr id="2118156290" name=""/>
            <p:cNvSpPr/>
            <p:nvPr/>
          </p:nvSpPr>
          <p:spPr bwMode="auto">
            <a:xfrm rot="0" flipH="0" flipV="0">
              <a:off x="1006528" y="0"/>
              <a:ext cx="12181401" cy="137159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  <p:sp>
          <p:nvSpPr>
            <p:cNvPr id="1078486488" name=""/>
            <p:cNvSpPr/>
            <p:nvPr/>
          </p:nvSpPr>
          <p:spPr bwMode="auto">
            <a:xfrm rot="0" flipH="1" flipV="0">
              <a:off x="0" y="0"/>
              <a:ext cx="979066" cy="1374629"/>
            </a:xfrm>
            <a:prstGeom prst="chevron">
              <a:avLst>
                <a:gd name="adj" fmla="val 50000"/>
              </a:avLst>
            </a:prstGeom>
            <a:noFill/>
            <a:ln w="28575" cap="flat" cmpd="sng" algn="ctr">
              <a:solidFill>
                <a:srgbClr val="92D050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</p:grpSp>
      <p:grpSp>
        <p:nvGrpSpPr>
          <p:cNvPr id="1927168403" name=""/>
          <p:cNvGrpSpPr/>
          <p:nvPr/>
        </p:nvGrpSpPr>
        <p:grpSpPr bwMode="auto">
          <a:xfrm>
            <a:off x="9675144" y="4109006"/>
            <a:ext cx="13160467" cy="1377391"/>
            <a:chOff x="0" y="0"/>
            <a:chExt cx="13160467" cy="1377391"/>
          </a:xfrm>
        </p:grpSpPr>
        <p:sp>
          <p:nvSpPr>
            <p:cNvPr id="683841512" name=""/>
            <p:cNvSpPr/>
            <p:nvPr/>
          </p:nvSpPr>
          <p:spPr bwMode="auto">
            <a:xfrm rot="0" flipH="0" flipV="0">
              <a:off x="0" y="5791"/>
              <a:ext cx="12181401" cy="137159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  <p:sp>
          <p:nvSpPr>
            <p:cNvPr id="1080655737" name=""/>
            <p:cNvSpPr/>
            <p:nvPr/>
          </p:nvSpPr>
          <p:spPr bwMode="auto">
            <a:xfrm rot="0" flipH="0" flipV="1">
              <a:off x="12181401" y="0"/>
              <a:ext cx="979066" cy="1374629"/>
            </a:xfrm>
            <a:prstGeom prst="chevron">
              <a:avLst>
                <a:gd name="adj" fmla="val 50000"/>
              </a:avLst>
            </a:prstGeom>
            <a:noFill/>
            <a:ln w="28575" cap="flat" cmpd="sng" algn="ctr">
              <a:solidFill>
                <a:srgbClr val="00B0F0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</p:grpSp>
      <p:grpSp>
        <p:nvGrpSpPr>
          <p:cNvPr id="1264289532" name=""/>
          <p:cNvGrpSpPr/>
          <p:nvPr/>
        </p:nvGrpSpPr>
        <p:grpSpPr bwMode="auto">
          <a:xfrm>
            <a:off x="-11004795" y="5480606"/>
            <a:ext cx="13160467" cy="1374629"/>
            <a:chOff x="0" y="0"/>
            <a:chExt cx="13160467" cy="1374629"/>
          </a:xfrm>
        </p:grpSpPr>
        <p:sp>
          <p:nvSpPr>
            <p:cNvPr id="2127200756" name=""/>
            <p:cNvSpPr/>
            <p:nvPr/>
          </p:nvSpPr>
          <p:spPr bwMode="auto">
            <a:xfrm rot="0" flipH="0" flipV="0">
              <a:off x="979066" y="3029"/>
              <a:ext cx="12181401" cy="137159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  <p:sp>
          <p:nvSpPr>
            <p:cNvPr id="1638910024" name=""/>
            <p:cNvSpPr/>
            <p:nvPr/>
          </p:nvSpPr>
          <p:spPr bwMode="auto">
            <a:xfrm rot="0" flipH="1" flipV="0">
              <a:off x="0" y="0"/>
              <a:ext cx="979066" cy="1374629"/>
            </a:xfrm>
            <a:prstGeom prst="chevron">
              <a:avLst>
                <a:gd name="adj" fmla="val 50000"/>
              </a:avLst>
            </a:prstGeom>
            <a:noFill/>
            <a:ln w="28575" cap="flat" cmpd="sng" algn="ctr">
              <a:solidFill>
                <a:srgbClr val="4750FF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</p:grpSp>
      <p:sp>
        <p:nvSpPr>
          <p:cNvPr id="163824251" name=""/>
          <p:cNvSpPr txBox="1"/>
          <p:nvPr/>
        </p:nvSpPr>
        <p:spPr bwMode="auto">
          <a:xfrm rot="0" flipH="0" flipV="0">
            <a:off x="2217286" y="281766"/>
            <a:ext cx="7774341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3600" b="1">
                <a:solidFill>
                  <a:srgbClr val="FF0000"/>
                </a:solidFill>
                <a:latin typeface="3270 Nerd Font Mono"/>
                <a:ea typeface="3270 Nerd Font Mono"/>
                <a:cs typeface="3270 Nerd Font Mono"/>
              </a:rPr>
              <a:t>Cross-Site Scripting (XSS)</a:t>
            </a:r>
            <a:endParaRPr sz="3600" b="1">
              <a:solidFill>
                <a:srgbClr val="FF0000"/>
              </a:solidFill>
              <a:latin typeface="3270 Nerd Font Mono"/>
              <a:cs typeface="3270 Nerd Font Mono"/>
            </a:endParaRPr>
          </a:p>
        </p:txBody>
      </p:sp>
      <p:sp>
        <p:nvSpPr>
          <p:cNvPr id="889719988" name=""/>
          <p:cNvSpPr txBox="1"/>
          <p:nvPr/>
        </p:nvSpPr>
        <p:spPr bwMode="auto">
          <a:xfrm rot="0" flipH="0" flipV="0">
            <a:off x="12200673" y="1648794"/>
            <a:ext cx="7039426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4800" b="1">
                <a:solidFill>
                  <a:schemeClr val="accent4">
                    <a:lumMod val="60000"/>
                    <a:lumOff val="40000"/>
                  </a:schemeClr>
                </a:solidFill>
                <a:latin typeface="3270 Nerd Font Mono"/>
                <a:ea typeface="3270 Nerd Font Mono"/>
                <a:cs typeface="3270 Nerd Font Mono"/>
              </a:rPr>
              <a:t>Social Engineering</a:t>
            </a:r>
            <a:endParaRPr sz="4800" b="1">
              <a:solidFill>
                <a:schemeClr val="accent4">
                  <a:lumMod val="60000"/>
                  <a:lumOff val="40000"/>
                </a:schemeClr>
              </a:solidFill>
              <a:latin typeface="3270 Nerd Font Mono"/>
              <a:cs typeface="3270 Nerd Font Mono"/>
            </a:endParaRPr>
          </a:p>
        </p:txBody>
      </p:sp>
      <p:sp>
        <p:nvSpPr>
          <p:cNvPr id="922820740" name=""/>
          <p:cNvSpPr txBox="1"/>
          <p:nvPr/>
        </p:nvSpPr>
        <p:spPr bwMode="auto">
          <a:xfrm rot="0" flipH="0" flipV="0">
            <a:off x="-7268423" y="3018853"/>
            <a:ext cx="7045185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4800" b="1">
                <a:solidFill>
                  <a:srgbClr val="92D050"/>
                </a:solidFill>
                <a:latin typeface="3270 Nerd Font Mono"/>
                <a:ea typeface="3270 Nerd Font Mono"/>
                <a:cs typeface="3270 Nerd Font Mono"/>
              </a:rPr>
              <a:t>SQL Injection</a:t>
            </a:r>
            <a:endParaRPr sz="4800" b="1">
              <a:solidFill>
                <a:srgbClr val="92D050"/>
              </a:solidFill>
              <a:latin typeface="3270 Nerd Font Mono"/>
              <a:cs typeface="3270 Nerd Font Mono"/>
            </a:endParaRPr>
          </a:p>
        </p:txBody>
      </p:sp>
      <p:sp>
        <p:nvSpPr>
          <p:cNvPr id="1705899408" name=""/>
          <p:cNvSpPr txBox="1"/>
          <p:nvPr/>
        </p:nvSpPr>
        <p:spPr bwMode="auto">
          <a:xfrm rot="0" flipH="0" flipV="0">
            <a:off x="12353073" y="4386042"/>
            <a:ext cx="7049505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4800" b="1">
                <a:solidFill>
                  <a:srgbClr val="00B0F0"/>
                </a:solidFill>
                <a:latin typeface="3270 Nerd Font Mono"/>
                <a:ea typeface="3270 Nerd Font Mono"/>
                <a:cs typeface="3270 Nerd Font Mono"/>
              </a:rPr>
              <a:t>Dos / DDoS</a:t>
            </a:r>
            <a:endParaRPr sz="4800" b="1">
              <a:solidFill>
                <a:srgbClr val="00B0F0"/>
              </a:solidFill>
              <a:latin typeface="3270 Nerd Font Mono"/>
              <a:cs typeface="3270 Nerd Font Mono"/>
            </a:endParaRPr>
          </a:p>
        </p:txBody>
      </p:sp>
      <p:sp>
        <p:nvSpPr>
          <p:cNvPr id="1279223454" name=""/>
          <p:cNvSpPr txBox="1"/>
          <p:nvPr/>
        </p:nvSpPr>
        <p:spPr bwMode="auto">
          <a:xfrm rot="0" flipH="0" flipV="0">
            <a:off x="-7268423" y="5756260"/>
            <a:ext cx="7057065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4800" b="1">
                <a:solidFill>
                  <a:srgbClr val="4750FF"/>
                </a:solidFill>
                <a:latin typeface="3270 Nerd Font Mono"/>
                <a:ea typeface="3270 Nerd Font Mono"/>
                <a:cs typeface="3270 Nerd Font Mono"/>
              </a:rPr>
              <a:t>Man in the Middle</a:t>
            </a:r>
            <a:endParaRPr sz="4800" b="1">
              <a:solidFill>
                <a:srgbClr val="4750FF"/>
              </a:solidFill>
              <a:latin typeface="3270 Nerd Font Mono"/>
              <a:cs typeface="3270 Nerd Font Mono"/>
            </a:endParaRPr>
          </a:p>
        </p:txBody>
      </p:sp>
      <p:sp>
        <p:nvSpPr>
          <p:cNvPr id="1630268434" name=""/>
          <p:cNvSpPr txBox="1"/>
          <p:nvPr/>
        </p:nvSpPr>
        <p:spPr bwMode="auto">
          <a:xfrm rot="0" flipH="0" flipV="0">
            <a:off x="807585" y="1579887"/>
            <a:ext cx="10469409" cy="2225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just">
              <a:defRPr/>
            </a:pPr>
            <a:r>
              <a:rPr sz="2800" b="1">
                <a:solidFill>
                  <a:schemeClr val="bg1"/>
                </a:solidFill>
                <a:latin typeface="3270 Nerd Font Mono"/>
                <a:ea typeface="3270 Nerd Font Mono"/>
                <a:cs typeface="3270 Nerd Font Mono"/>
              </a:rPr>
              <a:t>XSS adalah serangan yang memanfaatkan form input yang belum divalidasi website dengan cara menyisipkan kode berbahaya</a:t>
            </a:r>
            <a:r>
              <a:rPr sz="2800" b="1">
                <a:solidFill>
                  <a:schemeClr val="bg1"/>
                </a:solidFill>
                <a:latin typeface="3270 Nerd Font Mono"/>
                <a:ea typeface="3270 Nerd Font Mono"/>
                <a:cs typeface="3270 Nerd Font Mono"/>
              </a:rPr>
              <a:t> pada form tersebut dimana kode tersebut kemudian dibaca dan dijalankan website untuk user lain.</a:t>
            </a:r>
            <a:endParaRPr sz="2800" b="1">
              <a:solidFill>
                <a:schemeClr val="bg1"/>
              </a:solidFill>
              <a:latin typeface="3270 Nerd Font Mono"/>
              <a:cs typeface="3270 Nerd Font Mono"/>
            </a:endParaRPr>
          </a:p>
        </p:txBody>
      </p:sp>
      <p:sp>
        <p:nvSpPr>
          <p:cNvPr id="1322108842" name=""/>
          <p:cNvSpPr txBox="1"/>
          <p:nvPr/>
        </p:nvSpPr>
        <p:spPr bwMode="auto">
          <a:xfrm rot="0" flipH="0" flipV="0">
            <a:off x="583713" y="3565076"/>
            <a:ext cx="1911384" cy="118908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3600" b="1">
                <a:solidFill>
                  <a:schemeClr val="bg1"/>
                </a:solidFill>
                <a:latin typeface="3270 Nerd Font Mono"/>
                <a:ea typeface="3270 Nerd Font Mono"/>
                <a:cs typeface="3270 Nerd Font Mono"/>
              </a:rPr>
              <a:t>Contoh :</a:t>
            </a:r>
            <a:endParaRPr sz="3600" b="1">
              <a:solidFill>
                <a:schemeClr val="bg1"/>
              </a:solidFill>
              <a:latin typeface="3270 Nerd Font Mono"/>
              <a:cs typeface="3270 Nerd Font Mono"/>
            </a:endParaRPr>
          </a:p>
        </p:txBody>
      </p:sp>
      <p:grpSp>
        <p:nvGrpSpPr>
          <p:cNvPr id="682247796" name=""/>
          <p:cNvGrpSpPr/>
          <p:nvPr/>
        </p:nvGrpSpPr>
        <p:grpSpPr bwMode="auto">
          <a:xfrm>
            <a:off x="5811466" y="4490355"/>
            <a:ext cx="8617226" cy="1932212"/>
            <a:chOff x="0" y="0"/>
            <a:chExt cx="8617226" cy="1932212"/>
          </a:xfrm>
        </p:grpSpPr>
        <p:sp>
          <p:nvSpPr>
            <p:cNvPr id="2139479999" name=""/>
            <p:cNvSpPr/>
            <p:nvPr/>
          </p:nvSpPr>
          <p:spPr bwMode="auto">
            <a:xfrm rot="0" flipH="0" flipV="0">
              <a:off x="0" y="0"/>
              <a:ext cx="5953124" cy="1932213"/>
            </a:xfrm>
            <a:prstGeom prst="rect">
              <a:avLst/>
            </a:prstGeom>
            <a:noFill/>
            <a:ln w="57150" cap="flat" cmpd="sng" algn="ctr">
              <a:solidFill>
                <a:srgbClr val="FFFFFF"/>
              </a:solidFill>
              <a:prstDash val="sysDash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  <p:sp>
          <p:nvSpPr>
            <p:cNvPr id="266384777" name=""/>
            <p:cNvSpPr txBox="1"/>
            <p:nvPr/>
          </p:nvSpPr>
          <p:spPr bwMode="auto">
            <a:xfrm rot="0" flipH="0" flipV="0">
              <a:off x="1686915" y="125190"/>
              <a:ext cx="2580372" cy="51851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sz="2800" b="1">
                  <a:solidFill>
                    <a:schemeClr val="bg1"/>
                  </a:solidFill>
                  <a:latin typeface="3270 Nerd Font Mono"/>
                  <a:ea typeface="3270 Nerd Font Mono"/>
                  <a:cs typeface="3270 Nerd Font Mono"/>
                </a:rPr>
                <a:t>XSS Pada URL </a:t>
              </a:r>
              <a:endParaRPr sz="2800" b="1">
                <a:solidFill>
                  <a:schemeClr val="bg1"/>
                </a:solidFill>
                <a:latin typeface="3270 Nerd Font Mono"/>
                <a:cs typeface="3270 Nerd Font Mono"/>
              </a:endParaRPr>
            </a:p>
          </p:txBody>
        </p:sp>
        <p:sp>
          <p:nvSpPr>
            <p:cNvPr id="1117681691" name=""/>
            <p:cNvSpPr txBox="1"/>
            <p:nvPr/>
          </p:nvSpPr>
          <p:spPr bwMode="auto">
            <a:xfrm rot="0" flipH="0" flipV="0">
              <a:off x="337619" y="1048122"/>
              <a:ext cx="8279606" cy="366120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 algn="l">
                <a:defRPr/>
              </a:pPr>
              <a:r>
                <a:rPr sz="1800" b="1">
                  <a:solidFill>
                    <a:schemeClr val="bg1"/>
                  </a:solidFill>
                  <a:latin typeface="3270 Nerd Font Mono"/>
                  <a:ea typeface="3270 Nerd Font Mono"/>
                  <a:cs typeface="3270 Nerd Font Mono"/>
                </a:rPr>
                <a:t>alamat.com/#&lt;script&gt;alert(“XSS”)&lt;/script&gt;</a:t>
              </a:r>
              <a:endParaRPr sz="1800" b="1">
                <a:solidFill>
                  <a:schemeClr val="bg1"/>
                </a:solidFill>
                <a:latin typeface="3270 Nerd Font Mono"/>
                <a:cs typeface="3270 Nerd Font Mono"/>
              </a:endParaRPr>
            </a:p>
          </p:txBody>
        </p:sp>
      </p:grpSp>
      <p:grpSp>
        <p:nvGrpSpPr>
          <p:cNvPr id="1748684039" name=""/>
          <p:cNvGrpSpPr/>
          <p:nvPr/>
        </p:nvGrpSpPr>
        <p:grpSpPr bwMode="auto">
          <a:xfrm>
            <a:off x="695355" y="4490355"/>
            <a:ext cx="4218212" cy="1932212"/>
            <a:chOff x="0" y="0"/>
            <a:chExt cx="4218212" cy="1932212"/>
          </a:xfrm>
        </p:grpSpPr>
        <p:sp>
          <p:nvSpPr>
            <p:cNvPr id="1735776371" name=""/>
            <p:cNvSpPr txBox="1"/>
            <p:nvPr/>
          </p:nvSpPr>
          <p:spPr bwMode="auto">
            <a:xfrm rot="0" flipH="0" flipV="0">
              <a:off x="180264" y="659024"/>
              <a:ext cx="1862963" cy="457560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 algn="just">
                <a:defRPr/>
              </a:pPr>
              <a:r>
                <a:rPr sz="2400" b="1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username : </a:t>
              </a:r>
              <a:endParaRPr sz="2400" b="1">
                <a:solidFill>
                  <a:schemeClr val="bg1"/>
                </a:solidFill>
                <a:latin typeface="Arial"/>
                <a:cs typeface="Arial"/>
              </a:endParaRPr>
            </a:p>
          </p:txBody>
        </p:sp>
        <p:sp>
          <p:nvSpPr>
            <p:cNvPr id="661727550" name=""/>
            <p:cNvSpPr/>
            <p:nvPr/>
          </p:nvSpPr>
          <p:spPr bwMode="auto">
            <a:xfrm rot="0" flipH="0" flipV="0">
              <a:off x="227016" y="1229176"/>
              <a:ext cx="3528552" cy="380999"/>
            </a:xfrm>
            <a:prstGeom prst="flowChartAlternateProcess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l">
                <a:defRPr/>
              </a:pPr>
              <a:r>
                <a:rPr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&lt;script&gt;alert(“XSS”)&lt;/script&gt;</a:t>
              </a:r>
              <a:endParaRPr>
                <a:solidFill>
                  <a:schemeClr val="tx1"/>
                </a:solidFill>
                <a:latin typeface="Arial"/>
                <a:cs typeface="Arial"/>
              </a:endParaRPr>
            </a:p>
          </p:txBody>
        </p:sp>
        <p:sp>
          <p:nvSpPr>
            <p:cNvPr id="1885323825" name=""/>
            <p:cNvSpPr txBox="1"/>
            <p:nvPr/>
          </p:nvSpPr>
          <p:spPr bwMode="auto">
            <a:xfrm rot="0" flipH="0" flipV="0">
              <a:off x="378795" y="125190"/>
              <a:ext cx="3463137" cy="51851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sz="2800" b="1">
                  <a:solidFill>
                    <a:schemeClr val="bg1"/>
                  </a:solidFill>
                  <a:latin typeface="3270 Nerd Font Mono"/>
                  <a:ea typeface="3270 Nerd Font Mono"/>
                  <a:cs typeface="3270 Nerd Font Mono"/>
                </a:rPr>
                <a:t>XSS Pada Form </a:t>
              </a:r>
              <a:endParaRPr sz="2800" b="1">
                <a:solidFill>
                  <a:schemeClr val="bg1"/>
                </a:solidFill>
                <a:latin typeface="3270 Nerd Font Mono"/>
                <a:cs typeface="3270 Nerd Font Mono"/>
              </a:endParaRPr>
            </a:p>
          </p:txBody>
        </p:sp>
        <p:sp>
          <p:nvSpPr>
            <p:cNvPr id="909222848" name=""/>
            <p:cNvSpPr/>
            <p:nvPr/>
          </p:nvSpPr>
          <p:spPr bwMode="auto">
            <a:xfrm rot="0" flipH="0" flipV="0">
              <a:off x="0" y="0"/>
              <a:ext cx="4218213" cy="1932213"/>
            </a:xfrm>
            <a:prstGeom prst="rect">
              <a:avLst/>
            </a:prstGeom>
            <a:noFill/>
            <a:ln w="57150" cap="flat" cmpd="sng" algn="ctr">
              <a:solidFill>
                <a:srgbClr val="FFFFFF"/>
              </a:solidFill>
              <a:prstDash val="sysDash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159:morph option="byObject"/>
      </p:transition>
    </mc:Choice>
    <mc:Fallback>
      <p:transition spd="med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026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9" dur="500"/>
                                        <p:tgtEl>
                                          <p:spTgt spid="1630268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108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6" dur="500"/>
                                        <p:tgtEl>
                                          <p:spTgt spid="1322108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247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3" dur="500"/>
                                        <p:tgtEl>
                                          <p:spTgt spid="682247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8684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0" dur="500"/>
                                        <p:tgtEl>
                                          <p:spTgt spid="1748684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xit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vertical)">
                                      <p:cBhvr>
                                        <p:cTn id="6" dur="500"/>
                                        <p:tgtEl>
                                          <p:spTgt spid="16302684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026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4" presetClass="exit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vertical)">
                                      <p:cBhvr>
                                        <p:cTn id="6" dur="500"/>
                                        <p:tgtEl>
                                          <p:spTgt spid="13221088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2108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4" presetClass="exit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vertical)">
                                      <p:cBhvr>
                                        <p:cTn id="6" dur="500"/>
                                        <p:tgtEl>
                                          <p:spTgt spid="6822477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2247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4" presetClass="exit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vertical)">
                                      <p:cBhvr>
                                        <p:cTn id="6" dur="500"/>
                                        <p:tgtEl>
                                          <p:spTgt spid="17486840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8684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8478234" name="Rectangle 1407440435"/>
          <p:cNvSpPr/>
          <p:nvPr/>
        </p:nvSpPr>
        <p:spPr bwMode="auto">
          <a:xfrm rot="0" flipH="0" flipV="0">
            <a:off x="0" y="9142"/>
            <a:ext cx="12201201" cy="6846093"/>
          </a:xfrm>
          <a:prstGeom prst="rect">
            <a:avLst/>
          </a:prstGeom>
          <a:solidFill>
            <a:srgbClr val="000000">
              <a:alpha val="49999"/>
            </a:srgbClr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latin typeface="3270 Nerd Font Mono"/>
              <a:cs typeface="3270 Nerd Font Mono"/>
            </a:endParaRPr>
          </a:p>
        </p:txBody>
      </p:sp>
      <p:grpSp>
        <p:nvGrpSpPr>
          <p:cNvPr id="705432233" name=""/>
          <p:cNvGrpSpPr/>
          <p:nvPr/>
        </p:nvGrpSpPr>
        <p:grpSpPr bwMode="auto">
          <a:xfrm>
            <a:off x="-1003546" y="6112"/>
            <a:ext cx="13160468" cy="1374629"/>
            <a:chOff x="0" y="0"/>
            <a:chExt cx="13160468" cy="1374629"/>
          </a:xfrm>
        </p:grpSpPr>
        <p:sp>
          <p:nvSpPr>
            <p:cNvPr id="37917233" name=""/>
            <p:cNvSpPr/>
            <p:nvPr/>
          </p:nvSpPr>
          <p:spPr bwMode="auto">
            <a:xfrm rot="0" flipH="0" flipV="0">
              <a:off x="979066" y="3029"/>
              <a:ext cx="12181401" cy="137159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  <p:sp>
          <p:nvSpPr>
            <p:cNvPr id="692398552" name=""/>
            <p:cNvSpPr/>
            <p:nvPr/>
          </p:nvSpPr>
          <p:spPr bwMode="auto">
            <a:xfrm rot="0" flipH="1" flipV="1">
              <a:off x="0" y="0"/>
              <a:ext cx="979066" cy="1374629"/>
            </a:xfrm>
            <a:prstGeom prst="chevron">
              <a:avLst>
                <a:gd name="adj" fmla="val 50000"/>
              </a:avLst>
            </a:prstGeom>
            <a:noFill/>
            <a:ln w="28575" cap="flat" cmpd="sng" algn="ctr">
              <a:solidFill>
                <a:srgbClr val="FF0000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</p:grpSp>
      <p:grpSp>
        <p:nvGrpSpPr>
          <p:cNvPr id="1240602306" name=""/>
          <p:cNvGrpSpPr/>
          <p:nvPr/>
        </p:nvGrpSpPr>
        <p:grpSpPr bwMode="auto">
          <a:xfrm>
            <a:off x="9675144" y="1368568"/>
            <a:ext cx="13160467" cy="1383772"/>
            <a:chOff x="0" y="0"/>
            <a:chExt cx="13160467" cy="1383772"/>
          </a:xfrm>
        </p:grpSpPr>
        <p:sp>
          <p:nvSpPr>
            <p:cNvPr id="643039984" name=""/>
            <p:cNvSpPr/>
            <p:nvPr/>
          </p:nvSpPr>
          <p:spPr bwMode="auto">
            <a:xfrm rot="0" flipH="0" flipV="0">
              <a:off x="0" y="12171"/>
              <a:ext cx="12181401" cy="137159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  <p:sp>
          <p:nvSpPr>
            <p:cNvPr id="649807446" name=""/>
            <p:cNvSpPr/>
            <p:nvPr/>
          </p:nvSpPr>
          <p:spPr bwMode="auto">
            <a:xfrm rot="0" flipH="0" flipV="1">
              <a:off x="12181401" y="0"/>
              <a:ext cx="979066" cy="1374629"/>
            </a:xfrm>
            <a:prstGeom prst="chevron">
              <a:avLst>
                <a:gd name="adj" fmla="val 50000"/>
              </a:avLst>
            </a:prstGeom>
            <a:noFill/>
            <a:ln w="28575" cap="flat" cmpd="sng" algn="ctr">
              <a:solidFill>
                <a:schemeClr val="accent4">
                  <a:lumMod val="60000"/>
                  <a:lumOff val="40000"/>
                </a:schemeClr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</p:grpSp>
      <p:grpSp>
        <p:nvGrpSpPr>
          <p:cNvPr id="298504558" name=""/>
          <p:cNvGrpSpPr/>
          <p:nvPr/>
        </p:nvGrpSpPr>
        <p:grpSpPr bwMode="auto">
          <a:xfrm>
            <a:off x="-11032259" y="2743200"/>
            <a:ext cx="13187931" cy="1374629"/>
            <a:chOff x="0" y="0"/>
            <a:chExt cx="13187931" cy="1374629"/>
          </a:xfrm>
        </p:grpSpPr>
        <p:sp>
          <p:nvSpPr>
            <p:cNvPr id="410306143" name=""/>
            <p:cNvSpPr/>
            <p:nvPr/>
          </p:nvSpPr>
          <p:spPr bwMode="auto">
            <a:xfrm rot="0" flipH="0" flipV="0">
              <a:off x="1006528" y="0"/>
              <a:ext cx="12181401" cy="137159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  <p:sp>
          <p:nvSpPr>
            <p:cNvPr id="1103666730" name=""/>
            <p:cNvSpPr/>
            <p:nvPr/>
          </p:nvSpPr>
          <p:spPr bwMode="auto">
            <a:xfrm rot="0" flipH="1" flipV="0">
              <a:off x="0" y="0"/>
              <a:ext cx="979066" cy="1374629"/>
            </a:xfrm>
            <a:prstGeom prst="chevron">
              <a:avLst>
                <a:gd name="adj" fmla="val 50000"/>
              </a:avLst>
            </a:prstGeom>
            <a:noFill/>
            <a:ln w="28575" cap="flat" cmpd="sng" algn="ctr">
              <a:solidFill>
                <a:srgbClr val="92D050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</p:grpSp>
      <p:grpSp>
        <p:nvGrpSpPr>
          <p:cNvPr id="141225895" name=""/>
          <p:cNvGrpSpPr/>
          <p:nvPr/>
        </p:nvGrpSpPr>
        <p:grpSpPr bwMode="auto">
          <a:xfrm>
            <a:off x="9675144" y="4109006"/>
            <a:ext cx="13160467" cy="1377391"/>
            <a:chOff x="0" y="0"/>
            <a:chExt cx="13160467" cy="1377391"/>
          </a:xfrm>
        </p:grpSpPr>
        <p:sp>
          <p:nvSpPr>
            <p:cNvPr id="1252595114" name=""/>
            <p:cNvSpPr/>
            <p:nvPr/>
          </p:nvSpPr>
          <p:spPr bwMode="auto">
            <a:xfrm rot="0" flipH="0" flipV="0">
              <a:off x="0" y="5791"/>
              <a:ext cx="12181401" cy="137159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  <p:sp>
          <p:nvSpPr>
            <p:cNvPr id="1616077733" name=""/>
            <p:cNvSpPr/>
            <p:nvPr/>
          </p:nvSpPr>
          <p:spPr bwMode="auto">
            <a:xfrm rot="0" flipH="0" flipV="1">
              <a:off x="12181401" y="0"/>
              <a:ext cx="979066" cy="1374629"/>
            </a:xfrm>
            <a:prstGeom prst="chevron">
              <a:avLst>
                <a:gd name="adj" fmla="val 50000"/>
              </a:avLst>
            </a:prstGeom>
            <a:noFill/>
            <a:ln w="28575" cap="flat" cmpd="sng" algn="ctr">
              <a:solidFill>
                <a:srgbClr val="00B0F0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</p:grpSp>
      <p:grpSp>
        <p:nvGrpSpPr>
          <p:cNvPr id="1314247282" name=""/>
          <p:cNvGrpSpPr/>
          <p:nvPr/>
        </p:nvGrpSpPr>
        <p:grpSpPr bwMode="auto">
          <a:xfrm>
            <a:off x="-11004795" y="5480606"/>
            <a:ext cx="13160467" cy="1374629"/>
            <a:chOff x="0" y="0"/>
            <a:chExt cx="13160467" cy="1374629"/>
          </a:xfrm>
        </p:grpSpPr>
        <p:sp>
          <p:nvSpPr>
            <p:cNvPr id="1684809240" name=""/>
            <p:cNvSpPr/>
            <p:nvPr/>
          </p:nvSpPr>
          <p:spPr bwMode="auto">
            <a:xfrm rot="0" flipH="0" flipV="0">
              <a:off x="979066" y="3029"/>
              <a:ext cx="12181401" cy="137159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  <p:sp>
          <p:nvSpPr>
            <p:cNvPr id="957465993" name=""/>
            <p:cNvSpPr/>
            <p:nvPr/>
          </p:nvSpPr>
          <p:spPr bwMode="auto">
            <a:xfrm rot="0" flipH="1" flipV="0">
              <a:off x="0" y="0"/>
              <a:ext cx="979066" cy="1374629"/>
            </a:xfrm>
            <a:prstGeom prst="chevron">
              <a:avLst>
                <a:gd name="adj" fmla="val 50000"/>
              </a:avLst>
            </a:prstGeom>
            <a:noFill/>
            <a:ln w="28575" cap="flat" cmpd="sng" algn="ctr">
              <a:solidFill>
                <a:srgbClr val="4750FF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</p:grpSp>
      <p:sp>
        <p:nvSpPr>
          <p:cNvPr id="1377040514" name=""/>
          <p:cNvSpPr txBox="1"/>
          <p:nvPr/>
        </p:nvSpPr>
        <p:spPr bwMode="auto">
          <a:xfrm rot="0" flipH="0" flipV="0">
            <a:off x="2217286" y="281766"/>
            <a:ext cx="7774341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3600" b="1">
                <a:solidFill>
                  <a:srgbClr val="FF0000"/>
                </a:solidFill>
                <a:latin typeface="3270 Nerd Font Mono"/>
                <a:ea typeface="3270 Nerd Font Mono"/>
                <a:cs typeface="3270 Nerd Font Mono"/>
              </a:rPr>
              <a:t>Cross-Site Scripting (XSS)</a:t>
            </a:r>
            <a:endParaRPr sz="3600" b="1">
              <a:solidFill>
                <a:srgbClr val="FF0000"/>
              </a:solidFill>
              <a:latin typeface="3270 Nerd Font Mono"/>
              <a:cs typeface="3270 Nerd Font Mono"/>
            </a:endParaRPr>
          </a:p>
        </p:txBody>
      </p:sp>
      <p:grpSp>
        <p:nvGrpSpPr>
          <p:cNvPr id="550665896" name=""/>
          <p:cNvGrpSpPr/>
          <p:nvPr/>
        </p:nvGrpSpPr>
        <p:grpSpPr bwMode="auto">
          <a:xfrm>
            <a:off x="727304" y="1224641"/>
            <a:ext cx="3252825" cy="5197927"/>
            <a:chOff x="0" y="0"/>
            <a:chExt cx="3252825" cy="5197927"/>
          </a:xfrm>
        </p:grpSpPr>
        <p:sp>
          <p:nvSpPr>
            <p:cNvPr id="1064402117" name=""/>
            <p:cNvSpPr/>
            <p:nvPr/>
          </p:nvSpPr>
          <p:spPr bwMode="auto">
            <a:xfrm rot="0" flipH="0" flipV="0">
              <a:off x="0" y="0"/>
              <a:ext cx="3252106" cy="5197928"/>
            </a:xfrm>
            <a:prstGeom prst="flowChartAlternateProcess">
              <a:avLst/>
            </a:prstGeom>
            <a:solidFill>
              <a:srgbClr val="A62D2D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  <p:pic>
          <p:nvPicPr>
            <p:cNvPr id="475590664" name=""/>
            <p:cNvPicPr>
              <a:picLocks noChangeAspect="1"/>
            </p:cNvPicPr>
            <p:nvPr/>
          </p:nvPicPr>
          <p:blipFill rotWithShape="1">
            <a:blip r:embed="rId4"/>
            <a:stretch/>
          </p:blipFill>
          <p:spPr bwMode="auto">
            <a:xfrm flipH="0" flipV="0">
              <a:off x="1265267" y="148702"/>
              <a:ext cx="721569" cy="817403"/>
            </a:xfrm>
            <a:prstGeom prst="rect">
              <a:avLst/>
            </a:prstGeom>
          </p:spPr>
        </p:pic>
        <p:sp>
          <p:nvSpPr>
            <p:cNvPr id="1119290939" name=""/>
            <p:cNvSpPr txBox="1"/>
            <p:nvPr/>
          </p:nvSpPr>
          <p:spPr bwMode="auto">
            <a:xfrm rot="0" flipH="0" flipV="0">
              <a:off x="306126" y="1106723"/>
              <a:ext cx="2640573" cy="48803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sz="2600" b="1">
                  <a:solidFill>
                    <a:schemeClr val="bg1"/>
                  </a:solidFill>
                  <a:latin typeface="3270 Nerd Font Mono"/>
                  <a:ea typeface="3270 Nerd Font Mono"/>
                  <a:cs typeface="3270 Nerd Font Mono"/>
                </a:rPr>
                <a:t>Storage XSS</a:t>
              </a:r>
              <a:endParaRPr sz="2600" b="1">
                <a:solidFill>
                  <a:schemeClr val="bg1"/>
                </a:solidFill>
                <a:latin typeface="3270 Nerd Font Mono"/>
                <a:cs typeface="3270 Nerd Font Mono"/>
              </a:endParaRPr>
            </a:p>
          </p:txBody>
        </p:sp>
        <p:sp>
          <p:nvSpPr>
            <p:cNvPr id="2060155184" name=""/>
            <p:cNvSpPr txBox="1"/>
            <p:nvPr/>
          </p:nvSpPr>
          <p:spPr bwMode="auto">
            <a:xfrm rot="0" flipH="0" flipV="0">
              <a:off x="718" y="1871443"/>
              <a:ext cx="3252106" cy="2469238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sz="2600" b="1">
                  <a:solidFill>
                    <a:schemeClr val="bg1"/>
                  </a:solidFill>
                  <a:latin typeface="3270 Nerd Font Mono"/>
                  <a:ea typeface="3270 Nerd Font Mono"/>
                  <a:cs typeface="3270 Nerd Font Mono"/>
                </a:rPr>
                <a:t>XSS Tersimpan Pada Penyimpanan Server dan Dijalankan Ketika User Lain Mengakses Website</a:t>
              </a:r>
              <a:endParaRPr sz="2600" b="1">
                <a:solidFill>
                  <a:schemeClr val="bg1"/>
                </a:solidFill>
                <a:latin typeface="3270 Nerd Font Mono"/>
                <a:cs typeface="3270 Nerd Font Mono"/>
              </a:endParaRPr>
            </a:p>
          </p:txBody>
        </p:sp>
      </p:grpSp>
      <p:grpSp>
        <p:nvGrpSpPr>
          <p:cNvPr id="59871912" name=""/>
          <p:cNvGrpSpPr/>
          <p:nvPr/>
        </p:nvGrpSpPr>
        <p:grpSpPr bwMode="auto">
          <a:xfrm>
            <a:off x="4446491" y="1224641"/>
            <a:ext cx="3252105" cy="5197927"/>
            <a:chOff x="0" y="0"/>
            <a:chExt cx="3252105" cy="5197927"/>
          </a:xfrm>
        </p:grpSpPr>
        <p:sp>
          <p:nvSpPr>
            <p:cNvPr id="1944058859" name=""/>
            <p:cNvSpPr/>
            <p:nvPr/>
          </p:nvSpPr>
          <p:spPr bwMode="auto">
            <a:xfrm rot="0" flipH="0" flipV="0">
              <a:off x="0" y="0"/>
              <a:ext cx="3252106" cy="5197928"/>
            </a:xfrm>
            <a:prstGeom prst="flowChartAlternateProcess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  <p:pic>
          <p:nvPicPr>
            <p:cNvPr id="324422878" name=""/>
            <p:cNvPicPr>
              <a:picLocks noChangeAspect="1"/>
            </p:cNvPicPr>
            <p:nvPr/>
          </p:nvPicPr>
          <p:blipFill rotWithShape="1">
            <a:blip r:embed="rId5"/>
            <a:stretch/>
          </p:blipFill>
          <p:spPr bwMode="auto">
            <a:xfrm flipH="1" flipV="0">
              <a:off x="1218210" y="148702"/>
              <a:ext cx="800081" cy="817403"/>
            </a:xfrm>
            <a:prstGeom prst="rect">
              <a:avLst/>
            </a:prstGeom>
          </p:spPr>
        </p:pic>
        <p:sp>
          <p:nvSpPr>
            <p:cNvPr id="973686314" name=""/>
            <p:cNvSpPr txBox="1"/>
            <p:nvPr/>
          </p:nvSpPr>
          <p:spPr bwMode="auto">
            <a:xfrm rot="0" flipH="0" flipV="0">
              <a:off x="337680" y="1106723"/>
              <a:ext cx="2647053" cy="48803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sz="2600" b="1">
                  <a:solidFill>
                    <a:schemeClr val="tx1"/>
                  </a:solidFill>
                  <a:latin typeface="3270 Nerd Font Mono"/>
                  <a:ea typeface="3270 Nerd Font Mono"/>
                  <a:cs typeface="3270 Nerd Font Mono"/>
                </a:rPr>
                <a:t>Reflected XSS</a:t>
              </a:r>
              <a:endParaRPr sz="2600" b="1">
                <a:solidFill>
                  <a:schemeClr val="tx1"/>
                </a:solidFill>
                <a:latin typeface="3270 Nerd Font Mono"/>
                <a:cs typeface="3270 Nerd Font Mono"/>
              </a:endParaRPr>
            </a:p>
          </p:txBody>
        </p:sp>
        <p:sp>
          <p:nvSpPr>
            <p:cNvPr id="1447022080" name=""/>
            <p:cNvSpPr txBox="1"/>
            <p:nvPr/>
          </p:nvSpPr>
          <p:spPr bwMode="auto">
            <a:xfrm rot="0" flipH="0" flipV="0">
              <a:off x="279965" y="1871443"/>
              <a:ext cx="2689893" cy="2286360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sz="2400" b="1">
                  <a:solidFill>
                    <a:schemeClr val="tx1"/>
                  </a:solidFill>
                  <a:latin typeface="3270 Nerd Font Mono"/>
                  <a:ea typeface="3270 Nerd Font Mono"/>
                  <a:cs typeface="3270 Nerd Font Mono"/>
                </a:rPr>
                <a:t>XSS Tersimpan </a:t>
              </a:r>
              <a:r>
                <a:rPr sz="2400" b="1">
                  <a:solidFill>
                    <a:schemeClr val="tx1"/>
                  </a:solidFill>
                  <a:latin typeface="3270 Nerd Font Mono"/>
                  <a:ea typeface="3270 Nerd Font Mono"/>
                  <a:cs typeface="3270 Nerd Font Mono"/>
                </a:rPr>
                <a:t>Pada Url Website Dan Akan Dijalankan  Ketika Url  Tersebut Dimuat</a:t>
              </a:r>
              <a:endParaRPr sz="2400" b="1">
                <a:solidFill>
                  <a:schemeClr val="tx1"/>
                </a:solidFill>
                <a:latin typeface="3270 Nerd Font Mono"/>
                <a:cs typeface="3270 Nerd Font Mono"/>
              </a:endParaRPr>
            </a:p>
          </p:txBody>
        </p:sp>
      </p:grpSp>
      <p:grpSp>
        <p:nvGrpSpPr>
          <p:cNvPr id="1292910327" name=""/>
          <p:cNvGrpSpPr/>
          <p:nvPr/>
        </p:nvGrpSpPr>
        <p:grpSpPr bwMode="auto">
          <a:xfrm>
            <a:off x="8180797" y="1224641"/>
            <a:ext cx="3252105" cy="5197927"/>
            <a:chOff x="0" y="0"/>
            <a:chExt cx="3252105" cy="5197927"/>
          </a:xfrm>
        </p:grpSpPr>
        <p:sp>
          <p:nvSpPr>
            <p:cNvPr id="63845239" name=""/>
            <p:cNvSpPr/>
            <p:nvPr/>
          </p:nvSpPr>
          <p:spPr bwMode="auto">
            <a:xfrm rot="0" flipH="0" flipV="0">
              <a:off x="0" y="0"/>
              <a:ext cx="3252106" cy="5197928"/>
            </a:xfrm>
            <a:prstGeom prst="flowChartAlternateProcess">
              <a:avLst/>
            </a:prstGeom>
            <a:solidFill>
              <a:srgbClr val="A62D2D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  <p:pic>
          <p:nvPicPr>
            <p:cNvPr id="405799876" name=""/>
            <p:cNvPicPr>
              <a:picLocks noChangeAspect="1"/>
            </p:cNvPicPr>
            <p:nvPr/>
          </p:nvPicPr>
          <p:blipFill rotWithShape="1">
            <a:blip r:embed="rId6"/>
            <a:stretch/>
          </p:blipFill>
          <p:spPr bwMode="auto">
            <a:xfrm flipH="1" flipV="0">
              <a:off x="1174975" y="148702"/>
              <a:ext cx="902153" cy="902153"/>
            </a:xfrm>
            <a:prstGeom prst="rect">
              <a:avLst/>
            </a:prstGeom>
          </p:spPr>
        </p:pic>
        <p:sp>
          <p:nvSpPr>
            <p:cNvPr id="284839609" name=""/>
            <p:cNvSpPr txBox="1"/>
            <p:nvPr/>
          </p:nvSpPr>
          <p:spPr bwMode="auto">
            <a:xfrm rot="0" flipH="0" flipV="0">
              <a:off x="302886" y="1106723"/>
              <a:ext cx="2651013" cy="48803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sz="2600" b="1">
                  <a:solidFill>
                    <a:schemeClr val="bg1"/>
                  </a:solidFill>
                  <a:latin typeface="3270 Nerd Font Mono"/>
                  <a:ea typeface="3270 Nerd Font Mono"/>
                  <a:cs typeface="3270 Nerd Font Mono"/>
                </a:rPr>
                <a:t>DOM Based XSS</a:t>
              </a:r>
              <a:endParaRPr sz="2600" b="1">
                <a:solidFill>
                  <a:schemeClr val="bg1"/>
                </a:solidFill>
                <a:latin typeface="3270 Nerd Font Mono"/>
                <a:cs typeface="3270 Nerd Font Mono"/>
              </a:endParaRPr>
            </a:p>
          </p:txBody>
        </p:sp>
        <p:sp>
          <p:nvSpPr>
            <p:cNvPr id="1305344708" name=""/>
            <p:cNvSpPr txBox="1"/>
            <p:nvPr/>
          </p:nvSpPr>
          <p:spPr bwMode="auto">
            <a:xfrm rot="0" flipH="0" flipV="0">
              <a:off x="287766" y="1871443"/>
              <a:ext cx="2698533" cy="2469238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sz="2600" b="1">
                  <a:solidFill>
                    <a:schemeClr val="bg1"/>
                  </a:solidFill>
                  <a:latin typeface="3270 Nerd Font Mono"/>
                  <a:ea typeface="3270 Nerd Font Mono"/>
                  <a:cs typeface="3270 Nerd Font Mono"/>
                </a:rPr>
                <a:t>XSS Tersimpan Pada Client Side Browser Sehingga Sulit Terdeteksi Oleh Server </a:t>
              </a:r>
              <a:endParaRPr sz="2600" b="1">
                <a:solidFill>
                  <a:schemeClr val="bg1"/>
                </a:solidFill>
                <a:latin typeface="3270 Nerd Font Mono"/>
                <a:cs typeface="3270 Nerd Font Mono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665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506658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506658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71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98719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98719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910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929103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929103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5506658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5506658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0665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xit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598719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598719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871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2" presetClass="exit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12929103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929103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2910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1717900" name="Rectangle 1407440435"/>
          <p:cNvSpPr/>
          <p:nvPr/>
        </p:nvSpPr>
        <p:spPr bwMode="auto">
          <a:xfrm rot="0" flipH="0" flipV="0">
            <a:off x="0" y="9142"/>
            <a:ext cx="12237836" cy="6846093"/>
          </a:xfrm>
          <a:prstGeom prst="rect">
            <a:avLst/>
          </a:prstGeom>
          <a:solidFill>
            <a:srgbClr val="000000">
              <a:alpha val="49999"/>
            </a:srgbClr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latin typeface="3270 Nerd Font Mono"/>
              <a:cs typeface="3270 Nerd Font Mono"/>
            </a:endParaRPr>
          </a:p>
        </p:txBody>
      </p:sp>
      <p:grpSp>
        <p:nvGrpSpPr>
          <p:cNvPr id="1930189812" name=""/>
          <p:cNvGrpSpPr/>
          <p:nvPr/>
        </p:nvGrpSpPr>
        <p:grpSpPr bwMode="auto">
          <a:xfrm>
            <a:off x="-1003545" y="6111"/>
            <a:ext cx="13160467" cy="1374628"/>
            <a:chOff x="0" y="0"/>
            <a:chExt cx="13160467" cy="1374628"/>
          </a:xfrm>
        </p:grpSpPr>
        <p:sp>
          <p:nvSpPr>
            <p:cNvPr id="1969287316" name=""/>
            <p:cNvSpPr/>
            <p:nvPr/>
          </p:nvSpPr>
          <p:spPr bwMode="auto">
            <a:xfrm rot="0" flipH="0" flipV="0">
              <a:off x="979065" y="3028"/>
              <a:ext cx="12181401" cy="1371597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  <p:sp>
          <p:nvSpPr>
            <p:cNvPr id="1129370503" name=""/>
            <p:cNvSpPr/>
            <p:nvPr/>
          </p:nvSpPr>
          <p:spPr bwMode="auto">
            <a:xfrm rot="0" flipH="1" flipV="1">
              <a:off x="0" y="0"/>
              <a:ext cx="979065" cy="1374628"/>
            </a:xfrm>
            <a:prstGeom prst="chevron">
              <a:avLst>
                <a:gd name="adj" fmla="val 50000"/>
              </a:avLst>
            </a:prstGeom>
            <a:noFill/>
            <a:ln w="28575" cap="flat" cmpd="sng" algn="ctr">
              <a:solidFill>
                <a:srgbClr val="FF0000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</p:grpSp>
      <p:grpSp>
        <p:nvGrpSpPr>
          <p:cNvPr id="930404359" name=""/>
          <p:cNvGrpSpPr/>
          <p:nvPr/>
        </p:nvGrpSpPr>
        <p:grpSpPr bwMode="auto">
          <a:xfrm>
            <a:off x="9675144" y="1368567"/>
            <a:ext cx="13160466" cy="1383771"/>
            <a:chOff x="0" y="0"/>
            <a:chExt cx="13160466" cy="1383771"/>
          </a:xfrm>
        </p:grpSpPr>
        <p:sp>
          <p:nvSpPr>
            <p:cNvPr id="1811671655" name=""/>
            <p:cNvSpPr/>
            <p:nvPr/>
          </p:nvSpPr>
          <p:spPr bwMode="auto">
            <a:xfrm rot="0" flipH="0" flipV="0">
              <a:off x="0" y="12170"/>
              <a:ext cx="12181401" cy="1371597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  <p:sp>
          <p:nvSpPr>
            <p:cNvPr id="1610744843" name=""/>
            <p:cNvSpPr/>
            <p:nvPr/>
          </p:nvSpPr>
          <p:spPr bwMode="auto">
            <a:xfrm rot="0" flipH="0" flipV="1">
              <a:off x="12181401" y="0"/>
              <a:ext cx="979065" cy="1374628"/>
            </a:xfrm>
            <a:prstGeom prst="chevron">
              <a:avLst>
                <a:gd name="adj" fmla="val 50000"/>
              </a:avLst>
            </a:prstGeom>
            <a:noFill/>
            <a:ln w="28575" cap="flat" cmpd="sng" algn="ctr">
              <a:solidFill>
                <a:schemeClr val="accent4">
                  <a:lumMod val="60000"/>
                  <a:lumOff val="40000"/>
                </a:schemeClr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</p:grpSp>
      <p:grpSp>
        <p:nvGrpSpPr>
          <p:cNvPr id="684320409" name=""/>
          <p:cNvGrpSpPr/>
          <p:nvPr/>
        </p:nvGrpSpPr>
        <p:grpSpPr bwMode="auto">
          <a:xfrm>
            <a:off x="-11032258" y="2743200"/>
            <a:ext cx="13187930" cy="1374628"/>
            <a:chOff x="0" y="0"/>
            <a:chExt cx="13187930" cy="1374628"/>
          </a:xfrm>
        </p:grpSpPr>
        <p:sp>
          <p:nvSpPr>
            <p:cNvPr id="1878743295" name=""/>
            <p:cNvSpPr/>
            <p:nvPr/>
          </p:nvSpPr>
          <p:spPr bwMode="auto">
            <a:xfrm rot="0" flipH="0" flipV="0">
              <a:off x="1006527" y="0"/>
              <a:ext cx="12181401" cy="1371597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  <p:sp>
          <p:nvSpPr>
            <p:cNvPr id="2071537502" name=""/>
            <p:cNvSpPr/>
            <p:nvPr/>
          </p:nvSpPr>
          <p:spPr bwMode="auto">
            <a:xfrm rot="0" flipH="1" flipV="0">
              <a:off x="0" y="0"/>
              <a:ext cx="979065" cy="1374628"/>
            </a:xfrm>
            <a:prstGeom prst="chevron">
              <a:avLst>
                <a:gd name="adj" fmla="val 50000"/>
              </a:avLst>
            </a:prstGeom>
            <a:noFill/>
            <a:ln w="28575" cap="flat" cmpd="sng" algn="ctr">
              <a:solidFill>
                <a:srgbClr val="92D050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</p:grpSp>
      <p:grpSp>
        <p:nvGrpSpPr>
          <p:cNvPr id="211360617" name=""/>
          <p:cNvGrpSpPr/>
          <p:nvPr/>
        </p:nvGrpSpPr>
        <p:grpSpPr bwMode="auto">
          <a:xfrm>
            <a:off x="9675144" y="4109005"/>
            <a:ext cx="13160466" cy="1377390"/>
            <a:chOff x="0" y="0"/>
            <a:chExt cx="13160466" cy="1377390"/>
          </a:xfrm>
        </p:grpSpPr>
        <p:sp>
          <p:nvSpPr>
            <p:cNvPr id="597817375" name=""/>
            <p:cNvSpPr/>
            <p:nvPr/>
          </p:nvSpPr>
          <p:spPr bwMode="auto">
            <a:xfrm rot="0" flipH="0" flipV="0">
              <a:off x="0" y="5790"/>
              <a:ext cx="12181401" cy="1371597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  <p:sp>
          <p:nvSpPr>
            <p:cNvPr id="764691916" name=""/>
            <p:cNvSpPr/>
            <p:nvPr/>
          </p:nvSpPr>
          <p:spPr bwMode="auto">
            <a:xfrm rot="0" flipH="0" flipV="1">
              <a:off x="12181401" y="0"/>
              <a:ext cx="979065" cy="1374628"/>
            </a:xfrm>
            <a:prstGeom prst="chevron">
              <a:avLst>
                <a:gd name="adj" fmla="val 50000"/>
              </a:avLst>
            </a:prstGeom>
            <a:noFill/>
            <a:ln w="28575" cap="flat" cmpd="sng" algn="ctr">
              <a:solidFill>
                <a:srgbClr val="00B0F0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</p:grpSp>
      <p:grpSp>
        <p:nvGrpSpPr>
          <p:cNvPr id="1318346370" name=""/>
          <p:cNvGrpSpPr/>
          <p:nvPr/>
        </p:nvGrpSpPr>
        <p:grpSpPr bwMode="auto">
          <a:xfrm>
            <a:off x="-11004795" y="5480605"/>
            <a:ext cx="13160466" cy="1374628"/>
            <a:chOff x="0" y="0"/>
            <a:chExt cx="13160466" cy="1374628"/>
          </a:xfrm>
        </p:grpSpPr>
        <p:sp>
          <p:nvSpPr>
            <p:cNvPr id="310676178" name=""/>
            <p:cNvSpPr/>
            <p:nvPr/>
          </p:nvSpPr>
          <p:spPr bwMode="auto">
            <a:xfrm rot="0" flipH="0" flipV="0">
              <a:off x="979065" y="3028"/>
              <a:ext cx="12181401" cy="1371597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  <p:sp>
          <p:nvSpPr>
            <p:cNvPr id="737930149" name=""/>
            <p:cNvSpPr/>
            <p:nvPr/>
          </p:nvSpPr>
          <p:spPr bwMode="auto">
            <a:xfrm rot="0" flipH="1" flipV="0">
              <a:off x="0" y="0"/>
              <a:ext cx="979065" cy="1374628"/>
            </a:xfrm>
            <a:prstGeom prst="chevron">
              <a:avLst>
                <a:gd name="adj" fmla="val 50000"/>
              </a:avLst>
            </a:prstGeom>
            <a:noFill/>
            <a:ln w="28575" cap="flat" cmpd="sng" algn="ctr">
              <a:solidFill>
                <a:srgbClr val="4750FF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</p:grpSp>
      <p:sp>
        <p:nvSpPr>
          <p:cNvPr id="659074952" name=""/>
          <p:cNvSpPr txBox="1"/>
          <p:nvPr/>
        </p:nvSpPr>
        <p:spPr bwMode="auto">
          <a:xfrm rot="0" flipH="0" flipV="0">
            <a:off x="2217285" y="281765"/>
            <a:ext cx="7774340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3600" b="1">
                <a:solidFill>
                  <a:srgbClr val="FF0000"/>
                </a:solidFill>
                <a:latin typeface="3270 Nerd Font Mono"/>
                <a:ea typeface="3270 Nerd Font Mono"/>
                <a:cs typeface="3270 Nerd Font Mono"/>
              </a:rPr>
              <a:t>Cross-Site Scripting (XSS)</a:t>
            </a:r>
            <a:endParaRPr sz="3600" b="1">
              <a:solidFill>
                <a:srgbClr val="FF0000"/>
              </a:solidFill>
              <a:latin typeface="3270 Nerd Font Mono"/>
              <a:cs typeface="3270 Nerd Font Mono"/>
            </a:endParaRPr>
          </a:p>
        </p:txBody>
      </p:sp>
      <p:sp>
        <p:nvSpPr>
          <p:cNvPr id="499549557" name=""/>
          <p:cNvSpPr txBox="1"/>
          <p:nvPr/>
        </p:nvSpPr>
        <p:spPr bwMode="auto">
          <a:xfrm rot="0" flipH="0" flipV="0">
            <a:off x="496190" y="1320626"/>
            <a:ext cx="5184883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just">
              <a:defRPr/>
            </a:pPr>
            <a:r>
              <a:rPr sz="2800" b="1">
                <a:solidFill>
                  <a:schemeClr val="bg1"/>
                </a:solidFill>
                <a:latin typeface="3270 Nerd Font Mono"/>
                <a:ea typeface="3270 Nerd Font Mono"/>
                <a:cs typeface="3270 Nerd Font Mono"/>
              </a:rPr>
              <a:t>Contoh Kasus Serangan XSS</a:t>
            </a:r>
            <a:endParaRPr sz="2800" b="1">
              <a:solidFill>
                <a:schemeClr val="bg1"/>
              </a:solidFill>
              <a:latin typeface="3270 Nerd Font Mono"/>
              <a:cs typeface="3270 Nerd Font Mono"/>
            </a:endParaRPr>
          </a:p>
        </p:txBody>
      </p:sp>
      <p:sp>
        <p:nvSpPr>
          <p:cNvPr id="788752709" name=""/>
          <p:cNvSpPr txBox="1"/>
          <p:nvPr/>
        </p:nvSpPr>
        <p:spPr bwMode="auto">
          <a:xfrm rot="0" flipH="0" flipV="0">
            <a:off x="557003" y="1991546"/>
            <a:ext cx="7999888" cy="2072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just">
              <a:defRPr/>
            </a:pPr>
            <a:r>
              <a:rPr sz="2600" b="1">
                <a:solidFill>
                  <a:schemeClr val="bg1"/>
                </a:solidFill>
                <a:latin typeface="3270 Nerd Font Mono"/>
                <a:ea typeface="3270 Nerd Font Mono"/>
                <a:cs typeface="3270 Nerd Font Mono"/>
              </a:rPr>
              <a:t>Pada Tahun 2019, Seorang Penelity Cybersecurity Bernama Gel Weizman Menemukan Kerentanan XSS Pada Whatsapp Web Yang Mampu Menyebabkan Serangan XSS Terus Menurus Melalui Open Redirect.</a:t>
            </a:r>
            <a:endParaRPr sz="2600" b="1">
              <a:solidFill>
                <a:schemeClr val="bg1"/>
              </a:solidFill>
              <a:latin typeface="3270 Nerd Font Mono"/>
              <a:cs typeface="3270 Nerd Font Mono"/>
            </a:endParaRPr>
          </a:p>
        </p:txBody>
      </p:sp>
      <p:sp>
        <p:nvSpPr>
          <p:cNvPr id="1206720393" name=""/>
          <p:cNvSpPr txBox="1"/>
          <p:nvPr/>
        </p:nvSpPr>
        <p:spPr bwMode="auto">
          <a:xfrm rot="0" flipH="0" flipV="0">
            <a:off x="557003" y="4216946"/>
            <a:ext cx="7999200" cy="2072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just">
              <a:defRPr/>
            </a:pPr>
            <a:r>
              <a:rPr sz="2600" b="1">
                <a:solidFill>
                  <a:schemeClr val="bg1"/>
                </a:solidFill>
                <a:latin typeface="3270 Nerd Font Mono"/>
                <a:ea typeface="3270 Nerd Font Mono"/>
                <a:cs typeface="3270 Nerd Font Mono"/>
              </a:rPr>
              <a:t>Kerentanan Ini Disebabkan Oleh Konfigurasi File Content Security Policy (CSP)</a:t>
            </a:r>
            <a:r>
              <a:rPr sz="2600" b="1">
                <a:solidFill>
                  <a:schemeClr val="bg1"/>
                </a:solidFill>
                <a:latin typeface="3270 Nerd Font Mono"/>
                <a:cs typeface="3270 Nerd Font Mono"/>
              </a:rPr>
              <a:t> Yang Tidak Benar</a:t>
            </a:r>
            <a:r>
              <a:rPr sz="2600" b="1">
                <a:solidFill>
                  <a:schemeClr val="bg1"/>
                </a:solidFill>
                <a:latin typeface="3270 Nerd Font Mono"/>
                <a:cs typeface="3270 Nerd Font Mono"/>
              </a:rPr>
              <a:t> Yang Memungkinkan Penyerang Menyisipkan Malicious Code Pada Server Whatsapp</a:t>
            </a:r>
            <a:endParaRPr sz="2600" b="1">
              <a:solidFill>
                <a:schemeClr val="bg1"/>
              </a:solidFill>
              <a:latin typeface="3270 Nerd Font Mono"/>
              <a:cs typeface="3270 Nerd Font Mono"/>
            </a:endParaRPr>
          </a:p>
        </p:txBody>
      </p:sp>
      <p:pic>
        <p:nvPicPr>
          <p:cNvPr id="982694700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9048749" y="2449479"/>
            <a:ext cx="2474825" cy="24748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549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9" dur="500"/>
                                        <p:tgtEl>
                                          <p:spTgt spid="499549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752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6" dur="500"/>
                                        <p:tgtEl>
                                          <p:spTgt spid="788752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6720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3" dur="500"/>
                                        <p:tgtEl>
                                          <p:spTgt spid="1206720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694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0" dur="500"/>
                                        <p:tgtEl>
                                          <p:spTgt spid="982694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xit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vertical)">
                                      <p:cBhvr>
                                        <p:cTn id="6" dur="500"/>
                                        <p:tgtEl>
                                          <p:spTgt spid="4995495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9549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4" presetClass="exit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vertical)">
                                      <p:cBhvr>
                                        <p:cTn id="6" dur="500"/>
                                        <p:tgtEl>
                                          <p:spTgt spid="7887527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8752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4" presetClass="exit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vertical)">
                                      <p:cBhvr>
                                        <p:cTn id="6" dur="500"/>
                                        <p:tgtEl>
                                          <p:spTgt spid="12067203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6720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4" presetClass="exit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vertical)">
                                      <p:cBhvr>
                                        <p:cTn id="6" dur="500"/>
                                        <p:tgtEl>
                                          <p:spTgt spid="9826947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2694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4530220" name="Rectangle 1407440435"/>
          <p:cNvSpPr/>
          <p:nvPr/>
        </p:nvSpPr>
        <p:spPr bwMode="auto">
          <a:xfrm rot="0" flipH="0" flipV="0">
            <a:off x="0" y="9142"/>
            <a:ext cx="12221075" cy="6846093"/>
          </a:xfrm>
          <a:prstGeom prst="rect">
            <a:avLst/>
          </a:prstGeom>
          <a:solidFill>
            <a:srgbClr val="000000">
              <a:alpha val="49999"/>
            </a:srgbClr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latin typeface="3270 Nerd Font Mono"/>
              <a:cs typeface="3270 Nerd Font Mono"/>
            </a:endParaRPr>
          </a:p>
        </p:txBody>
      </p:sp>
      <p:grpSp>
        <p:nvGrpSpPr>
          <p:cNvPr id="475270656" name=""/>
          <p:cNvGrpSpPr/>
          <p:nvPr/>
        </p:nvGrpSpPr>
        <p:grpSpPr bwMode="auto">
          <a:xfrm>
            <a:off x="-1003545" y="6111"/>
            <a:ext cx="13160467" cy="1374628"/>
            <a:chOff x="0" y="0"/>
            <a:chExt cx="13160467" cy="1374628"/>
          </a:xfrm>
        </p:grpSpPr>
        <p:sp>
          <p:nvSpPr>
            <p:cNvPr id="381392727" name=""/>
            <p:cNvSpPr/>
            <p:nvPr/>
          </p:nvSpPr>
          <p:spPr bwMode="auto">
            <a:xfrm rot="0" flipH="0" flipV="0">
              <a:off x="979065" y="3028"/>
              <a:ext cx="12181401" cy="1371597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  <p:sp>
          <p:nvSpPr>
            <p:cNvPr id="1951669710" name=""/>
            <p:cNvSpPr/>
            <p:nvPr/>
          </p:nvSpPr>
          <p:spPr bwMode="auto">
            <a:xfrm rot="0" flipH="1" flipV="1">
              <a:off x="0" y="0"/>
              <a:ext cx="979065" cy="1374628"/>
            </a:xfrm>
            <a:prstGeom prst="chevron">
              <a:avLst>
                <a:gd name="adj" fmla="val 50000"/>
              </a:avLst>
            </a:prstGeom>
            <a:noFill/>
            <a:ln w="28575" cap="flat" cmpd="sng" algn="ctr">
              <a:solidFill>
                <a:srgbClr val="FF0000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</p:grpSp>
      <p:grpSp>
        <p:nvGrpSpPr>
          <p:cNvPr id="224045268" name=""/>
          <p:cNvGrpSpPr/>
          <p:nvPr/>
        </p:nvGrpSpPr>
        <p:grpSpPr bwMode="auto">
          <a:xfrm>
            <a:off x="9675144" y="1368567"/>
            <a:ext cx="13160466" cy="1383771"/>
            <a:chOff x="0" y="0"/>
            <a:chExt cx="13160466" cy="1383771"/>
          </a:xfrm>
        </p:grpSpPr>
        <p:sp>
          <p:nvSpPr>
            <p:cNvPr id="564766430" name=""/>
            <p:cNvSpPr/>
            <p:nvPr/>
          </p:nvSpPr>
          <p:spPr bwMode="auto">
            <a:xfrm rot="0" flipH="0" flipV="0">
              <a:off x="0" y="12170"/>
              <a:ext cx="12181401" cy="1371597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  <p:sp>
          <p:nvSpPr>
            <p:cNvPr id="502890897" name=""/>
            <p:cNvSpPr/>
            <p:nvPr/>
          </p:nvSpPr>
          <p:spPr bwMode="auto">
            <a:xfrm rot="0" flipH="0" flipV="1">
              <a:off x="12181401" y="0"/>
              <a:ext cx="979065" cy="1374628"/>
            </a:xfrm>
            <a:prstGeom prst="chevron">
              <a:avLst>
                <a:gd name="adj" fmla="val 50000"/>
              </a:avLst>
            </a:prstGeom>
            <a:noFill/>
            <a:ln w="28575" cap="flat" cmpd="sng" algn="ctr">
              <a:solidFill>
                <a:schemeClr val="accent4">
                  <a:lumMod val="60000"/>
                  <a:lumOff val="40000"/>
                </a:schemeClr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</p:grpSp>
      <p:grpSp>
        <p:nvGrpSpPr>
          <p:cNvPr id="1103280927" name=""/>
          <p:cNvGrpSpPr/>
          <p:nvPr/>
        </p:nvGrpSpPr>
        <p:grpSpPr bwMode="auto">
          <a:xfrm>
            <a:off x="-11032258" y="2743200"/>
            <a:ext cx="13187930" cy="1374628"/>
            <a:chOff x="0" y="0"/>
            <a:chExt cx="13187930" cy="1374628"/>
          </a:xfrm>
        </p:grpSpPr>
        <p:sp>
          <p:nvSpPr>
            <p:cNvPr id="1213339875" name=""/>
            <p:cNvSpPr/>
            <p:nvPr/>
          </p:nvSpPr>
          <p:spPr bwMode="auto">
            <a:xfrm rot="0" flipH="0" flipV="0">
              <a:off x="1006527" y="0"/>
              <a:ext cx="12181401" cy="1371597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  <p:sp>
          <p:nvSpPr>
            <p:cNvPr id="292072360" name=""/>
            <p:cNvSpPr/>
            <p:nvPr/>
          </p:nvSpPr>
          <p:spPr bwMode="auto">
            <a:xfrm rot="0" flipH="1" flipV="0">
              <a:off x="0" y="0"/>
              <a:ext cx="979065" cy="1374628"/>
            </a:xfrm>
            <a:prstGeom prst="chevron">
              <a:avLst>
                <a:gd name="adj" fmla="val 50000"/>
              </a:avLst>
            </a:prstGeom>
            <a:noFill/>
            <a:ln w="28575" cap="flat" cmpd="sng" algn="ctr">
              <a:solidFill>
                <a:srgbClr val="92D050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</p:grpSp>
      <p:grpSp>
        <p:nvGrpSpPr>
          <p:cNvPr id="722401799" name=""/>
          <p:cNvGrpSpPr/>
          <p:nvPr/>
        </p:nvGrpSpPr>
        <p:grpSpPr bwMode="auto">
          <a:xfrm>
            <a:off x="9675144" y="4109005"/>
            <a:ext cx="13160466" cy="1377390"/>
            <a:chOff x="0" y="0"/>
            <a:chExt cx="13160466" cy="1377390"/>
          </a:xfrm>
        </p:grpSpPr>
        <p:sp>
          <p:nvSpPr>
            <p:cNvPr id="1399707344" name=""/>
            <p:cNvSpPr/>
            <p:nvPr/>
          </p:nvSpPr>
          <p:spPr bwMode="auto">
            <a:xfrm rot="0" flipH="0" flipV="0">
              <a:off x="0" y="5790"/>
              <a:ext cx="12181401" cy="1371597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  <p:sp>
          <p:nvSpPr>
            <p:cNvPr id="870036917" name=""/>
            <p:cNvSpPr/>
            <p:nvPr/>
          </p:nvSpPr>
          <p:spPr bwMode="auto">
            <a:xfrm rot="0" flipH="0" flipV="1">
              <a:off x="12181401" y="0"/>
              <a:ext cx="979065" cy="1374628"/>
            </a:xfrm>
            <a:prstGeom prst="chevron">
              <a:avLst>
                <a:gd name="adj" fmla="val 50000"/>
              </a:avLst>
            </a:prstGeom>
            <a:noFill/>
            <a:ln w="28575" cap="flat" cmpd="sng" algn="ctr">
              <a:solidFill>
                <a:srgbClr val="00B0F0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</p:grpSp>
      <p:grpSp>
        <p:nvGrpSpPr>
          <p:cNvPr id="1943175602" name=""/>
          <p:cNvGrpSpPr/>
          <p:nvPr/>
        </p:nvGrpSpPr>
        <p:grpSpPr bwMode="auto">
          <a:xfrm>
            <a:off x="-11004795" y="5480605"/>
            <a:ext cx="13160466" cy="1374628"/>
            <a:chOff x="0" y="0"/>
            <a:chExt cx="13160466" cy="1374628"/>
          </a:xfrm>
        </p:grpSpPr>
        <p:sp>
          <p:nvSpPr>
            <p:cNvPr id="1552438749" name=""/>
            <p:cNvSpPr/>
            <p:nvPr/>
          </p:nvSpPr>
          <p:spPr bwMode="auto">
            <a:xfrm rot="0" flipH="0" flipV="0">
              <a:off x="979065" y="3028"/>
              <a:ext cx="12181401" cy="1371597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  <p:sp>
          <p:nvSpPr>
            <p:cNvPr id="1899500419" name=""/>
            <p:cNvSpPr/>
            <p:nvPr/>
          </p:nvSpPr>
          <p:spPr bwMode="auto">
            <a:xfrm rot="0" flipH="1" flipV="0">
              <a:off x="0" y="0"/>
              <a:ext cx="979065" cy="1374628"/>
            </a:xfrm>
            <a:prstGeom prst="chevron">
              <a:avLst>
                <a:gd name="adj" fmla="val 50000"/>
              </a:avLst>
            </a:prstGeom>
            <a:noFill/>
            <a:ln w="28575" cap="flat" cmpd="sng" algn="ctr">
              <a:solidFill>
                <a:srgbClr val="4750FF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</p:grpSp>
      <p:sp>
        <p:nvSpPr>
          <p:cNvPr id="1595950365" name=""/>
          <p:cNvSpPr txBox="1"/>
          <p:nvPr/>
        </p:nvSpPr>
        <p:spPr bwMode="auto">
          <a:xfrm rot="0" flipH="0" flipV="0">
            <a:off x="2217285" y="281765"/>
            <a:ext cx="7774340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3600" b="1">
                <a:solidFill>
                  <a:srgbClr val="FF0000"/>
                </a:solidFill>
                <a:latin typeface="3270 Nerd Font Mono"/>
                <a:ea typeface="3270 Nerd Font Mono"/>
                <a:cs typeface="3270 Nerd Font Mono"/>
              </a:rPr>
              <a:t>Cross-Site Scripting (XSS)</a:t>
            </a:r>
            <a:endParaRPr sz="3600" b="1">
              <a:solidFill>
                <a:srgbClr val="FF0000"/>
              </a:solidFill>
              <a:latin typeface="3270 Nerd Font Mono"/>
              <a:cs typeface="3270 Nerd Font Mono"/>
            </a:endParaRPr>
          </a:p>
        </p:txBody>
      </p:sp>
      <p:sp>
        <p:nvSpPr>
          <p:cNvPr id="1886483530" name=""/>
          <p:cNvSpPr txBox="1"/>
          <p:nvPr/>
        </p:nvSpPr>
        <p:spPr bwMode="auto">
          <a:xfrm rot="0" flipH="0" flipV="0">
            <a:off x="496189" y="1229040"/>
            <a:ext cx="6449384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just">
              <a:defRPr/>
            </a:pPr>
            <a:r>
              <a:rPr sz="2800" b="1">
                <a:solidFill>
                  <a:schemeClr val="bg1"/>
                </a:solidFill>
                <a:latin typeface="3270 Nerd Font Mono"/>
                <a:ea typeface="3270 Nerd Font Mono"/>
                <a:cs typeface="3270 Nerd Font Mono"/>
              </a:rPr>
              <a:t>Cara Mengatasi Serangan XSS</a:t>
            </a:r>
            <a:r>
              <a:rPr sz="2800" b="1">
                <a:solidFill>
                  <a:schemeClr val="bg1"/>
                </a:solidFill>
                <a:latin typeface="3270 Nerd Font Mono"/>
                <a:cs typeface="3270 Nerd Font Mono"/>
              </a:rPr>
              <a:t> :</a:t>
            </a:r>
            <a:endParaRPr sz="2800" b="1">
              <a:solidFill>
                <a:schemeClr val="bg1"/>
              </a:solidFill>
              <a:latin typeface="3270 Nerd Font Mono"/>
              <a:cs typeface="3270 Nerd Font Mono"/>
            </a:endParaRPr>
          </a:p>
        </p:txBody>
      </p:sp>
      <p:grpSp>
        <p:nvGrpSpPr>
          <p:cNvPr id="997648481" name=""/>
          <p:cNvGrpSpPr/>
          <p:nvPr/>
        </p:nvGrpSpPr>
        <p:grpSpPr bwMode="auto">
          <a:xfrm>
            <a:off x="662792" y="1985911"/>
            <a:ext cx="10512527" cy="1280520"/>
            <a:chOff x="0" y="0"/>
            <a:chExt cx="10512527" cy="1280520"/>
          </a:xfrm>
        </p:grpSpPr>
        <p:sp>
          <p:nvSpPr>
            <p:cNvPr id="2081156265" name=""/>
            <p:cNvSpPr txBox="1"/>
            <p:nvPr/>
          </p:nvSpPr>
          <p:spPr bwMode="auto">
            <a:xfrm rot="0" flipH="0" flipV="0">
              <a:off x="1687410" y="0"/>
              <a:ext cx="8825116" cy="1280520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 algn="just">
                <a:defRPr/>
              </a:pPr>
              <a:r>
                <a:rPr sz="2600" b="1">
                  <a:solidFill>
                    <a:schemeClr val="bg1"/>
                  </a:solidFill>
                  <a:latin typeface="3270 Nerd Font Mono"/>
                  <a:ea typeface="3270 Nerd Font Mono"/>
                  <a:cs typeface="3270 Nerd Font Mono"/>
                </a:rPr>
                <a:t>Form Validation :</a:t>
              </a:r>
              <a:endParaRPr sz="2600" b="1">
                <a:solidFill>
                  <a:schemeClr val="bg1"/>
                </a:solidFill>
                <a:latin typeface="3270 Nerd Font Mono"/>
                <a:ea typeface="3270 Nerd Font Mono"/>
                <a:cs typeface="3270 Nerd Font Mono"/>
              </a:endParaRPr>
            </a:p>
            <a:p>
              <a:pPr algn="just">
                <a:defRPr/>
              </a:pPr>
              <a:r>
                <a:rPr sz="2600" b="1">
                  <a:solidFill>
                    <a:schemeClr val="bg1"/>
                  </a:solidFill>
                  <a:latin typeface="3270 Nerd Font Mono"/>
                  <a:ea typeface="3270 Nerd Font Mono"/>
                  <a:cs typeface="3270 Nerd Font Mono"/>
                </a:rPr>
                <a:t>Validasi Input Apakah Hanya Berisi Karakter Yang Ditentukan (Angka, Alphabet, dll)</a:t>
              </a:r>
              <a:endParaRPr sz="2600" b="1">
                <a:solidFill>
                  <a:schemeClr val="bg1"/>
                </a:solidFill>
                <a:latin typeface="3270 Nerd Font Mono"/>
                <a:cs typeface="3270 Nerd Font Mono"/>
              </a:endParaRPr>
            </a:p>
          </p:txBody>
        </p:sp>
        <p:pic>
          <p:nvPicPr>
            <p:cNvPr id="1422867372" name=""/>
            <p:cNvPicPr>
              <a:picLocks noChangeAspect="1"/>
            </p:cNvPicPr>
            <p:nvPr/>
          </p:nvPicPr>
          <p:blipFill rotWithShape="1">
            <a:blip r:embed="rId4"/>
            <a:stretch/>
          </p:blipFill>
          <p:spPr bwMode="auto">
            <a:xfrm flipH="0" flipV="0">
              <a:off x="0" y="21179"/>
              <a:ext cx="1238160" cy="1238160"/>
            </a:xfrm>
            <a:prstGeom prst="rect">
              <a:avLst/>
            </a:prstGeom>
          </p:spPr>
        </p:pic>
      </p:grpSp>
      <p:grpSp>
        <p:nvGrpSpPr>
          <p:cNvPr id="1138883120" name=""/>
          <p:cNvGrpSpPr/>
          <p:nvPr/>
        </p:nvGrpSpPr>
        <p:grpSpPr bwMode="auto">
          <a:xfrm>
            <a:off x="754378" y="3579517"/>
            <a:ext cx="10554647" cy="1280519"/>
            <a:chOff x="0" y="0"/>
            <a:chExt cx="10554647" cy="1280519"/>
          </a:xfrm>
        </p:grpSpPr>
        <p:sp>
          <p:nvSpPr>
            <p:cNvPr id="1964430303" name=""/>
            <p:cNvSpPr txBox="1"/>
            <p:nvPr/>
          </p:nvSpPr>
          <p:spPr bwMode="auto">
            <a:xfrm rot="0" flipH="0" flipV="0">
              <a:off x="1687410" y="0"/>
              <a:ext cx="8867236" cy="1280520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 algn="just">
                <a:defRPr/>
              </a:pPr>
              <a:r>
                <a:rPr sz="2600" b="1">
                  <a:solidFill>
                    <a:schemeClr val="bg1"/>
                  </a:solidFill>
                  <a:latin typeface="3270 Nerd Font Mono"/>
                  <a:ea typeface="3270 Nerd Font Mono"/>
                  <a:cs typeface="3270 Nerd Font Mono"/>
                </a:rPr>
                <a:t>Enkripsi Output :</a:t>
              </a:r>
              <a:endParaRPr sz="2600" b="1">
                <a:solidFill>
                  <a:schemeClr val="bg1"/>
                </a:solidFill>
                <a:latin typeface="3270 Nerd Font Mono"/>
                <a:ea typeface="3270 Nerd Font Mono"/>
                <a:cs typeface="3270 Nerd Font Mono"/>
              </a:endParaRPr>
            </a:p>
            <a:p>
              <a:pPr algn="just">
                <a:defRPr/>
              </a:pPr>
              <a:r>
                <a:rPr sz="2600" b="1">
                  <a:solidFill>
                    <a:schemeClr val="bg1"/>
                  </a:solidFill>
                  <a:latin typeface="3270 Nerd Font Mono"/>
                  <a:ea typeface="3270 Nerd Font Mono"/>
                  <a:cs typeface="3270 Nerd Font Mono"/>
                </a:rPr>
                <a:t>Perubahan Bentuk Output Data Sehingga Tidak Bisa Dibaca Tanpa Key Yang Sesuai</a:t>
              </a:r>
              <a:endParaRPr sz="2600" b="1">
                <a:solidFill>
                  <a:schemeClr val="bg1"/>
                </a:solidFill>
                <a:latin typeface="3270 Nerd Font Mono"/>
                <a:cs typeface="3270 Nerd Font Mono"/>
              </a:endParaRPr>
            </a:p>
          </p:txBody>
        </p:sp>
        <p:pic>
          <p:nvPicPr>
            <p:cNvPr id="651557917" name=""/>
            <p:cNvPicPr>
              <a:picLocks noChangeAspect="1"/>
            </p:cNvPicPr>
            <p:nvPr/>
          </p:nvPicPr>
          <p:blipFill rotWithShape="1">
            <a:blip r:embed="rId5"/>
            <a:stretch/>
          </p:blipFill>
          <p:spPr bwMode="auto">
            <a:xfrm flipH="0" flipV="0">
              <a:off x="0" y="118291"/>
              <a:ext cx="1096560" cy="1096560"/>
            </a:xfrm>
            <a:prstGeom prst="rect">
              <a:avLst/>
            </a:prstGeom>
          </p:spPr>
        </p:pic>
      </p:grpSp>
      <p:grpSp>
        <p:nvGrpSpPr>
          <p:cNvPr id="2145033684" name=""/>
          <p:cNvGrpSpPr/>
          <p:nvPr/>
        </p:nvGrpSpPr>
        <p:grpSpPr bwMode="auto">
          <a:xfrm>
            <a:off x="707516" y="5171770"/>
            <a:ext cx="10638590" cy="1281872"/>
            <a:chOff x="0" y="0"/>
            <a:chExt cx="10638590" cy="1281872"/>
          </a:xfrm>
        </p:grpSpPr>
        <p:sp>
          <p:nvSpPr>
            <p:cNvPr id="623405897" name=""/>
            <p:cNvSpPr txBox="1"/>
            <p:nvPr/>
          </p:nvSpPr>
          <p:spPr bwMode="auto">
            <a:xfrm rot="0" flipH="0" flipV="0">
              <a:off x="1734273" y="1352"/>
              <a:ext cx="8904316" cy="1280520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 algn="just">
                <a:defRPr/>
              </a:pPr>
              <a:r>
                <a:rPr sz="2600" b="1">
                  <a:solidFill>
                    <a:schemeClr val="bg1"/>
                  </a:solidFill>
                  <a:latin typeface="3270 Nerd Font Mono"/>
                  <a:cs typeface="3270 Nerd Font Mono"/>
                </a:rPr>
                <a:t>HTTP Cookie :</a:t>
              </a:r>
              <a:endParaRPr sz="2600" b="1">
                <a:solidFill>
                  <a:schemeClr val="bg1"/>
                </a:solidFill>
                <a:latin typeface="3270 Nerd Font Mono"/>
                <a:cs typeface="3270 Nerd Font Mono"/>
              </a:endParaRPr>
            </a:p>
            <a:p>
              <a:pPr algn="just">
                <a:defRPr/>
              </a:pPr>
              <a:r>
                <a:rPr sz="2600" b="1">
                  <a:solidFill>
                    <a:schemeClr val="bg1"/>
                  </a:solidFill>
                  <a:latin typeface="3270 Nerd Font Mono"/>
                  <a:cs typeface="3270 Nerd Font Mono"/>
                </a:rPr>
                <a:t>Pengunaan HTTP Cookie Untuk Mencegah Javascript Mengakses Sesi Token</a:t>
              </a:r>
              <a:endParaRPr sz="2600" b="1">
                <a:solidFill>
                  <a:schemeClr val="bg1"/>
                </a:solidFill>
                <a:latin typeface="3270 Nerd Font Mono"/>
                <a:cs typeface="3270 Nerd Font Mono"/>
              </a:endParaRPr>
            </a:p>
          </p:txBody>
        </p:sp>
        <p:pic>
          <p:nvPicPr>
            <p:cNvPr id="230800146" name=""/>
            <p:cNvPicPr>
              <a:picLocks noChangeAspect="1"/>
            </p:cNvPicPr>
            <p:nvPr/>
          </p:nvPicPr>
          <p:blipFill rotWithShape="1">
            <a:blip r:embed="rId6"/>
            <a:stretch/>
          </p:blipFill>
          <p:spPr bwMode="auto">
            <a:xfrm flipH="0" flipV="0">
              <a:off x="0" y="0"/>
              <a:ext cx="1190286" cy="1190286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6483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9" dur="500"/>
                                        <p:tgtEl>
                                          <p:spTgt spid="1886483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5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648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6" dur="500"/>
                                        <p:tgtEl>
                                          <p:spTgt spid="997648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5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883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3" dur="500"/>
                                        <p:tgtEl>
                                          <p:spTgt spid="1138883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5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5033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0" dur="500"/>
                                        <p:tgtEl>
                                          <p:spTgt spid="2145033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xit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vertical)">
                                      <p:cBhvr>
                                        <p:cTn id="6" dur="500"/>
                                        <p:tgtEl>
                                          <p:spTgt spid="18864835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86483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4" presetClass="exit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vertical)">
                                      <p:cBhvr>
                                        <p:cTn id="6" dur="500"/>
                                        <p:tgtEl>
                                          <p:spTgt spid="9976484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7648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4" presetClass="exit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vertical)">
                                      <p:cBhvr>
                                        <p:cTn id="6" dur="500"/>
                                        <p:tgtEl>
                                          <p:spTgt spid="11388831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8883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4" presetClass="exit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vertical)">
                                      <p:cBhvr>
                                        <p:cTn id="6" dur="500"/>
                                        <p:tgtEl>
                                          <p:spTgt spid="21450336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45033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8203112" name="Rectangle 1407440435"/>
          <p:cNvSpPr/>
          <p:nvPr/>
        </p:nvSpPr>
        <p:spPr bwMode="auto">
          <a:xfrm rot="0" flipH="0" flipV="0">
            <a:off x="0" y="9143"/>
            <a:ext cx="12129489" cy="6846093"/>
          </a:xfrm>
          <a:prstGeom prst="rect">
            <a:avLst/>
          </a:prstGeom>
          <a:solidFill>
            <a:srgbClr val="000000">
              <a:alpha val="49999"/>
            </a:srgbClr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latin typeface="3270 Nerd Font Mono"/>
              <a:cs typeface="3270 Nerd Font Mono"/>
            </a:endParaRPr>
          </a:p>
        </p:txBody>
      </p:sp>
      <p:grpSp>
        <p:nvGrpSpPr>
          <p:cNvPr id="1607899005" name=""/>
          <p:cNvGrpSpPr/>
          <p:nvPr/>
        </p:nvGrpSpPr>
        <p:grpSpPr bwMode="auto">
          <a:xfrm>
            <a:off x="-1003546" y="6112"/>
            <a:ext cx="13160468" cy="1374629"/>
            <a:chOff x="0" y="0"/>
            <a:chExt cx="13160468" cy="1374629"/>
          </a:xfrm>
        </p:grpSpPr>
        <p:sp>
          <p:nvSpPr>
            <p:cNvPr id="1298484964" name=""/>
            <p:cNvSpPr/>
            <p:nvPr/>
          </p:nvSpPr>
          <p:spPr bwMode="auto">
            <a:xfrm rot="0" flipH="0" flipV="0">
              <a:off x="979066" y="3029"/>
              <a:ext cx="12181401" cy="137159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  <p:sp>
          <p:nvSpPr>
            <p:cNvPr id="1777373834" name=""/>
            <p:cNvSpPr/>
            <p:nvPr/>
          </p:nvSpPr>
          <p:spPr bwMode="auto">
            <a:xfrm rot="0" flipH="1" flipV="1">
              <a:off x="0" y="0"/>
              <a:ext cx="979066" cy="1374629"/>
            </a:xfrm>
            <a:prstGeom prst="chevron">
              <a:avLst>
                <a:gd name="adj" fmla="val 50000"/>
              </a:avLst>
            </a:prstGeom>
            <a:noFill/>
            <a:ln w="28575" cap="flat" cmpd="sng" algn="ctr">
              <a:solidFill>
                <a:srgbClr val="FF0000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</p:grpSp>
      <p:grpSp>
        <p:nvGrpSpPr>
          <p:cNvPr id="1726682594" name=""/>
          <p:cNvGrpSpPr/>
          <p:nvPr/>
        </p:nvGrpSpPr>
        <p:grpSpPr bwMode="auto">
          <a:xfrm>
            <a:off x="9675144" y="1368568"/>
            <a:ext cx="13160467" cy="1383772"/>
            <a:chOff x="0" y="0"/>
            <a:chExt cx="13160467" cy="1383772"/>
          </a:xfrm>
        </p:grpSpPr>
        <p:sp>
          <p:nvSpPr>
            <p:cNvPr id="168927861" name=""/>
            <p:cNvSpPr/>
            <p:nvPr/>
          </p:nvSpPr>
          <p:spPr bwMode="auto">
            <a:xfrm rot="0" flipH="0" flipV="0">
              <a:off x="0" y="12171"/>
              <a:ext cx="12181401" cy="137159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  <p:sp>
          <p:nvSpPr>
            <p:cNvPr id="1418450612" name=""/>
            <p:cNvSpPr/>
            <p:nvPr/>
          </p:nvSpPr>
          <p:spPr bwMode="auto">
            <a:xfrm rot="0" flipH="0" flipV="1">
              <a:off x="12181401" y="0"/>
              <a:ext cx="979066" cy="1374629"/>
            </a:xfrm>
            <a:prstGeom prst="chevron">
              <a:avLst>
                <a:gd name="adj" fmla="val 50000"/>
              </a:avLst>
            </a:prstGeom>
            <a:noFill/>
            <a:ln w="28575" cap="flat" cmpd="sng" algn="ctr">
              <a:solidFill>
                <a:schemeClr val="accent4">
                  <a:lumMod val="60000"/>
                  <a:lumOff val="40000"/>
                </a:schemeClr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</p:grpSp>
      <p:grpSp>
        <p:nvGrpSpPr>
          <p:cNvPr id="524183848" name=""/>
          <p:cNvGrpSpPr/>
          <p:nvPr/>
        </p:nvGrpSpPr>
        <p:grpSpPr bwMode="auto">
          <a:xfrm>
            <a:off x="-11032259" y="2743200"/>
            <a:ext cx="13187931" cy="1374629"/>
            <a:chOff x="0" y="0"/>
            <a:chExt cx="13187931" cy="1374629"/>
          </a:xfrm>
        </p:grpSpPr>
        <p:sp>
          <p:nvSpPr>
            <p:cNvPr id="770901522" name=""/>
            <p:cNvSpPr/>
            <p:nvPr/>
          </p:nvSpPr>
          <p:spPr bwMode="auto">
            <a:xfrm rot="0" flipH="0" flipV="0">
              <a:off x="1006528" y="0"/>
              <a:ext cx="12181401" cy="137159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  <p:sp>
          <p:nvSpPr>
            <p:cNvPr id="542932169" name=""/>
            <p:cNvSpPr/>
            <p:nvPr/>
          </p:nvSpPr>
          <p:spPr bwMode="auto">
            <a:xfrm rot="0" flipH="1" flipV="0">
              <a:off x="0" y="0"/>
              <a:ext cx="979066" cy="1374629"/>
            </a:xfrm>
            <a:prstGeom prst="chevron">
              <a:avLst>
                <a:gd name="adj" fmla="val 50000"/>
              </a:avLst>
            </a:prstGeom>
            <a:noFill/>
            <a:ln w="28575" cap="flat" cmpd="sng" algn="ctr">
              <a:solidFill>
                <a:srgbClr val="92D050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</p:grpSp>
      <p:grpSp>
        <p:nvGrpSpPr>
          <p:cNvPr id="178296913" name=""/>
          <p:cNvGrpSpPr/>
          <p:nvPr/>
        </p:nvGrpSpPr>
        <p:grpSpPr bwMode="auto">
          <a:xfrm>
            <a:off x="9675144" y="4109006"/>
            <a:ext cx="13160467" cy="1377391"/>
            <a:chOff x="0" y="0"/>
            <a:chExt cx="13160467" cy="1377391"/>
          </a:xfrm>
        </p:grpSpPr>
        <p:sp>
          <p:nvSpPr>
            <p:cNvPr id="1141411884" name=""/>
            <p:cNvSpPr/>
            <p:nvPr/>
          </p:nvSpPr>
          <p:spPr bwMode="auto">
            <a:xfrm rot="0" flipH="0" flipV="0">
              <a:off x="0" y="5791"/>
              <a:ext cx="12181401" cy="137159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  <p:sp>
          <p:nvSpPr>
            <p:cNvPr id="845062941" name=""/>
            <p:cNvSpPr/>
            <p:nvPr/>
          </p:nvSpPr>
          <p:spPr bwMode="auto">
            <a:xfrm rot="0" flipH="0" flipV="1">
              <a:off x="12181401" y="0"/>
              <a:ext cx="979066" cy="1374629"/>
            </a:xfrm>
            <a:prstGeom prst="chevron">
              <a:avLst>
                <a:gd name="adj" fmla="val 50000"/>
              </a:avLst>
            </a:prstGeom>
            <a:noFill/>
            <a:ln w="28575" cap="flat" cmpd="sng" algn="ctr">
              <a:solidFill>
                <a:srgbClr val="00B0F0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</p:grpSp>
      <p:grpSp>
        <p:nvGrpSpPr>
          <p:cNvPr id="1018839019" name=""/>
          <p:cNvGrpSpPr/>
          <p:nvPr/>
        </p:nvGrpSpPr>
        <p:grpSpPr bwMode="auto">
          <a:xfrm>
            <a:off x="-11004795" y="5480606"/>
            <a:ext cx="13160467" cy="1374629"/>
            <a:chOff x="0" y="0"/>
            <a:chExt cx="13160467" cy="1374629"/>
          </a:xfrm>
        </p:grpSpPr>
        <p:sp>
          <p:nvSpPr>
            <p:cNvPr id="973042117" name=""/>
            <p:cNvSpPr/>
            <p:nvPr/>
          </p:nvSpPr>
          <p:spPr bwMode="auto">
            <a:xfrm rot="0" flipH="0" flipV="0">
              <a:off x="979066" y="3029"/>
              <a:ext cx="12181401" cy="137159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  <p:sp>
          <p:nvSpPr>
            <p:cNvPr id="2018591426" name=""/>
            <p:cNvSpPr/>
            <p:nvPr/>
          </p:nvSpPr>
          <p:spPr bwMode="auto">
            <a:xfrm rot="0" flipH="1" flipV="0">
              <a:off x="0" y="0"/>
              <a:ext cx="979066" cy="1374629"/>
            </a:xfrm>
            <a:prstGeom prst="chevron">
              <a:avLst>
                <a:gd name="adj" fmla="val 50000"/>
              </a:avLst>
            </a:prstGeom>
            <a:noFill/>
            <a:ln w="28575" cap="flat" cmpd="sng" algn="ctr">
              <a:solidFill>
                <a:srgbClr val="4750FF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</p:grpSp>
      <p:sp>
        <p:nvSpPr>
          <p:cNvPr id="402627347" name=""/>
          <p:cNvSpPr txBox="1"/>
          <p:nvPr/>
        </p:nvSpPr>
        <p:spPr bwMode="auto">
          <a:xfrm rot="0" flipH="0" flipV="0">
            <a:off x="2217286" y="281766"/>
            <a:ext cx="7774341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3600" b="1">
                <a:solidFill>
                  <a:srgbClr val="FF0000"/>
                </a:solidFill>
                <a:latin typeface="3270 Nerd Font Mono"/>
                <a:ea typeface="3270 Nerd Font Mono"/>
                <a:cs typeface="3270 Nerd Font Mono"/>
              </a:rPr>
              <a:t>Cross-Site Scripting (XSS)</a:t>
            </a:r>
            <a:endParaRPr sz="3600" b="1">
              <a:solidFill>
                <a:srgbClr val="FF0000"/>
              </a:solidFill>
              <a:latin typeface="3270 Nerd Font Mono"/>
              <a:cs typeface="3270 Nerd Font Mono"/>
            </a:endParaRPr>
          </a:p>
        </p:txBody>
      </p:sp>
      <p:sp>
        <p:nvSpPr>
          <p:cNvPr id="216034570" name=""/>
          <p:cNvSpPr txBox="1"/>
          <p:nvPr/>
        </p:nvSpPr>
        <p:spPr bwMode="auto">
          <a:xfrm rot="0" flipH="0" flipV="0">
            <a:off x="13350999" y="281766"/>
            <a:ext cx="7040145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3600" b="1">
                <a:solidFill>
                  <a:schemeClr val="accent4">
                    <a:lumMod val="60000"/>
                    <a:lumOff val="40000"/>
                  </a:schemeClr>
                </a:solidFill>
                <a:latin typeface="3270 Nerd Font Mono"/>
                <a:ea typeface="3270 Nerd Font Mono"/>
                <a:cs typeface="3270 Nerd Font Mono"/>
              </a:rPr>
              <a:t>Social Engineering</a:t>
            </a:r>
            <a:endParaRPr sz="3600" b="1">
              <a:solidFill>
                <a:schemeClr val="accent4">
                  <a:lumMod val="60000"/>
                  <a:lumOff val="40000"/>
                </a:schemeClr>
              </a:solidFill>
              <a:latin typeface="3270 Nerd Font Mono"/>
              <a:cs typeface="3270 Nerd Font Mono"/>
            </a:endParaRPr>
          </a:p>
        </p:txBody>
      </p:sp>
      <p:pic>
        <p:nvPicPr>
          <p:cNvPr id="1648908911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9671537" y="8776510"/>
            <a:ext cx="2199951" cy="219995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0" advClick="1" advTm="0"/>
    </mc:Choice>
    <mc:Fallback>
      <p:transition advClick="1" advTm="0"/>
    </mc:Fallback>
  </mc:AlternateContent>
  <p:timing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950025" name="Rectangle 1407440435"/>
          <p:cNvSpPr/>
          <p:nvPr/>
        </p:nvSpPr>
        <p:spPr bwMode="auto">
          <a:xfrm rot="0" flipH="0" flipV="0">
            <a:off x="0" y="9142"/>
            <a:ext cx="12129489" cy="6846093"/>
          </a:xfrm>
          <a:prstGeom prst="rect">
            <a:avLst/>
          </a:prstGeom>
          <a:solidFill>
            <a:srgbClr val="000000">
              <a:alpha val="49999"/>
            </a:srgbClr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latin typeface="3270 Nerd Font Mono"/>
              <a:cs typeface="3270 Nerd Font Mono"/>
            </a:endParaRPr>
          </a:p>
        </p:txBody>
      </p:sp>
      <p:grpSp>
        <p:nvGrpSpPr>
          <p:cNvPr id="703171839" name=""/>
          <p:cNvGrpSpPr/>
          <p:nvPr/>
        </p:nvGrpSpPr>
        <p:grpSpPr bwMode="auto">
          <a:xfrm>
            <a:off x="-1003545" y="6111"/>
            <a:ext cx="13160467" cy="1374628"/>
            <a:chOff x="0" y="0"/>
            <a:chExt cx="13160467" cy="1374628"/>
          </a:xfrm>
        </p:grpSpPr>
        <p:sp>
          <p:nvSpPr>
            <p:cNvPr id="1356351401" name=""/>
            <p:cNvSpPr/>
            <p:nvPr/>
          </p:nvSpPr>
          <p:spPr bwMode="auto">
            <a:xfrm rot="0" flipH="0" flipV="0">
              <a:off x="979065" y="3028"/>
              <a:ext cx="12181401" cy="1371597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  <p:sp>
          <p:nvSpPr>
            <p:cNvPr id="255053448" name=""/>
            <p:cNvSpPr/>
            <p:nvPr/>
          </p:nvSpPr>
          <p:spPr bwMode="auto">
            <a:xfrm rot="0" flipH="1" flipV="1">
              <a:off x="0" y="0"/>
              <a:ext cx="979065" cy="1374628"/>
            </a:xfrm>
            <a:prstGeom prst="chevron">
              <a:avLst>
                <a:gd name="adj" fmla="val 50000"/>
              </a:avLst>
            </a:prstGeom>
            <a:noFill/>
            <a:ln w="28575" cap="flat" cmpd="sng" algn="ctr">
              <a:solidFill>
                <a:srgbClr val="FF0000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</p:grpSp>
      <p:grpSp>
        <p:nvGrpSpPr>
          <p:cNvPr id="518367851" name=""/>
          <p:cNvGrpSpPr/>
          <p:nvPr/>
        </p:nvGrpSpPr>
        <p:grpSpPr bwMode="auto">
          <a:xfrm>
            <a:off x="9675144" y="1368567"/>
            <a:ext cx="13160466" cy="1383771"/>
            <a:chOff x="0" y="0"/>
            <a:chExt cx="13160466" cy="1383771"/>
          </a:xfrm>
        </p:grpSpPr>
        <p:sp>
          <p:nvSpPr>
            <p:cNvPr id="1290037514" name=""/>
            <p:cNvSpPr/>
            <p:nvPr/>
          </p:nvSpPr>
          <p:spPr bwMode="auto">
            <a:xfrm rot="0" flipH="0" flipV="0">
              <a:off x="0" y="12170"/>
              <a:ext cx="12181401" cy="1371597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  <p:sp>
          <p:nvSpPr>
            <p:cNvPr id="474654745" name=""/>
            <p:cNvSpPr/>
            <p:nvPr/>
          </p:nvSpPr>
          <p:spPr bwMode="auto">
            <a:xfrm rot="0" flipH="0" flipV="1">
              <a:off x="12181401" y="0"/>
              <a:ext cx="979065" cy="1374628"/>
            </a:xfrm>
            <a:prstGeom prst="chevron">
              <a:avLst>
                <a:gd name="adj" fmla="val 50000"/>
              </a:avLst>
            </a:prstGeom>
            <a:noFill/>
            <a:ln w="28575" cap="flat" cmpd="sng" algn="ctr">
              <a:solidFill>
                <a:schemeClr val="accent4">
                  <a:lumMod val="60000"/>
                  <a:lumOff val="40000"/>
                </a:schemeClr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</p:grpSp>
      <p:grpSp>
        <p:nvGrpSpPr>
          <p:cNvPr id="999492215" name=""/>
          <p:cNvGrpSpPr/>
          <p:nvPr/>
        </p:nvGrpSpPr>
        <p:grpSpPr bwMode="auto">
          <a:xfrm>
            <a:off x="-11032258" y="2743200"/>
            <a:ext cx="13187930" cy="1374628"/>
            <a:chOff x="0" y="0"/>
            <a:chExt cx="13187930" cy="1374628"/>
          </a:xfrm>
        </p:grpSpPr>
        <p:sp>
          <p:nvSpPr>
            <p:cNvPr id="1435897030" name=""/>
            <p:cNvSpPr/>
            <p:nvPr/>
          </p:nvSpPr>
          <p:spPr bwMode="auto">
            <a:xfrm rot="0" flipH="0" flipV="0">
              <a:off x="1006527" y="0"/>
              <a:ext cx="12181401" cy="1371597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  <p:sp>
          <p:nvSpPr>
            <p:cNvPr id="1621337839" name=""/>
            <p:cNvSpPr/>
            <p:nvPr/>
          </p:nvSpPr>
          <p:spPr bwMode="auto">
            <a:xfrm rot="0" flipH="1" flipV="0">
              <a:off x="0" y="0"/>
              <a:ext cx="979065" cy="1374628"/>
            </a:xfrm>
            <a:prstGeom prst="chevron">
              <a:avLst>
                <a:gd name="adj" fmla="val 50000"/>
              </a:avLst>
            </a:prstGeom>
            <a:noFill/>
            <a:ln w="28575" cap="flat" cmpd="sng" algn="ctr">
              <a:solidFill>
                <a:srgbClr val="92D050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</p:grpSp>
      <p:grpSp>
        <p:nvGrpSpPr>
          <p:cNvPr id="914193141" name=""/>
          <p:cNvGrpSpPr/>
          <p:nvPr/>
        </p:nvGrpSpPr>
        <p:grpSpPr bwMode="auto">
          <a:xfrm>
            <a:off x="9675144" y="4109005"/>
            <a:ext cx="13160466" cy="1377390"/>
            <a:chOff x="0" y="0"/>
            <a:chExt cx="13160466" cy="1377390"/>
          </a:xfrm>
        </p:grpSpPr>
        <p:sp>
          <p:nvSpPr>
            <p:cNvPr id="853289298" name=""/>
            <p:cNvSpPr/>
            <p:nvPr/>
          </p:nvSpPr>
          <p:spPr bwMode="auto">
            <a:xfrm rot="0" flipH="0" flipV="0">
              <a:off x="0" y="5790"/>
              <a:ext cx="12181401" cy="1371597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  <p:sp>
          <p:nvSpPr>
            <p:cNvPr id="2142865071" name=""/>
            <p:cNvSpPr/>
            <p:nvPr/>
          </p:nvSpPr>
          <p:spPr bwMode="auto">
            <a:xfrm rot="0" flipH="0" flipV="1">
              <a:off x="12181401" y="0"/>
              <a:ext cx="979065" cy="1374628"/>
            </a:xfrm>
            <a:prstGeom prst="chevron">
              <a:avLst>
                <a:gd name="adj" fmla="val 50000"/>
              </a:avLst>
            </a:prstGeom>
            <a:noFill/>
            <a:ln w="28575" cap="flat" cmpd="sng" algn="ctr">
              <a:solidFill>
                <a:srgbClr val="00B0F0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</p:grpSp>
      <p:grpSp>
        <p:nvGrpSpPr>
          <p:cNvPr id="1745112671" name=""/>
          <p:cNvGrpSpPr/>
          <p:nvPr/>
        </p:nvGrpSpPr>
        <p:grpSpPr bwMode="auto">
          <a:xfrm>
            <a:off x="-11004795" y="5480605"/>
            <a:ext cx="13160466" cy="1374628"/>
            <a:chOff x="0" y="0"/>
            <a:chExt cx="13160466" cy="1374628"/>
          </a:xfrm>
        </p:grpSpPr>
        <p:sp>
          <p:nvSpPr>
            <p:cNvPr id="1055839756" name=""/>
            <p:cNvSpPr/>
            <p:nvPr/>
          </p:nvSpPr>
          <p:spPr bwMode="auto">
            <a:xfrm rot="0" flipH="0" flipV="0">
              <a:off x="979065" y="3028"/>
              <a:ext cx="12181401" cy="1371597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  <p:sp>
          <p:nvSpPr>
            <p:cNvPr id="1865952472" name=""/>
            <p:cNvSpPr/>
            <p:nvPr/>
          </p:nvSpPr>
          <p:spPr bwMode="auto">
            <a:xfrm rot="0" flipH="1" flipV="0">
              <a:off x="0" y="0"/>
              <a:ext cx="979065" cy="1374628"/>
            </a:xfrm>
            <a:prstGeom prst="chevron">
              <a:avLst>
                <a:gd name="adj" fmla="val 50000"/>
              </a:avLst>
            </a:prstGeom>
            <a:noFill/>
            <a:ln w="28575" cap="flat" cmpd="sng" algn="ctr">
              <a:solidFill>
                <a:srgbClr val="4750FF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</p:grpSp>
      <p:sp>
        <p:nvSpPr>
          <p:cNvPr id="1251689195" name=""/>
          <p:cNvSpPr txBox="1"/>
          <p:nvPr/>
        </p:nvSpPr>
        <p:spPr bwMode="auto">
          <a:xfrm rot="0" flipH="0" flipV="0">
            <a:off x="-9322616" y="281766"/>
            <a:ext cx="7774341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3600" b="1">
                <a:solidFill>
                  <a:srgbClr val="FF0000"/>
                </a:solidFill>
                <a:latin typeface="3270 Nerd Font Mono"/>
                <a:ea typeface="3270 Nerd Font Mono"/>
                <a:cs typeface="3270 Nerd Font Mono"/>
              </a:rPr>
              <a:t>Cross-Site Scripting (XSS)</a:t>
            </a:r>
            <a:endParaRPr sz="3600" b="1">
              <a:solidFill>
                <a:srgbClr val="FF0000"/>
              </a:solidFill>
              <a:latin typeface="3270 Nerd Font Mono"/>
              <a:cs typeface="3270 Nerd Font Mono"/>
            </a:endParaRPr>
          </a:p>
        </p:txBody>
      </p:sp>
      <p:sp>
        <p:nvSpPr>
          <p:cNvPr id="1178579085" name=""/>
          <p:cNvSpPr txBox="1"/>
          <p:nvPr/>
        </p:nvSpPr>
        <p:spPr bwMode="auto">
          <a:xfrm rot="0" flipH="0" flipV="0">
            <a:off x="2580422" y="281766"/>
            <a:ext cx="7039786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3600" b="1">
                <a:solidFill>
                  <a:schemeClr val="accent4">
                    <a:lumMod val="60000"/>
                    <a:lumOff val="40000"/>
                  </a:schemeClr>
                </a:solidFill>
                <a:latin typeface="3270 Nerd Font Mono"/>
                <a:ea typeface="3270 Nerd Font Mono"/>
                <a:cs typeface="3270 Nerd Font Mono"/>
              </a:rPr>
              <a:t>Social Engineering</a:t>
            </a:r>
            <a:endParaRPr sz="3600" b="1">
              <a:solidFill>
                <a:schemeClr val="accent4">
                  <a:lumMod val="60000"/>
                  <a:lumOff val="40000"/>
                </a:schemeClr>
              </a:solidFill>
              <a:latin typeface="3270 Nerd Font Mono"/>
              <a:cs typeface="3270 Nerd Font Mono"/>
            </a:endParaRPr>
          </a:p>
        </p:txBody>
      </p:sp>
      <p:pic>
        <p:nvPicPr>
          <p:cNvPr id="75308784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9671537" y="4746702"/>
            <a:ext cx="2199951" cy="219995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500" advClick="1" advTm="0">
        <p159:morph option="byObject"/>
      </p:transition>
    </mc:Choice>
    <mc:Fallback>
      <p:transition spd="slow" advClick="1" advTm="0">
        <p:fade/>
      </p:transition>
    </mc:Fallback>
  </mc:AlternateContent>
  <p:timing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3401263" name="Rectangle 1407440435"/>
          <p:cNvSpPr/>
          <p:nvPr/>
        </p:nvSpPr>
        <p:spPr bwMode="auto">
          <a:xfrm rot="0" flipH="0" flipV="0">
            <a:off x="0" y="0"/>
            <a:ext cx="12129489" cy="6846093"/>
          </a:xfrm>
          <a:prstGeom prst="rect">
            <a:avLst/>
          </a:prstGeom>
          <a:solidFill>
            <a:srgbClr val="000000">
              <a:alpha val="49999"/>
            </a:srgbClr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latin typeface="3270 Nerd Font Mono"/>
              <a:cs typeface="3270 Nerd Font Mono"/>
            </a:endParaRPr>
          </a:p>
        </p:txBody>
      </p:sp>
      <p:grpSp>
        <p:nvGrpSpPr>
          <p:cNvPr id="1705644725" name=""/>
          <p:cNvGrpSpPr/>
          <p:nvPr/>
        </p:nvGrpSpPr>
        <p:grpSpPr bwMode="auto">
          <a:xfrm>
            <a:off x="-1003545" y="6111"/>
            <a:ext cx="13160467" cy="1374628"/>
            <a:chOff x="0" y="0"/>
            <a:chExt cx="13160467" cy="1374628"/>
          </a:xfrm>
        </p:grpSpPr>
        <p:sp>
          <p:nvSpPr>
            <p:cNvPr id="1402916605" name=""/>
            <p:cNvSpPr/>
            <p:nvPr/>
          </p:nvSpPr>
          <p:spPr bwMode="auto">
            <a:xfrm rot="0" flipH="0" flipV="0">
              <a:off x="979065" y="3028"/>
              <a:ext cx="12181401" cy="1371597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  <p:sp>
          <p:nvSpPr>
            <p:cNvPr id="2124621906" name=""/>
            <p:cNvSpPr/>
            <p:nvPr/>
          </p:nvSpPr>
          <p:spPr bwMode="auto">
            <a:xfrm rot="0" flipH="1" flipV="1">
              <a:off x="0" y="0"/>
              <a:ext cx="979065" cy="1374628"/>
            </a:xfrm>
            <a:prstGeom prst="chevron">
              <a:avLst>
                <a:gd name="adj" fmla="val 50000"/>
              </a:avLst>
            </a:prstGeom>
            <a:noFill/>
            <a:ln w="28575" cap="flat" cmpd="sng" algn="ctr">
              <a:solidFill>
                <a:srgbClr val="FF0000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</p:grpSp>
      <p:grpSp>
        <p:nvGrpSpPr>
          <p:cNvPr id="1535263596" name=""/>
          <p:cNvGrpSpPr/>
          <p:nvPr/>
        </p:nvGrpSpPr>
        <p:grpSpPr bwMode="auto">
          <a:xfrm>
            <a:off x="9675144" y="1368567"/>
            <a:ext cx="13160466" cy="1383771"/>
            <a:chOff x="0" y="0"/>
            <a:chExt cx="13160466" cy="1383771"/>
          </a:xfrm>
        </p:grpSpPr>
        <p:sp>
          <p:nvSpPr>
            <p:cNvPr id="455174124" name=""/>
            <p:cNvSpPr/>
            <p:nvPr/>
          </p:nvSpPr>
          <p:spPr bwMode="auto">
            <a:xfrm rot="0" flipH="0" flipV="0">
              <a:off x="0" y="12170"/>
              <a:ext cx="12181401" cy="1371597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  <p:sp>
          <p:nvSpPr>
            <p:cNvPr id="356673108" name=""/>
            <p:cNvSpPr/>
            <p:nvPr/>
          </p:nvSpPr>
          <p:spPr bwMode="auto">
            <a:xfrm rot="0" flipH="0" flipV="1">
              <a:off x="12181401" y="0"/>
              <a:ext cx="979065" cy="1374628"/>
            </a:xfrm>
            <a:prstGeom prst="chevron">
              <a:avLst>
                <a:gd name="adj" fmla="val 50000"/>
              </a:avLst>
            </a:prstGeom>
            <a:noFill/>
            <a:ln w="28575" cap="flat" cmpd="sng" algn="ctr">
              <a:solidFill>
                <a:schemeClr val="accent4">
                  <a:lumMod val="60000"/>
                  <a:lumOff val="40000"/>
                </a:schemeClr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</p:grpSp>
      <p:grpSp>
        <p:nvGrpSpPr>
          <p:cNvPr id="532662245" name=""/>
          <p:cNvGrpSpPr/>
          <p:nvPr/>
        </p:nvGrpSpPr>
        <p:grpSpPr bwMode="auto">
          <a:xfrm>
            <a:off x="-11032258" y="2743200"/>
            <a:ext cx="13187930" cy="1374628"/>
            <a:chOff x="0" y="0"/>
            <a:chExt cx="13187930" cy="1374628"/>
          </a:xfrm>
        </p:grpSpPr>
        <p:sp>
          <p:nvSpPr>
            <p:cNvPr id="1490127283" name=""/>
            <p:cNvSpPr/>
            <p:nvPr/>
          </p:nvSpPr>
          <p:spPr bwMode="auto">
            <a:xfrm rot="0" flipH="0" flipV="0">
              <a:off x="1006527" y="0"/>
              <a:ext cx="12181401" cy="1371597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  <p:sp>
          <p:nvSpPr>
            <p:cNvPr id="1106402631" name=""/>
            <p:cNvSpPr/>
            <p:nvPr/>
          </p:nvSpPr>
          <p:spPr bwMode="auto">
            <a:xfrm rot="0" flipH="1" flipV="0">
              <a:off x="0" y="0"/>
              <a:ext cx="979065" cy="1374628"/>
            </a:xfrm>
            <a:prstGeom prst="chevron">
              <a:avLst>
                <a:gd name="adj" fmla="val 50000"/>
              </a:avLst>
            </a:prstGeom>
            <a:noFill/>
            <a:ln w="28575" cap="flat" cmpd="sng" algn="ctr">
              <a:solidFill>
                <a:srgbClr val="92D050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</p:grpSp>
      <p:grpSp>
        <p:nvGrpSpPr>
          <p:cNvPr id="572791594" name=""/>
          <p:cNvGrpSpPr/>
          <p:nvPr/>
        </p:nvGrpSpPr>
        <p:grpSpPr bwMode="auto">
          <a:xfrm>
            <a:off x="9675144" y="4109005"/>
            <a:ext cx="13160466" cy="1377390"/>
            <a:chOff x="0" y="0"/>
            <a:chExt cx="13160466" cy="1377390"/>
          </a:xfrm>
        </p:grpSpPr>
        <p:sp>
          <p:nvSpPr>
            <p:cNvPr id="1212590628" name=""/>
            <p:cNvSpPr/>
            <p:nvPr/>
          </p:nvSpPr>
          <p:spPr bwMode="auto">
            <a:xfrm rot="0" flipH="0" flipV="0">
              <a:off x="0" y="5790"/>
              <a:ext cx="12181401" cy="1371597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  <p:sp>
          <p:nvSpPr>
            <p:cNvPr id="835891981" name=""/>
            <p:cNvSpPr/>
            <p:nvPr/>
          </p:nvSpPr>
          <p:spPr bwMode="auto">
            <a:xfrm rot="0" flipH="0" flipV="1">
              <a:off x="12181401" y="0"/>
              <a:ext cx="979065" cy="1374628"/>
            </a:xfrm>
            <a:prstGeom prst="chevron">
              <a:avLst>
                <a:gd name="adj" fmla="val 50000"/>
              </a:avLst>
            </a:prstGeom>
            <a:noFill/>
            <a:ln w="28575" cap="flat" cmpd="sng" algn="ctr">
              <a:solidFill>
                <a:srgbClr val="00B0F0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</p:grpSp>
      <p:grpSp>
        <p:nvGrpSpPr>
          <p:cNvPr id="604095591" name=""/>
          <p:cNvGrpSpPr/>
          <p:nvPr/>
        </p:nvGrpSpPr>
        <p:grpSpPr bwMode="auto">
          <a:xfrm>
            <a:off x="-11004795" y="5480605"/>
            <a:ext cx="13160466" cy="1374628"/>
            <a:chOff x="0" y="0"/>
            <a:chExt cx="13160466" cy="1374628"/>
          </a:xfrm>
        </p:grpSpPr>
        <p:sp>
          <p:nvSpPr>
            <p:cNvPr id="953806388" name=""/>
            <p:cNvSpPr/>
            <p:nvPr/>
          </p:nvSpPr>
          <p:spPr bwMode="auto">
            <a:xfrm rot="0" flipH="0" flipV="0">
              <a:off x="979065" y="3028"/>
              <a:ext cx="12181401" cy="1371597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  <p:sp>
          <p:nvSpPr>
            <p:cNvPr id="474824626" name=""/>
            <p:cNvSpPr/>
            <p:nvPr/>
          </p:nvSpPr>
          <p:spPr bwMode="auto">
            <a:xfrm rot="0" flipH="1" flipV="0">
              <a:off x="0" y="0"/>
              <a:ext cx="979065" cy="1374628"/>
            </a:xfrm>
            <a:prstGeom prst="chevron">
              <a:avLst>
                <a:gd name="adj" fmla="val 50000"/>
              </a:avLst>
            </a:prstGeom>
            <a:noFill/>
            <a:ln w="28575" cap="flat" cmpd="sng" algn="ctr">
              <a:solidFill>
                <a:srgbClr val="4750FF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</p:grpSp>
      <p:sp>
        <p:nvSpPr>
          <p:cNvPr id="1923511526" name=""/>
          <p:cNvSpPr txBox="1"/>
          <p:nvPr/>
        </p:nvSpPr>
        <p:spPr bwMode="auto">
          <a:xfrm rot="0" flipH="0" flipV="0">
            <a:off x="-9322616" y="281766"/>
            <a:ext cx="7774341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3600" b="1">
                <a:solidFill>
                  <a:srgbClr val="FF0000"/>
                </a:solidFill>
                <a:latin typeface="3270 Nerd Font Mono"/>
                <a:ea typeface="3270 Nerd Font Mono"/>
                <a:cs typeface="3270 Nerd Font Mono"/>
              </a:rPr>
              <a:t>Cross-Site Scripting (XSS)</a:t>
            </a:r>
            <a:endParaRPr sz="3600" b="1">
              <a:solidFill>
                <a:srgbClr val="FF0000"/>
              </a:solidFill>
              <a:latin typeface="3270 Nerd Font Mono"/>
              <a:cs typeface="3270 Nerd Font Mono"/>
            </a:endParaRPr>
          </a:p>
        </p:txBody>
      </p:sp>
      <p:sp>
        <p:nvSpPr>
          <p:cNvPr id="18864474" name=""/>
          <p:cNvSpPr txBox="1"/>
          <p:nvPr/>
        </p:nvSpPr>
        <p:spPr bwMode="auto">
          <a:xfrm rot="0" flipH="0" flipV="0">
            <a:off x="2580422" y="281766"/>
            <a:ext cx="7039786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3600" b="1">
                <a:solidFill>
                  <a:schemeClr val="accent4">
                    <a:lumMod val="60000"/>
                    <a:lumOff val="40000"/>
                  </a:schemeClr>
                </a:solidFill>
                <a:latin typeface="3270 Nerd Font Mono"/>
                <a:ea typeface="3270 Nerd Font Mono"/>
                <a:cs typeface="3270 Nerd Font Mono"/>
              </a:rPr>
              <a:t>Social Engineering</a:t>
            </a:r>
            <a:endParaRPr sz="3600" b="1">
              <a:solidFill>
                <a:schemeClr val="accent4">
                  <a:lumMod val="60000"/>
                  <a:lumOff val="40000"/>
                </a:schemeClr>
              </a:solidFill>
              <a:latin typeface="3270 Nerd Font Mono"/>
              <a:cs typeface="3270 Nerd Font Mono"/>
            </a:endParaRPr>
          </a:p>
        </p:txBody>
      </p:sp>
      <p:sp>
        <p:nvSpPr>
          <p:cNvPr id="1380241505" name=""/>
          <p:cNvSpPr txBox="1"/>
          <p:nvPr/>
        </p:nvSpPr>
        <p:spPr bwMode="auto">
          <a:xfrm rot="0" flipH="0" flipV="0">
            <a:off x="477873" y="1268492"/>
            <a:ext cx="10481288" cy="2225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just">
              <a:defRPr/>
            </a:pPr>
            <a:r>
              <a:rPr sz="2800" b="1">
                <a:solidFill>
                  <a:schemeClr val="bg1"/>
                </a:solidFill>
                <a:latin typeface="3270 Nerd Font Mono"/>
                <a:ea typeface="3270 Nerd Font Mono"/>
                <a:cs typeface="3270 Nerd Font Mono"/>
              </a:rPr>
              <a:t>Social Engineering adalah </a:t>
            </a:r>
            <a:r>
              <a:rPr sz="2800" b="1">
                <a:solidFill>
                  <a:schemeClr val="bg1"/>
                </a:solidFill>
                <a:latin typeface="3270 Nerd Font Mono"/>
                <a:ea typeface="3270 Nerd Font Mono"/>
                <a:cs typeface="3270 Nerd Font Mono"/>
              </a:rPr>
              <a:t>teknik manipulasi psikologis yang memanfaatkan kelemahan kognitif manusia untuk memperoleh informasi sensitif atau hak akses sistem, tanpa memanfaatkan celah teknis yang signifikan.</a:t>
            </a:r>
            <a:endParaRPr sz="2800" b="1">
              <a:solidFill>
                <a:schemeClr val="bg1"/>
              </a:solidFill>
              <a:latin typeface="3270 Nerd Font Mono"/>
              <a:cs typeface="3270 Nerd Font Mono"/>
            </a:endParaRPr>
          </a:p>
        </p:txBody>
      </p:sp>
      <p:sp>
        <p:nvSpPr>
          <p:cNvPr id="821921505" name=""/>
          <p:cNvSpPr txBox="1"/>
          <p:nvPr/>
        </p:nvSpPr>
        <p:spPr bwMode="auto">
          <a:xfrm rot="0" flipH="0" flipV="0">
            <a:off x="538686" y="3692238"/>
            <a:ext cx="8054725" cy="2652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just">
              <a:defRPr/>
            </a:pPr>
            <a:r>
              <a:rPr sz="2800" b="1">
                <a:solidFill>
                  <a:schemeClr val="bg1"/>
                </a:solidFill>
                <a:latin typeface="3270 Nerd Font Mono"/>
                <a:ea typeface="3270 Nerd Font Mono"/>
                <a:cs typeface="3270 Nerd Font Mono"/>
              </a:rPr>
              <a:t>Contoh :</a:t>
            </a:r>
            <a:endParaRPr sz="2800" b="1">
              <a:solidFill>
                <a:schemeClr val="bg1"/>
              </a:solidFill>
              <a:latin typeface="3270 Nerd Font Mono"/>
              <a:ea typeface="3270 Nerd Font Mono"/>
              <a:cs typeface="3270 Nerd Font Mono"/>
            </a:endParaRPr>
          </a:p>
          <a:p>
            <a:pPr algn="just">
              <a:defRPr/>
            </a:pPr>
            <a:r>
              <a:rPr sz="2800" b="1">
                <a:solidFill>
                  <a:schemeClr val="bg1"/>
                </a:solidFill>
                <a:latin typeface="3270 Nerd Font Mono"/>
                <a:ea typeface="3270 Nerd Font Mono"/>
                <a:cs typeface="3270 Nerd Font Mono"/>
              </a:rPr>
              <a:t>Seorang Pelaku Social Engineering berpura-pura menjadi orang dekat korban untuk mendapatkan informasi sensitif umumnya menggunakan link atau file berbahaya</a:t>
            </a:r>
            <a:endParaRPr sz="2800" b="1">
              <a:solidFill>
                <a:schemeClr val="bg1"/>
              </a:solidFill>
              <a:latin typeface="3270 Nerd Font Mono"/>
              <a:cs typeface="3270 Nerd Font Mono"/>
            </a:endParaRPr>
          </a:p>
        </p:txBody>
      </p:sp>
      <p:pic>
        <p:nvPicPr>
          <p:cNvPr id="5391413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9671538" y="4746703"/>
            <a:ext cx="2199951" cy="219995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0241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7" dur="500"/>
                                        <p:tgtEl>
                                          <p:spTgt spid="1380241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921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4" dur="500"/>
                                        <p:tgtEl>
                                          <p:spTgt spid="821921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4" presetClass="exit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vertical)">
                                      <p:cBhvr>
                                        <p:cTn id="10" dur="500"/>
                                        <p:tgtEl>
                                          <p:spTgt spid="13802415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0241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4" presetClass="exit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vertical)">
                                      <p:cBhvr>
                                        <p:cTn id="7" dur="500"/>
                                        <p:tgtEl>
                                          <p:spTgt spid="8219215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1921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6037725" name="Rectangle 1407440435"/>
          <p:cNvSpPr/>
          <p:nvPr/>
        </p:nvSpPr>
        <p:spPr bwMode="auto">
          <a:xfrm rot="0" flipH="0" flipV="0">
            <a:off x="0" y="0"/>
            <a:ext cx="12129489" cy="6846093"/>
          </a:xfrm>
          <a:prstGeom prst="rect">
            <a:avLst/>
          </a:prstGeom>
          <a:solidFill>
            <a:srgbClr val="000000">
              <a:alpha val="49999"/>
            </a:srgbClr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latin typeface="3270 Nerd Font Mono"/>
              <a:cs typeface="3270 Nerd Font Mono"/>
            </a:endParaRPr>
          </a:p>
        </p:txBody>
      </p:sp>
      <p:grpSp>
        <p:nvGrpSpPr>
          <p:cNvPr id="1192982207" name=""/>
          <p:cNvGrpSpPr/>
          <p:nvPr/>
        </p:nvGrpSpPr>
        <p:grpSpPr bwMode="auto">
          <a:xfrm>
            <a:off x="-1003545" y="6111"/>
            <a:ext cx="13160467" cy="1374628"/>
            <a:chOff x="0" y="0"/>
            <a:chExt cx="13160467" cy="1374628"/>
          </a:xfrm>
        </p:grpSpPr>
        <p:sp>
          <p:nvSpPr>
            <p:cNvPr id="927333298" name=""/>
            <p:cNvSpPr/>
            <p:nvPr/>
          </p:nvSpPr>
          <p:spPr bwMode="auto">
            <a:xfrm rot="0" flipH="0" flipV="0">
              <a:off x="979065" y="3028"/>
              <a:ext cx="12181401" cy="1371597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  <p:sp>
          <p:nvSpPr>
            <p:cNvPr id="1440860725" name=""/>
            <p:cNvSpPr/>
            <p:nvPr/>
          </p:nvSpPr>
          <p:spPr bwMode="auto">
            <a:xfrm rot="0" flipH="1" flipV="1">
              <a:off x="0" y="0"/>
              <a:ext cx="979065" cy="1374628"/>
            </a:xfrm>
            <a:prstGeom prst="chevron">
              <a:avLst>
                <a:gd name="adj" fmla="val 50000"/>
              </a:avLst>
            </a:prstGeom>
            <a:noFill/>
            <a:ln w="28575" cap="flat" cmpd="sng" algn="ctr">
              <a:solidFill>
                <a:srgbClr val="FF0000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</p:grpSp>
      <p:grpSp>
        <p:nvGrpSpPr>
          <p:cNvPr id="931187580" name=""/>
          <p:cNvGrpSpPr/>
          <p:nvPr/>
        </p:nvGrpSpPr>
        <p:grpSpPr bwMode="auto">
          <a:xfrm>
            <a:off x="9675144" y="1368567"/>
            <a:ext cx="13160466" cy="1383771"/>
            <a:chOff x="0" y="0"/>
            <a:chExt cx="13160466" cy="1383771"/>
          </a:xfrm>
        </p:grpSpPr>
        <p:sp>
          <p:nvSpPr>
            <p:cNvPr id="1227188542" name=""/>
            <p:cNvSpPr/>
            <p:nvPr/>
          </p:nvSpPr>
          <p:spPr bwMode="auto">
            <a:xfrm rot="0" flipH="0" flipV="0">
              <a:off x="0" y="12170"/>
              <a:ext cx="12181401" cy="1371597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  <p:sp>
          <p:nvSpPr>
            <p:cNvPr id="807945384" name=""/>
            <p:cNvSpPr/>
            <p:nvPr/>
          </p:nvSpPr>
          <p:spPr bwMode="auto">
            <a:xfrm rot="0" flipH="0" flipV="1">
              <a:off x="12181401" y="0"/>
              <a:ext cx="979065" cy="1374628"/>
            </a:xfrm>
            <a:prstGeom prst="chevron">
              <a:avLst>
                <a:gd name="adj" fmla="val 50000"/>
              </a:avLst>
            </a:prstGeom>
            <a:noFill/>
            <a:ln w="28575" cap="flat" cmpd="sng" algn="ctr">
              <a:solidFill>
                <a:schemeClr val="accent4">
                  <a:lumMod val="60000"/>
                  <a:lumOff val="40000"/>
                </a:schemeClr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</p:grpSp>
      <p:grpSp>
        <p:nvGrpSpPr>
          <p:cNvPr id="472433546" name=""/>
          <p:cNvGrpSpPr/>
          <p:nvPr/>
        </p:nvGrpSpPr>
        <p:grpSpPr bwMode="auto">
          <a:xfrm>
            <a:off x="-11032258" y="2743200"/>
            <a:ext cx="13187930" cy="1374628"/>
            <a:chOff x="0" y="0"/>
            <a:chExt cx="13187930" cy="1374628"/>
          </a:xfrm>
        </p:grpSpPr>
        <p:sp>
          <p:nvSpPr>
            <p:cNvPr id="615569050" name=""/>
            <p:cNvSpPr/>
            <p:nvPr/>
          </p:nvSpPr>
          <p:spPr bwMode="auto">
            <a:xfrm rot="0" flipH="0" flipV="0">
              <a:off x="1006527" y="0"/>
              <a:ext cx="12181401" cy="1371597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  <p:sp>
          <p:nvSpPr>
            <p:cNvPr id="889995850" name=""/>
            <p:cNvSpPr/>
            <p:nvPr/>
          </p:nvSpPr>
          <p:spPr bwMode="auto">
            <a:xfrm rot="0" flipH="1" flipV="0">
              <a:off x="0" y="0"/>
              <a:ext cx="979065" cy="1374628"/>
            </a:xfrm>
            <a:prstGeom prst="chevron">
              <a:avLst>
                <a:gd name="adj" fmla="val 50000"/>
              </a:avLst>
            </a:prstGeom>
            <a:noFill/>
            <a:ln w="28575" cap="flat" cmpd="sng" algn="ctr">
              <a:solidFill>
                <a:srgbClr val="92D050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</p:grpSp>
      <p:grpSp>
        <p:nvGrpSpPr>
          <p:cNvPr id="1991321154" name=""/>
          <p:cNvGrpSpPr/>
          <p:nvPr/>
        </p:nvGrpSpPr>
        <p:grpSpPr bwMode="auto">
          <a:xfrm>
            <a:off x="9675144" y="4109005"/>
            <a:ext cx="13160466" cy="1377390"/>
            <a:chOff x="0" y="0"/>
            <a:chExt cx="13160466" cy="1377390"/>
          </a:xfrm>
        </p:grpSpPr>
        <p:sp>
          <p:nvSpPr>
            <p:cNvPr id="688375880" name=""/>
            <p:cNvSpPr/>
            <p:nvPr/>
          </p:nvSpPr>
          <p:spPr bwMode="auto">
            <a:xfrm rot="0" flipH="0" flipV="0">
              <a:off x="0" y="5790"/>
              <a:ext cx="12181401" cy="1371597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  <p:sp>
          <p:nvSpPr>
            <p:cNvPr id="529815217" name=""/>
            <p:cNvSpPr/>
            <p:nvPr/>
          </p:nvSpPr>
          <p:spPr bwMode="auto">
            <a:xfrm rot="0" flipH="0" flipV="1">
              <a:off x="12181401" y="0"/>
              <a:ext cx="979065" cy="1374628"/>
            </a:xfrm>
            <a:prstGeom prst="chevron">
              <a:avLst>
                <a:gd name="adj" fmla="val 50000"/>
              </a:avLst>
            </a:prstGeom>
            <a:noFill/>
            <a:ln w="28575" cap="flat" cmpd="sng" algn="ctr">
              <a:solidFill>
                <a:srgbClr val="00B0F0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</p:grpSp>
      <p:grpSp>
        <p:nvGrpSpPr>
          <p:cNvPr id="1587994030" name=""/>
          <p:cNvGrpSpPr/>
          <p:nvPr/>
        </p:nvGrpSpPr>
        <p:grpSpPr bwMode="auto">
          <a:xfrm>
            <a:off x="-11004795" y="5480605"/>
            <a:ext cx="13160466" cy="1374628"/>
            <a:chOff x="0" y="0"/>
            <a:chExt cx="13160466" cy="1374628"/>
          </a:xfrm>
        </p:grpSpPr>
        <p:sp>
          <p:nvSpPr>
            <p:cNvPr id="1180499100" name=""/>
            <p:cNvSpPr/>
            <p:nvPr/>
          </p:nvSpPr>
          <p:spPr bwMode="auto">
            <a:xfrm rot="0" flipH="0" flipV="0">
              <a:off x="979065" y="3028"/>
              <a:ext cx="12181401" cy="1371597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  <p:sp>
          <p:nvSpPr>
            <p:cNvPr id="906219253" name=""/>
            <p:cNvSpPr/>
            <p:nvPr/>
          </p:nvSpPr>
          <p:spPr bwMode="auto">
            <a:xfrm rot="0" flipH="1" flipV="0">
              <a:off x="0" y="0"/>
              <a:ext cx="979065" cy="1374628"/>
            </a:xfrm>
            <a:prstGeom prst="chevron">
              <a:avLst>
                <a:gd name="adj" fmla="val 50000"/>
              </a:avLst>
            </a:prstGeom>
            <a:noFill/>
            <a:ln w="28575" cap="flat" cmpd="sng" algn="ctr">
              <a:solidFill>
                <a:srgbClr val="4750FF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</p:grpSp>
      <p:sp>
        <p:nvSpPr>
          <p:cNvPr id="1851940562" name=""/>
          <p:cNvSpPr txBox="1"/>
          <p:nvPr/>
        </p:nvSpPr>
        <p:spPr bwMode="auto">
          <a:xfrm rot="0" flipH="0" flipV="0">
            <a:off x="-9322616" y="281766"/>
            <a:ext cx="7774341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3600" b="1">
                <a:solidFill>
                  <a:srgbClr val="FF0000"/>
                </a:solidFill>
                <a:latin typeface="3270 Nerd Font Mono"/>
                <a:ea typeface="3270 Nerd Font Mono"/>
                <a:cs typeface="3270 Nerd Font Mono"/>
              </a:rPr>
              <a:t>Cross-Site Scripting (XSS)</a:t>
            </a:r>
            <a:endParaRPr sz="3600" b="1">
              <a:solidFill>
                <a:srgbClr val="FF0000"/>
              </a:solidFill>
              <a:latin typeface="3270 Nerd Font Mono"/>
              <a:cs typeface="3270 Nerd Font Mono"/>
            </a:endParaRPr>
          </a:p>
        </p:txBody>
      </p:sp>
      <p:sp>
        <p:nvSpPr>
          <p:cNvPr id="382982465" name=""/>
          <p:cNvSpPr txBox="1"/>
          <p:nvPr/>
        </p:nvSpPr>
        <p:spPr bwMode="auto">
          <a:xfrm rot="0" flipH="0" flipV="0">
            <a:off x="2580422" y="281766"/>
            <a:ext cx="7039786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3600" b="1">
                <a:solidFill>
                  <a:schemeClr val="accent4">
                    <a:lumMod val="60000"/>
                    <a:lumOff val="40000"/>
                  </a:schemeClr>
                </a:solidFill>
                <a:latin typeface="3270 Nerd Font Mono"/>
                <a:ea typeface="3270 Nerd Font Mono"/>
                <a:cs typeface="3270 Nerd Font Mono"/>
              </a:rPr>
              <a:t>Social Engineering</a:t>
            </a:r>
            <a:endParaRPr sz="3600" b="1">
              <a:solidFill>
                <a:schemeClr val="accent4">
                  <a:lumMod val="60000"/>
                  <a:lumOff val="40000"/>
                </a:schemeClr>
              </a:solidFill>
              <a:latin typeface="3270 Nerd Font Mono"/>
              <a:cs typeface="3270 Nerd Font Mono"/>
            </a:endParaRPr>
          </a:p>
        </p:txBody>
      </p:sp>
      <p:pic>
        <p:nvPicPr>
          <p:cNvPr id="1299710061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9671538" y="4746703"/>
            <a:ext cx="2199951" cy="2199951"/>
          </a:xfrm>
          <a:prstGeom prst="rect">
            <a:avLst/>
          </a:prstGeom>
        </p:spPr>
      </p:pic>
      <p:sp>
        <p:nvSpPr>
          <p:cNvPr id="1906519889" name=""/>
          <p:cNvSpPr txBox="1"/>
          <p:nvPr/>
        </p:nvSpPr>
        <p:spPr bwMode="auto">
          <a:xfrm rot="0" flipH="0" flipV="0">
            <a:off x="496189" y="1320626"/>
            <a:ext cx="10276404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just">
              <a:defRPr/>
            </a:pPr>
            <a:r>
              <a:rPr sz="2800" b="1">
                <a:solidFill>
                  <a:schemeClr val="bg1"/>
                </a:solidFill>
                <a:latin typeface="3270 Nerd Font Mono"/>
                <a:ea typeface="3270 Nerd Font Mono"/>
                <a:cs typeface="3270 Nerd Font Mono"/>
              </a:rPr>
              <a:t>Contoh Kasus Serangan Social Engineering </a:t>
            </a:r>
            <a:endParaRPr sz="2800" b="1">
              <a:solidFill>
                <a:schemeClr val="bg1"/>
              </a:solidFill>
              <a:latin typeface="3270 Nerd Font Mono"/>
              <a:cs typeface="3270 Nerd Font Mono"/>
            </a:endParaRPr>
          </a:p>
        </p:txBody>
      </p:sp>
      <p:sp>
        <p:nvSpPr>
          <p:cNvPr id="338790187" name=""/>
          <p:cNvSpPr txBox="1"/>
          <p:nvPr/>
        </p:nvSpPr>
        <p:spPr bwMode="auto">
          <a:xfrm rot="0" flipH="0" flipV="0">
            <a:off x="496189" y="1991546"/>
            <a:ext cx="10390883" cy="2072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just">
              <a:defRPr/>
            </a:pPr>
            <a:r>
              <a:rPr sz="2600" b="1">
                <a:solidFill>
                  <a:schemeClr val="bg1"/>
                </a:solidFill>
                <a:latin typeface="3270 Nerd Font Mono"/>
                <a:ea typeface="3270 Nerd Font Mono"/>
                <a:cs typeface="3270 Nerd Font Mono"/>
              </a:rPr>
              <a:t>Pada Tahun 2026, Seorang Wanita California Terkena Kasus Lovescam Dimana Pelaku Berpura-Pura Menjadi Seorang Artis Terkenal &amp; Membujuk Wanita Tersebut Untuk Memberikan Uang Korban Pada Pelaku. Pelaku Menggunakan Teknologi Deepfake Untuk Meyakinkan Korban.</a:t>
            </a:r>
            <a:endParaRPr sz="2600" b="1">
              <a:solidFill>
                <a:schemeClr val="bg1"/>
              </a:solidFill>
              <a:latin typeface="3270 Nerd Font Mono"/>
              <a:cs typeface="3270 Nerd Font Mono"/>
            </a:endParaRPr>
          </a:p>
        </p:txBody>
      </p:sp>
      <p:sp>
        <p:nvSpPr>
          <p:cNvPr id="1279200529" name=""/>
          <p:cNvSpPr txBox="1"/>
          <p:nvPr/>
        </p:nvSpPr>
        <p:spPr bwMode="auto">
          <a:xfrm rot="0" flipH="0" flipV="0">
            <a:off x="496189" y="4216946"/>
            <a:ext cx="8488493" cy="16767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just">
              <a:defRPr/>
            </a:pPr>
            <a:r>
              <a:rPr sz="2600" b="1">
                <a:solidFill>
                  <a:schemeClr val="bg1"/>
                </a:solidFill>
                <a:latin typeface="3270 Nerd Font Mono"/>
                <a:ea typeface="3270 Nerd Font Mono"/>
                <a:cs typeface="3270 Nerd Font Mono"/>
              </a:rPr>
              <a:t>Hasilnya, Korban Kehilangan Sampai Dengan $81,000 Dan Menjual Rumahnya Karena Pelaku Berjanji Akan Membangun Hidup Baru Dengan Korban</a:t>
            </a:r>
            <a:endParaRPr sz="2600" b="1">
              <a:solidFill>
                <a:schemeClr val="bg1"/>
              </a:solidFill>
              <a:latin typeface="3270 Nerd Font Mono"/>
              <a:cs typeface="3270 Nerd Font Mon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6519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3" dur="500"/>
                                        <p:tgtEl>
                                          <p:spTgt spid="1906519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790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0" dur="500"/>
                                        <p:tgtEl>
                                          <p:spTgt spid="338790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200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7" dur="500"/>
                                        <p:tgtEl>
                                          <p:spTgt spid="1279200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xit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vertical)">
                                      <p:cBhvr>
                                        <p:cTn id="6" dur="500"/>
                                        <p:tgtEl>
                                          <p:spTgt spid="19065198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06519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4" presetClass="exit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vertical)">
                                      <p:cBhvr>
                                        <p:cTn id="6" dur="500"/>
                                        <p:tgtEl>
                                          <p:spTgt spid="338790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8790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4" presetClass="exit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vertical)">
                                      <p:cBhvr>
                                        <p:cTn id="6" dur="500"/>
                                        <p:tgtEl>
                                          <p:spTgt spid="12792005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79200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2406269" name="Rectangle 1407440435"/>
          <p:cNvSpPr/>
          <p:nvPr/>
        </p:nvSpPr>
        <p:spPr bwMode="auto">
          <a:xfrm rot="0" flipH="0" flipV="0">
            <a:off x="0" y="0"/>
            <a:ext cx="12129489" cy="6846093"/>
          </a:xfrm>
          <a:prstGeom prst="rect">
            <a:avLst/>
          </a:prstGeom>
          <a:solidFill>
            <a:srgbClr val="000000">
              <a:alpha val="49999"/>
            </a:srgbClr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latin typeface="3270 Nerd Font Mono"/>
              <a:cs typeface="3270 Nerd Font Mono"/>
            </a:endParaRPr>
          </a:p>
        </p:txBody>
      </p:sp>
      <p:grpSp>
        <p:nvGrpSpPr>
          <p:cNvPr id="790872199" name=""/>
          <p:cNvGrpSpPr/>
          <p:nvPr/>
        </p:nvGrpSpPr>
        <p:grpSpPr bwMode="auto">
          <a:xfrm>
            <a:off x="-1003545" y="6111"/>
            <a:ext cx="13160467" cy="1374628"/>
            <a:chOff x="0" y="0"/>
            <a:chExt cx="13160467" cy="1374628"/>
          </a:xfrm>
        </p:grpSpPr>
        <p:sp>
          <p:nvSpPr>
            <p:cNvPr id="2012460151" name=""/>
            <p:cNvSpPr/>
            <p:nvPr/>
          </p:nvSpPr>
          <p:spPr bwMode="auto">
            <a:xfrm rot="0" flipH="0" flipV="0">
              <a:off x="979065" y="3028"/>
              <a:ext cx="12181401" cy="1371597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  <p:sp>
          <p:nvSpPr>
            <p:cNvPr id="630684020" name=""/>
            <p:cNvSpPr/>
            <p:nvPr/>
          </p:nvSpPr>
          <p:spPr bwMode="auto">
            <a:xfrm rot="0" flipH="1" flipV="1">
              <a:off x="0" y="0"/>
              <a:ext cx="979065" cy="1374628"/>
            </a:xfrm>
            <a:prstGeom prst="chevron">
              <a:avLst>
                <a:gd name="adj" fmla="val 50000"/>
              </a:avLst>
            </a:prstGeom>
            <a:noFill/>
            <a:ln w="28575" cap="flat" cmpd="sng" algn="ctr">
              <a:solidFill>
                <a:srgbClr val="FF0000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</p:grpSp>
      <p:grpSp>
        <p:nvGrpSpPr>
          <p:cNvPr id="1330173238" name=""/>
          <p:cNvGrpSpPr/>
          <p:nvPr/>
        </p:nvGrpSpPr>
        <p:grpSpPr bwMode="auto">
          <a:xfrm>
            <a:off x="9675144" y="1368567"/>
            <a:ext cx="13160466" cy="1383771"/>
            <a:chOff x="0" y="0"/>
            <a:chExt cx="13160466" cy="1383771"/>
          </a:xfrm>
        </p:grpSpPr>
        <p:sp>
          <p:nvSpPr>
            <p:cNvPr id="50101867" name=""/>
            <p:cNvSpPr/>
            <p:nvPr/>
          </p:nvSpPr>
          <p:spPr bwMode="auto">
            <a:xfrm rot="0" flipH="0" flipV="0">
              <a:off x="0" y="12170"/>
              <a:ext cx="12181401" cy="1371597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  <p:sp>
          <p:nvSpPr>
            <p:cNvPr id="59869788" name=""/>
            <p:cNvSpPr/>
            <p:nvPr/>
          </p:nvSpPr>
          <p:spPr bwMode="auto">
            <a:xfrm rot="0" flipH="0" flipV="1">
              <a:off x="12181401" y="0"/>
              <a:ext cx="979065" cy="1374628"/>
            </a:xfrm>
            <a:prstGeom prst="chevron">
              <a:avLst>
                <a:gd name="adj" fmla="val 50000"/>
              </a:avLst>
            </a:prstGeom>
            <a:noFill/>
            <a:ln w="28575" cap="flat" cmpd="sng" algn="ctr">
              <a:solidFill>
                <a:schemeClr val="accent4">
                  <a:lumMod val="60000"/>
                  <a:lumOff val="40000"/>
                </a:schemeClr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</p:grpSp>
      <p:grpSp>
        <p:nvGrpSpPr>
          <p:cNvPr id="303543113" name=""/>
          <p:cNvGrpSpPr/>
          <p:nvPr/>
        </p:nvGrpSpPr>
        <p:grpSpPr bwMode="auto">
          <a:xfrm>
            <a:off x="-11032258" y="2743200"/>
            <a:ext cx="13187930" cy="1374628"/>
            <a:chOff x="0" y="0"/>
            <a:chExt cx="13187930" cy="1374628"/>
          </a:xfrm>
        </p:grpSpPr>
        <p:sp>
          <p:nvSpPr>
            <p:cNvPr id="1853507433" name=""/>
            <p:cNvSpPr/>
            <p:nvPr/>
          </p:nvSpPr>
          <p:spPr bwMode="auto">
            <a:xfrm rot="0" flipH="0" flipV="0">
              <a:off x="1006527" y="0"/>
              <a:ext cx="12181401" cy="1371597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  <p:sp>
          <p:nvSpPr>
            <p:cNvPr id="1807730152" name=""/>
            <p:cNvSpPr/>
            <p:nvPr/>
          </p:nvSpPr>
          <p:spPr bwMode="auto">
            <a:xfrm rot="0" flipH="1" flipV="0">
              <a:off x="0" y="0"/>
              <a:ext cx="979065" cy="1374628"/>
            </a:xfrm>
            <a:prstGeom prst="chevron">
              <a:avLst>
                <a:gd name="adj" fmla="val 50000"/>
              </a:avLst>
            </a:prstGeom>
            <a:noFill/>
            <a:ln w="28575" cap="flat" cmpd="sng" algn="ctr">
              <a:solidFill>
                <a:srgbClr val="92D050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</p:grpSp>
      <p:grpSp>
        <p:nvGrpSpPr>
          <p:cNvPr id="31076124" name=""/>
          <p:cNvGrpSpPr/>
          <p:nvPr/>
        </p:nvGrpSpPr>
        <p:grpSpPr bwMode="auto">
          <a:xfrm>
            <a:off x="9675144" y="4109005"/>
            <a:ext cx="13160466" cy="1377390"/>
            <a:chOff x="0" y="0"/>
            <a:chExt cx="13160466" cy="1377390"/>
          </a:xfrm>
        </p:grpSpPr>
        <p:sp>
          <p:nvSpPr>
            <p:cNvPr id="1700606996" name=""/>
            <p:cNvSpPr/>
            <p:nvPr/>
          </p:nvSpPr>
          <p:spPr bwMode="auto">
            <a:xfrm rot="0" flipH="0" flipV="0">
              <a:off x="0" y="5790"/>
              <a:ext cx="12181401" cy="1371597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  <p:sp>
          <p:nvSpPr>
            <p:cNvPr id="1578332446" name=""/>
            <p:cNvSpPr/>
            <p:nvPr/>
          </p:nvSpPr>
          <p:spPr bwMode="auto">
            <a:xfrm rot="0" flipH="0" flipV="1">
              <a:off x="12181401" y="0"/>
              <a:ext cx="979065" cy="1374628"/>
            </a:xfrm>
            <a:prstGeom prst="chevron">
              <a:avLst>
                <a:gd name="adj" fmla="val 50000"/>
              </a:avLst>
            </a:prstGeom>
            <a:noFill/>
            <a:ln w="28575" cap="flat" cmpd="sng" algn="ctr">
              <a:solidFill>
                <a:srgbClr val="00B0F0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</p:grpSp>
      <p:grpSp>
        <p:nvGrpSpPr>
          <p:cNvPr id="834182732" name=""/>
          <p:cNvGrpSpPr/>
          <p:nvPr/>
        </p:nvGrpSpPr>
        <p:grpSpPr bwMode="auto">
          <a:xfrm>
            <a:off x="-11004795" y="5480605"/>
            <a:ext cx="13160466" cy="1374628"/>
            <a:chOff x="0" y="0"/>
            <a:chExt cx="13160466" cy="1374628"/>
          </a:xfrm>
        </p:grpSpPr>
        <p:sp>
          <p:nvSpPr>
            <p:cNvPr id="209842172" name=""/>
            <p:cNvSpPr/>
            <p:nvPr/>
          </p:nvSpPr>
          <p:spPr bwMode="auto">
            <a:xfrm rot="0" flipH="0" flipV="0">
              <a:off x="979065" y="3028"/>
              <a:ext cx="12181401" cy="1371597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  <p:sp>
          <p:nvSpPr>
            <p:cNvPr id="65914839" name=""/>
            <p:cNvSpPr/>
            <p:nvPr/>
          </p:nvSpPr>
          <p:spPr bwMode="auto">
            <a:xfrm rot="0" flipH="1" flipV="0">
              <a:off x="0" y="0"/>
              <a:ext cx="979065" cy="1374628"/>
            </a:xfrm>
            <a:prstGeom prst="chevron">
              <a:avLst>
                <a:gd name="adj" fmla="val 50000"/>
              </a:avLst>
            </a:prstGeom>
            <a:noFill/>
            <a:ln w="28575" cap="flat" cmpd="sng" algn="ctr">
              <a:solidFill>
                <a:srgbClr val="4750FF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>
                <a:latin typeface="3270 Nerd Font Mono"/>
                <a:cs typeface="3270 Nerd Font Mono"/>
              </a:endParaRPr>
            </a:p>
          </p:txBody>
        </p:sp>
      </p:grpSp>
      <p:sp>
        <p:nvSpPr>
          <p:cNvPr id="464804646" name=""/>
          <p:cNvSpPr txBox="1"/>
          <p:nvPr/>
        </p:nvSpPr>
        <p:spPr bwMode="auto">
          <a:xfrm rot="0" flipH="0" flipV="0">
            <a:off x="-9322616" y="281766"/>
            <a:ext cx="7774341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3600" b="1">
                <a:solidFill>
                  <a:srgbClr val="FF0000"/>
                </a:solidFill>
                <a:latin typeface="3270 Nerd Font Mono"/>
                <a:ea typeface="3270 Nerd Font Mono"/>
                <a:cs typeface="3270 Nerd Font Mono"/>
              </a:rPr>
              <a:t>Cross-Site Scripting (XSS)</a:t>
            </a:r>
            <a:endParaRPr sz="3600" b="1">
              <a:solidFill>
                <a:srgbClr val="FF0000"/>
              </a:solidFill>
              <a:latin typeface="3270 Nerd Font Mono"/>
              <a:cs typeface="3270 Nerd Font Mono"/>
            </a:endParaRPr>
          </a:p>
        </p:txBody>
      </p:sp>
      <p:sp>
        <p:nvSpPr>
          <p:cNvPr id="964527492" name=""/>
          <p:cNvSpPr txBox="1"/>
          <p:nvPr/>
        </p:nvSpPr>
        <p:spPr bwMode="auto">
          <a:xfrm rot="0" flipH="0" flipV="0">
            <a:off x="2580422" y="281766"/>
            <a:ext cx="7039786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3600" b="1">
                <a:solidFill>
                  <a:schemeClr val="accent4">
                    <a:lumMod val="60000"/>
                    <a:lumOff val="40000"/>
                  </a:schemeClr>
                </a:solidFill>
                <a:latin typeface="3270 Nerd Font Mono"/>
                <a:ea typeface="3270 Nerd Font Mono"/>
                <a:cs typeface="3270 Nerd Font Mono"/>
              </a:rPr>
              <a:t>Social Engineering</a:t>
            </a:r>
            <a:endParaRPr sz="3600" b="1">
              <a:solidFill>
                <a:schemeClr val="accent4">
                  <a:lumMod val="60000"/>
                  <a:lumOff val="40000"/>
                </a:schemeClr>
              </a:solidFill>
              <a:latin typeface="3270 Nerd Font Mono"/>
              <a:cs typeface="3270 Nerd Font Mono"/>
            </a:endParaRPr>
          </a:p>
        </p:txBody>
      </p:sp>
      <p:pic>
        <p:nvPicPr>
          <p:cNvPr id="1416821514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9671538" y="4746703"/>
            <a:ext cx="2199951" cy="2199951"/>
          </a:xfrm>
          <a:prstGeom prst="rect">
            <a:avLst/>
          </a:prstGeom>
        </p:spPr>
      </p:pic>
      <p:sp>
        <p:nvSpPr>
          <p:cNvPr id="446280989" name=""/>
          <p:cNvSpPr txBox="1"/>
          <p:nvPr/>
        </p:nvSpPr>
        <p:spPr bwMode="auto">
          <a:xfrm rot="0" flipH="0" flipV="0">
            <a:off x="496189" y="1229040"/>
            <a:ext cx="11291273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just">
              <a:defRPr/>
            </a:pPr>
            <a:r>
              <a:rPr sz="2800" b="1">
                <a:solidFill>
                  <a:schemeClr val="bg1"/>
                </a:solidFill>
                <a:latin typeface="3270 Nerd Font Mono"/>
                <a:ea typeface="3270 Nerd Font Mono"/>
                <a:cs typeface="3270 Nerd Font Mono"/>
              </a:rPr>
              <a:t>Cara Mengatasi Serangan </a:t>
            </a:r>
            <a:r>
              <a:rPr sz="2800" b="1">
                <a:solidFill>
                  <a:schemeClr val="bg1"/>
                </a:solidFill>
                <a:latin typeface="3270 Nerd Font Mono"/>
                <a:cs typeface="3270 Nerd Font Mono"/>
              </a:rPr>
              <a:t>Social Engineering :</a:t>
            </a:r>
            <a:endParaRPr sz="2800" b="1">
              <a:solidFill>
                <a:schemeClr val="bg1"/>
              </a:solidFill>
              <a:latin typeface="3270 Nerd Font Mono"/>
              <a:cs typeface="3270 Nerd Font Mono"/>
            </a:endParaRPr>
          </a:p>
        </p:txBody>
      </p:sp>
      <p:sp>
        <p:nvSpPr>
          <p:cNvPr id="1857882370" name=""/>
          <p:cNvSpPr txBox="1"/>
          <p:nvPr/>
        </p:nvSpPr>
        <p:spPr bwMode="auto">
          <a:xfrm rot="0" flipH="0" flipV="0">
            <a:off x="2456394" y="1961732"/>
            <a:ext cx="9432949" cy="1371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just">
              <a:defRPr/>
            </a:pPr>
            <a:r>
              <a:rPr sz="2800" b="1">
                <a:solidFill>
                  <a:schemeClr val="bg1"/>
                </a:solidFill>
                <a:latin typeface="3270 Nerd Font Mono"/>
                <a:cs typeface="3270 Nerd Font Mono"/>
              </a:rPr>
              <a:t>Waspada Interaksi Online :</a:t>
            </a:r>
            <a:endParaRPr sz="2800" b="1">
              <a:solidFill>
                <a:schemeClr val="bg1"/>
              </a:solidFill>
              <a:latin typeface="3270 Nerd Font Mono"/>
              <a:cs typeface="3270 Nerd Font Mono"/>
            </a:endParaRPr>
          </a:p>
          <a:p>
            <a:pPr algn="just">
              <a:defRPr/>
            </a:pPr>
            <a:r>
              <a:rPr sz="2800" b="1">
                <a:solidFill>
                  <a:schemeClr val="bg1"/>
                </a:solidFill>
                <a:latin typeface="3270 Nerd Font Mono"/>
                <a:cs typeface="3270 Nerd Font Mono"/>
              </a:rPr>
              <a:t>Jangan Memberikan Data Sensitif atau Mebuka Link/File/Email Yang Mencurigakan </a:t>
            </a:r>
            <a:endParaRPr sz="2800" b="1">
              <a:solidFill>
                <a:schemeClr val="bg1"/>
              </a:solidFill>
              <a:latin typeface="3270 Nerd Font Mono"/>
              <a:cs typeface="3270 Nerd Font Mon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ONLYOFFICE/9.2.1.43</Application>
  <PresentationFormat>On-screen Show (4:3)</PresentationFormat>
  <Paragraphs>0</Paragraphs>
  <Slides>18</Slides>
  <Notes>18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11</cp:revision>
  <dcterms:modified xsi:type="dcterms:W3CDTF">2026-04-13T03:09:53Z</dcterms:modified>
</cp:coreProperties>
</file>
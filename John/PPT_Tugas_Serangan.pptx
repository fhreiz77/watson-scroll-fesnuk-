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233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154179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4512085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0129276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0882590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7928271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9255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5486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628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18BF9-1D2B-010D-3618-E54C423018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5035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9603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645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3D5719-6C29-0337-15FA-C529C1598CC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2064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5111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89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0D2EE3-312B-8FD8-E459-62A734A2BB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712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00713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488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5038B2-2198-E188-BB55-1344269DE2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4346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29438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465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681E7A-3D9F-6663-6C22-EDE58CDE1B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2582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14321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04860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DF2AEC-81F1-78D2-3B41-D56F6D92C12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845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9909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7746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2FF9A8-F347-024E-6F22-67036762C33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6754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3028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387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D98004-5967-68D9-518B-F07B920E52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715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943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62FC76-6240-3AE3-00B1-8EE76FB368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11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1188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86599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D00D4A-EC1E-6E76-7BC9-8E2B3921AD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412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541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9918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001E04-14D6-A73B-C9B9-F546FD7146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809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852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0443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D8227-28D1-78AF-1E80-62E5E95ECF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6230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229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70849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BC2F1F-AD30-3370-61F2-365B881541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82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6267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1957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C5BC7F-0227-1903-E50E-C83422DF38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540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72894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86128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351B64-92A1-CFBD-DCBD-711A2B82A4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1729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19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353215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A8FB19-AD3F-E23C-114E-D4796B84A3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0927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7784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671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0BE107-DF2A-2F07-5A83-5038511768E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85767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1760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33256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6731E-DBE7-C154-EFA3-41B87A54978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779232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948702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772898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368612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4820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91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05287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35960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371222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42121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06515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0345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649835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83851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53957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834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6892771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1611058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324274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19676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02101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6010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05788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58219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287153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2075370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73779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6420291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503040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5967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937006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4902099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846402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25072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068034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70099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9599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279483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2050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1005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94531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08912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51028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8354284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625849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83075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530698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42024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3502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647193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01162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2600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745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51093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4675627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29657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82117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65146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79386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816463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465360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7655579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1771139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02722" name=""/>
          <p:cNvSpPr/>
          <p:nvPr/>
        </p:nvSpPr>
        <p:spPr bwMode="auto">
          <a:xfrm rot="0" flipH="0" flipV="0">
            <a:off x="33045" y="14881"/>
            <a:ext cx="12129490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07025329" name=""/>
          <p:cNvSpPr txBox="1"/>
          <p:nvPr/>
        </p:nvSpPr>
        <p:spPr bwMode="auto">
          <a:xfrm rot="0" flipH="0" flipV="0">
            <a:off x="1411583" y="641479"/>
            <a:ext cx="9369192" cy="33836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Ana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lisis Serangan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rgbClr val="C00000"/>
                </a:solidFill>
                <a:latin typeface="3270 Nerd Font Mono"/>
                <a:ea typeface="3270 Nerd Font Mono"/>
                <a:cs typeface="3270 Nerd Font Mono"/>
              </a:rPr>
              <a:t>Data &amp; Informasi</a:t>
            </a: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</a:t>
            </a:r>
            <a:b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Website </a:t>
            </a:r>
            <a:endParaRPr sz="72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96612097" name=""/>
          <p:cNvSpPr txBox="1"/>
          <p:nvPr/>
        </p:nvSpPr>
        <p:spPr bwMode="auto">
          <a:xfrm rot="0" flipH="0" flipV="0">
            <a:off x="1372163" y="4222879"/>
            <a:ext cx="9447672" cy="1615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Rafly Fattaya</a:t>
            </a: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(310124023697)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Jonathan Andrew Wijaya (310124023844)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Nazril Anbiya Rasyada (310124023851)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Muhammad Iqbal Fahrezi (310124023855)</a:t>
            </a:r>
            <a:endParaRPr sz="2000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ctr">
              <a:defRPr/>
            </a:pPr>
            <a:r>
              <a:rPr sz="2000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Valentinus Bolly Wuran Tedez (310124023876)</a:t>
            </a:r>
            <a:endParaRPr sz="2000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276607310" name=""/>
          <p:cNvSpPr txBox="1"/>
          <p:nvPr/>
        </p:nvSpPr>
        <p:spPr bwMode="auto">
          <a:xfrm rot="0" flipH="0" flipV="0">
            <a:off x="315875" y="-1198337"/>
            <a:ext cx="5919026" cy="518519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8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28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5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7025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9" dur="500"/>
                                        <p:tgtEl>
                                          <p:spTgt spid="1507025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12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4" dur="500"/>
                                        <p:tgtEl>
                                          <p:spTgt spid="96612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5070253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7025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966120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612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477254" name=""/>
          <p:cNvSpPr/>
          <p:nvPr/>
        </p:nvSpPr>
        <p:spPr bwMode="auto">
          <a:xfrm rot="0" flipH="0" flipV="0">
            <a:off x="31254" y="14880"/>
            <a:ext cx="12129490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39693740" name=""/>
          <p:cNvSpPr txBox="1"/>
          <p:nvPr/>
        </p:nvSpPr>
        <p:spPr bwMode="auto">
          <a:xfrm rot="0" flipH="0" flipV="0">
            <a:off x="315875" y="366483"/>
            <a:ext cx="648764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pic>
        <p:nvPicPr>
          <p:cNvPr id="6358130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938323" y="960116"/>
            <a:ext cx="5222421" cy="5222421"/>
          </a:xfrm>
          <a:prstGeom prst="rect">
            <a:avLst/>
          </a:prstGeom>
        </p:spPr>
      </p:pic>
      <p:sp>
        <p:nvSpPr>
          <p:cNvPr id="587193849" name=""/>
          <p:cNvSpPr txBox="1"/>
          <p:nvPr/>
        </p:nvSpPr>
        <p:spPr bwMode="auto">
          <a:xfrm rot="0" flipH="0" flipV="0">
            <a:off x="315875" y="1254276"/>
            <a:ext cx="6312914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853064892" name=""/>
          <p:cNvSpPr txBox="1"/>
          <p:nvPr/>
        </p:nvSpPr>
        <p:spPr bwMode="auto">
          <a:xfrm rot="0" flipH="0" flipV="0">
            <a:off x="315875" y="3789558"/>
            <a:ext cx="631395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813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5" dur="500"/>
                                        <p:tgtEl>
                                          <p:spTgt spid="635813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193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2" dur="500"/>
                                        <p:tgtEl>
                                          <p:spTgt spid="587193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064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9" dur="500"/>
                                        <p:tgtEl>
                                          <p:spTgt spid="853064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9693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6" dur="500"/>
                                        <p:tgtEl>
                                          <p:spTgt spid="21396937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692213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787204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938322" y="960115"/>
            <a:ext cx="5222421" cy="5222421"/>
          </a:xfrm>
          <a:prstGeom prst="rect">
            <a:avLst/>
          </a:prstGeom>
        </p:spPr>
      </p:pic>
      <p:sp>
        <p:nvSpPr>
          <p:cNvPr id="1174962328" name=""/>
          <p:cNvSpPr txBox="1"/>
          <p:nvPr/>
        </p:nvSpPr>
        <p:spPr bwMode="auto">
          <a:xfrm rot="0" flipH="0" flipV="0">
            <a:off x="315875" y="1254276"/>
            <a:ext cx="6313273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535661501" name=""/>
          <p:cNvSpPr txBox="1"/>
          <p:nvPr/>
        </p:nvSpPr>
        <p:spPr bwMode="auto">
          <a:xfrm rot="0" flipH="0" flipV="0">
            <a:off x="315874" y="3789558"/>
            <a:ext cx="631431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143281424" name=""/>
          <p:cNvSpPr txBox="1"/>
          <p:nvPr/>
        </p:nvSpPr>
        <p:spPr bwMode="auto">
          <a:xfrm rot="0" flipH="0" flipV="0">
            <a:off x="315874" y="366482"/>
            <a:ext cx="648800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347832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51800607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5225071" y="960115"/>
            <a:ext cx="5222421" cy="5222421"/>
          </a:xfrm>
          <a:prstGeom prst="rect">
            <a:avLst/>
          </a:prstGeom>
        </p:spPr>
      </p:pic>
      <p:sp>
        <p:nvSpPr>
          <p:cNvPr id="1132113432" name=""/>
          <p:cNvSpPr txBox="1"/>
          <p:nvPr/>
        </p:nvSpPr>
        <p:spPr bwMode="auto">
          <a:xfrm rot="0" flipH="0" flipV="0">
            <a:off x="315875" y="9731526"/>
            <a:ext cx="6313632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Perlindungan atas data dan informasi pada era digital ini menjadi hal yang sangat penting</a:t>
            </a:r>
            <a:r>
              <a:rPr sz="2400" b="1">
                <a:solidFill>
                  <a:schemeClr val="bg1"/>
                </a:solidFill>
                <a:latin typeface="3270 Nerd Font Mono"/>
                <a:cs typeface="3270 Nerd Font Mono"/>
              </a:rPr>
              <a:t> yang disebabkan oleh banyaknya tindakan kejahatan yang dapat merugikan banyak pihak tanpa adanya keamanan data &amp; informasi</a:t>
            </a:r>
            <a:endParaRPr sz="24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2035567754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427547392" name=""/>
          <p:cNvSpPr txBox="1"/>
          <p:nvPr/>
        </p:nvSpPr>
        <p:spPr bwMode="auto">
          <a:xfrm rot="0" flipH="0" flipV="0">
            <a:off x="315874" y="-1252766"/>
            <a:ext cx="6488363" cy="64044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1CB728"/>
                </a:solidFill>
                <a:highlight>
                  <a:srgbClr val="000000"/>
                </a:highlight>
                <a:latin typeface="3270 Nerd Font Mono"/>
                <a:ea typeface="3270 Nerd Font Mono"/>
                <a:cs typeface="3270 Nerd Font Mono"/>
              </a:rPr>
              <a:t>Keamanan Data &amp; Informasi</a:t>
            </a:r>
            <a:endParaRPr sz="3600" b="1">
              <a:solidFill>
                <a:srgbClr val="1CB728"/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1384778183" name=""/>
          <p:cNvSpPr txBox="1"/>
          <p:nvPr/>
        </p:nvSpPr>
        <p:spPr bwMode="auto">
          <a:xfrm rot="0" flipH="0" flipV="0">
            <a:off x="5116937" y="214856"/>
            <a:ext cx="6673585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1911977859" name=""/>
          <p:cNvSpPr txBox="1"/>
          <p:nvPr/>
        </p:nvSpPr>
        <p:spPr bwMode="auto">
          <a:xfrm rot="0" flipH="0" flipV="0">
            <a:off x="5475449" y="1657502"/>
            <a:ext cx="6404352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355555208" name=""/>
          <p:cNvSpPr txBox="1"/>
          <p:nvPr/>
        </p:nvSpPr>
        <p:spPr bwMode="auto">
          <a:xfrm rot="0" flipH="0" flipV="0">
            <a:off x="5475449" y="3934254"/>
            <a:ext cx="6505511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30101524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33660" y="1097847"/>
            <a:ext cx="4537281" cy="45372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4778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5" dur="500"/>
                                        <p:tgtEl>
                                          <p:spTgt spid="1384778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1977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2" dur="500"/>
                                        <p:tgtEl>
                                          <p:spTgt spid="19119778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555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9" dur="500"/>
                                        <p:tgtEl>
                                          <p:spTgt spid="355555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15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7" dur="500"/>
                                        <p:tgtEl>
                                          <p:spTgt spid="301015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402119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785258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74090263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33660" y="1097847"/>
            <a:ext cx="4537281" cy="4537281"/>
          </a:xfrm>
          <a:prstGeom prst="rect">
            <a:avLst/>
          </a:prstGeom>
        </p:spPr>
      </p:pic>
      <p:sp>
        <p:nvSpPr>
          <p:cNvPr id="882252939" name=""/>
          <p:cNvSpPr txBox="1"/>
          <p:nvPr/>
        </p:nvSpPr>
        <p:spPr bwMode="auto">
          <a:xfrm rot="0" flipH="0" flipV="0">
            <a:off x="5116936" y="214855"/>
            <a:ext cx="6673944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2062221335" name=""/>
          <p:cNvSpPr txBox="1"/>
          <p:nvPr/>
        </p:nvSpPr>
        <p:spPr bwMode="auto">
          <a:xfrm rot="0" flipH="0" flipV="0">
            <a:off x="5475448" y="1657501"/>
            <a:ext cx="6404711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484060052" name=""/>
          <p:cNvSpPr txBox="1"/>
          <p:nvPr/>
        </p:nvSpPr>
        <p:spPr bwMode="auto">
          <a:xfrm rot="0" flipH="0" flipV="0">
            <a:off x="5475448" y="3934433"/>
            <a:ext cx="65058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1733072" name=""/>
          <p:cNvSpPr/>
          <p:nvPr/>
        </p:nvSpPr>
        <p:spPr bwMode="auto">
          <a:xfrm rot="0" flipH="0" flipV="0">
            <a:off x="31253" y="14879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6407541" name=""/>
          <p:cNvSpPr txBox="1"/>
          <p:nvPr/>
        </p:nvSpPr>
        <p:spPr bwMode="auto">
          <a:xfrm rot="0" flipH="0" flipV="0">
            <a:off x="315874" y="12266807"/>
            <a:ext cx="631467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6989469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7" y="1097847"/>
            <a:ext cx="4537281" cy="4537281"/>
          </a:xfrm>
          <a:prstGeom prst="rect">
            <a:avLst/>
          </a:prstGeom>
        </p:spPr>
      </p:pic>
      <p:sp>
        <p:nvSpPr>
          <p:cNvPr id="649645319" name=""/>
          <p:cNvSpPr txBox="1"/>
          <p:nvPr/>
        </p:nvSpPr>
        <p:spPr bwMode="auto">
          <a:xfrm rot="0" flipH="0" flipV="0">
            <a:off x="5116936" y="-2610893"/>
            <a:ext cx="6674303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1493390296" name=""/>
          <p:cNvSpPr txBox="1"/>
          <p:nvPr/>
        </p:nvSpPr>
        <p:spPr bwMode="auto">
          <a:xfrm rot="0" flipH="0" flipV="0">
            <a:off x="5475448" y="9864876"/>
            <a:ext cx="64050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62553013" name=""/>
          <p:cNvSpPr txBox="1"/>
          <p:nvPr/>
        </p:nvSpPr>
        <p:spPr bwMode="auto">
          <a:xfrm rot="0" flipH="0" flipV="0">
            <a:off x="5475448" y="12141988"/>
            <a:ext cx="6506229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835212" name=""/>
          <p:cNvSpPr/>
          <p:nvPr/>
        </p:nvSpPr>
        <p:spPr bwMode="auto">
          <a:xfrm rot="0" flipH="0" flipV="0">
            <a:off x="31253" y="6250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sp>
        <p:nvSpPr>
          <p:cNvPr id="961265818" name=""/>
          <p:cNvSpPr txBox="1"/>
          <p:nvPr/>
        </p:nvSpPr>
        <p:spPr bwMode="auto">
          <a:xfrm rot="0" flipH="0" flipV="0">
            <a:off x="315873" y="12266806"/>
            <a:ext cx="6315039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15683600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7" y="1097847"/>
            <a:ext cx="4537281" cy="4537281"/>
          </a:xfrm>
          <a:prstGeom prst="rect">
            <a:avLst/>
          </a:prstGeom>
        </p:spPr>
      </p:pic>
      <p:sp>
        <p:nvSpPr>
          <p:cNvPr id="77060783" name=""/>
          <p:cNvSpPr txBox="1"/>
          <p:nvPr/>
        </p:nvSpPr>
        <p:spPr bwMode="auto">
          <a:xfrm rot="0" flipH="0" flipV="0">
            <a:off x="5116935" y="-2610892"/>
            <a:ext cx="6674662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2042723679" name=""/>
          <p:cNvSpPr txBox="1"/>
          <p:nvPr/>
        </p:nvSpPr>
        <p:spPr bwMode="auto">
          <a:xfrm rot="0" flipH="0" flipV="0">
            <a:off x="5475447" y="9864875"/>
            <a:ext cx="6405429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206204269" name=""/>
          <p:cNvSpPr txBox="1"/>
          <p:nvPr/>
        </p:nvSpPr>
        <p:spPr bwMode="auto">
          <a:xfrm rot="0" flipH="0" flipV="0">
            <a:off x="5475447" y="12142167"/>
            <a:ext cx="6506588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422491601" name=""/>
          <p:cNvSpPr txBox="1"/>
          <p:nvPr/>
        </p:nvSpPr>
        <p:spPr bwMode="auto">
          <a:xfrm rot="0" flipH="0" flipV="0">
            <a:off x="2064928" y="1600020"/>
            <a:ext cx="8063217" cy="36579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7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Jenis-Jenis</a:t>
            </a:r>
            <a:br>
              <a:rPr sz="7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9000" b="1">
                <a:solidFill>
                  <a:srgbClr val="C00000"/>
                </a:solidFill>
                <a:latin typeface="3270 Nerd Font Mono"/>
                <a:ea typeface="3270 Nerd Font Mono"/>
                <a:cs typeface="3270 Nerd Font Mono"/>
              </a:rPr>
              <a:t>Serangan</a:t>
            </a:r>
            <a:r>
              <a:rPr sz="7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</a:t>
            </a:r>
            <a:br>
              <a:rPr sz="7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</a:br>
            <a:r>
              <a:rPr sz="7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Website</a:t>
            </a:r>
            <a:endParaRPr sz="7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49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1" dur="500"/>
                                        <p:tgtEl>
                                          <p:spTgt spid="1422491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4224916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249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974492" name="Rectangle 1407440435"/>
          <p:cNvSpPr/>
          <p:nvPr/>
        </p:nvSpPr>
        <p:spPr bwMode="auto">
          <a:xfrm rot="0" flipH="0" flipV="0">
            <a:off x="27431" y="9144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pic>
        <p:nvPicPr>
          <p:cNvPr id="187701322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09528" y="1097847"/>
            <a:ext cx="4537281" cy="4537281"/>
          </a:xfrm>
          <a:prstGeom prst="rect">
            <a:avLst/>
          </a:prstGeom>
        </p:spPr>
      </p:pic>
      <p:sp>
        <p:nvSpPr>
          <p:cNvPr id="1114958719" name=""/>
          <p:cNvSpPr txBox="1"/>
          <p:nvPr/>
        </p:nvSpPr>
        <p:spPr bwMode="auto">
          <a:xfrm rot="0" flipH="0" flipV="0">
            <a:off x="5116935" y="-2610892"/>
            <a:ext cx="6674303" cy="11890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3600" b="1">
                <a:solidFill>
                  <a:schemeClr val="accent5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Pentingnya Keamanan Data &amp; Informasi Pada Website</a:t>
            </a:r>
            <a:endParaRPr sz="3600" b="1">
              <a:solidFill>
                <a:schemeClr val="accent5">
                  <a:lumMod val="60000"/>
                  <a:lumOff val="40000"/>
                </a:schemeClr>
              </a:solidFill>
              <a:highlight>
                <a:srgbClr val="000000"/>
              </a:highlight>
              <a:latin typeface="3270 Nerd Font Mono"/>
              <a:cs typeface="3270 Nerd Font Mono"/>
            </a:endParaRPr>
          </a:p>
        </p:txBody>
      </p:sp>
      <p:sp>
        <p:nvSpPr>
          <p:cNvPr id="653796136" name=""/>
          <p:cNvSpPr txBox="1"/>
          <p:nvPr/>
        </p:nvSpPr>
        <p:spPr bwMode="auto">
          <a:xfrm rot="0" flipH="0" flipV="0">
            <a:off x="5475447" y="9864875"/>
            <a:ext cx="6405070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Semenjak perkembangan internet 3.0</a:t>
            </a: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043302726" name=""/>
          <p:cNvSpPr txBox="1"/>
          <p:nvPr/>
        </p:nvSpPr>
        <p:spPr bwMode="auto">
          <a:xfrm rot="0" flipH="0" flipV="0">
            <a:off x="5475447" y="12141987"/>
            <a:ext cx="6506229" cy="21034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.</a:t>
            </a:r>
            <a:endParaRPr sz="22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grpSp>
        <p:nvGrpSpPr>
          <p:cNvPr id="527612131" name=""/>
          <p:cNvGrpSpPr/>
          <p:nvPr/>
        </p:nvGrpSpPr>
        <p:grpSpPr bwMode="auto">
          <a:xfrm>
            <a:off x="-1003546" y="6113"/>
            <a:ext cx="13160469" cy="1374630"/>
            <a:chOff x="0" y="0"/>
            <a:chExt cx="13160469" cy="1374630"/>
          </a:xfrm>
        </p:grpSpPr>
        <p:sp>
          <p:nvSpPr>
            <p:cNvPr id="1000949080" name=""/>
            <p:cNvSpPr/>
            <p:nvPr/>
          </p:nvSpPr>
          <p:spPr bwMode="auto">
            <a:xfrm rot="0" flipH="0" flipV="0">
              <a:off x="979067" y="303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704217831" name=""/>
            <p:cNvSpPr/>
            <p:nvPr/>
          </p:nvSpPr>
          <p:spPr bwMode="auto">
            <a:xfrm rot="0" flipH="1" flipV="1">
              <a:off x="0" y="0"/>
              <a:ext cx="979067" cy="1374630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982228605" name=""/>
          <p:cNvGrpSpPr/>
          <p:nvPr/>
        </p:nvGrpSpPr>
        <p:grpSpPr bwMode="auto">
          <a:xfrm>
            <a:off x="54894" y="1368568"/>
            <a:ext cx="13160468" cy="1383773"/>
            <a:chOff x="0" y="0"/>
            <a:chExt cx="13160468" cy="1383773"/>
          </a:xfrm>
        </p:grpSpPr>
        <p:sp>
          <p:nvSpPr>
            <p:cNvPr id="1075258292" name=""/>
            <p:cNvSpPr/>
            <p:nvPr/>
          </p:nvSpPr>
          <p:spPr bwMode="auto">
            <a:xfrm rot="0" flipH="0" flipV="0">
              <a:off x="0" y="12173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12932188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993450580" name=""/>
          <p:cNvGrpSpPr/>
          <p:nvPr/>
        </p:nvGrpSpPr>
        <p:grpSpPr bwMode="auto">
          <a:xfrm>
            <a:off x="-1031009" y="2743200"/>
            <a:ext cx="13187931" cy="1374629"/>
            <a:chOff x="0" y="0"/>
            <a:chExt cx="13187931" cy="1374629"/>
          </a:xfrm>
        </p:grpSpPr>
        <p:sp>
          <p:nvSpPr>
            <p:cNvPr id="532777364" name=""/>
            <p:cNvSpPr/>
            <p:nvPr/>
          </p:nvSpPr>
          <p:spPr bwMode="auto">
            <a:xfrm rot="0" flipH="0" flipV="0">
              <a:off x="1006530" y="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664384455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630866669" name=""/>
          <p:cNvGrpSpPr/>
          <p:nvPr/>
        </p:nvGrpSpPr>
        <p:grpSpPr bwMode="auto">
          <a:xfrm>
            <a:off x="54894" y="4109006"/>
            <a:ext cx="13160468" cy="1377391"/>
            <a:chOff x="0" y="0"/>
            <a:chExt cx="13160468" cy="1377391"/>
          </a:xfrm>
        </p:grpSpPr>
        <p:sp>
          <p:nvSpPr>
            <p:cNvPr id="1795773882" name=""/>
            <p:cNvSpPr/>
            <p:nvPr/>
          </p:nvSpPr>
          <p:spPr bwMode="auto">
            <a:xfrm rot="0" flipH="0" flipV="0">
              <a:off x="0" y="5792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86580264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17294829" name=""/>
          <p:cNvGrpSpPr/>
          <p:nvPr/>
        </p:nvGrpSpPr>
        <p:grpSpPr bwMode="auto">
          <a:xfrm>
            <a:off x="-1003546" y="5480606"/>
            <a:ext cx="13160468" cy="1374629"/>
            <a:chOff x="0" y="0"/>
            <a:chExt cx="13160468" cy="1374629"/>
          </a:xfrm>
        </p:grpSpPr>
        <p:sp>
          <p:nvSpPr>
            <p:cNvPr id="32975023" name=""/>
            <p:cNvSpPr/>
            <p:nvPr/>
          </p:nvSpPr>
          <p:spPr bwMode="auto">
            <a:xfrm rot="0" flipH="0" flipV="0">
              <a:off x="979066" y="3029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33968842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593650684" name=""/>
          <p:cNvSpPr txBox="1"/>
          <p:nvPr/>
        </p:nvSpPr>
        <p:spPr bwMode="auto">
          <a:xfrm rot="0" flipH="0" flipV="0">
            <a:off x="1582282" y="281766"/>
            <a:ext cx="9044350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48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879944302" name=""/>
          <p:cNvSpPr txBox="1"/>
          <p:nvPr/>
        </p:nvSpPr>
        <p:spPr bwMode="auto">
          <a:xfrm rot="0" flipH="0" flipV="0">
            <a:off x="2580423" y="1648795"/>
            <a:ext cx="703906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sp>
        <p:nvSpPr>
          <p:cNvPr id="1717226816" name=""/>
          <p:cNvSpPr txBox="1"/>
          <p:nvPr/>
        </p:nvSpPr>
        <p:spPr bwMode="auto">
          <a:xfrm rot="0" flipH="0" flipV="0">
            <a:off x="2732823" y="3018853"/>
            <a:ext cx="704482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Mono"/>
                <a:ea typeface="3270 Nerd Font Mono"/>
                <a:cs typeface="3270 Nerd Font Mono"/>
              </a:rPr>
              <a:t>SQL Injection</a:t>
            </a:r>
            <a:endParaRPr sz="4800" b="1">
              <a:solidFill>
                <a:srgbClr val="92D050"/>
              </a:solidFill>
              <a:latin typeface="3270 Nerd Font Mono"/>
              <a:cs typeface="3270 Nerd Font Mono"/>
            </a:endParaRPr>
          </a:p>
        </p:txBody>
      </p:sp>
      <p:sp>
        <p:nvSpPr>
          <p:cNvPr id="1425533181" name=""/>
          <p:cNvSpPr txBox="1"/>
          <p:nvPr/>
        </p:nvSpPr>
        <p:spPr bwMode="auto">
          <a:xfrm rot="0" flipH="0" flipV="0">
            <a:off x="2732823" y="4386042"/>
            <a:ext cx="704914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Mono"/>
                <a:ea typeface="3270 Nerd Font Mono"/>
                <a:cs typeface="3270 Nerd Font Mono"/>
              </a:rPr>
              <a:t>Dos / DDoS</a:t>
            </a:r>
            <a:endParaRPr sz="4800" b="1">
              <a:solidFill>
                <a:srgbClr val="00B0F0"/>
              </a:solidFill>
              <a:latin typeface="3270 Nerd Font Mono"/>
              <a:cs typeface="3270 Nerd Font Mono"/>
            </a:endParaRPr>
          </a:p>
        </p:txBody>
      </p:sp>
      <p:sp>
        <p:nvSpPr>
          <p:cNvPr id="1585884635" name=""/>
          <p:cNvSpPr txBox="1"/>
          <p:nvPr/>
        </p:nvSpPr>
        <p:spPr bwMode="auto">
          <a:xfrm rot="0" flipH="0" flipV="0">
            <a:off x="2732823" y="5756260"/>
            <a:ext cx="705598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Mono"/>
                <a:ea typeface="3270 Nerd Font Mono"/>
                <a:cs typeface="3270 Nerd Font Mono"/>
              </a:rPr>
              <a:t>Man in the Middle</a:t>
            </a:r>
            <a:endParaRPr sz="4800" b="1">
              <a:solidFill>
                <a:srgbClr val="4750FF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61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27612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27612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3650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936506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936506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450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93450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93450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7226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172268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7172268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294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172948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172948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5884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858846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858846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9944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79944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79944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228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822286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822286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5533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255331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25533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86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30866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30866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962929" name="Rectangle 1407440435"/>
          <p:cNvSpPr/>
          <p:nvPr/>
        </p:nvSpPr>
        <p:spPr bwMode="auto">
          <a:xfrm rot="0" flipH="0" flipV="0">
            <a:off x="27431" y="9144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783504487" name=""/>
          <p:cNvGrpSpPr/>
          <p:nvPr/>
        </p:nvGrpSpPr>
        <p:grpSpPr bwMode="auto">
          <a:xfrm>
            <a:off x="-1003546" y="6113"/>
            <a:ext cx="13160469" cy="1374630"/>
            <a:chOff x="0" y="0"/>
            <a:chExt cx="13160469" cy="1374630"/>
          </a:xfrm>
        </p:grpSpPr>
        <p:sp>
          <p:nvSpPr>
            <p:cNvPr id="113921065" name=""/>
            <p:cNvSpPr/>
            <p:nvPr/>
          </p:nvSpPr>
          <p:spPr bwMode="auto">
            <a:xfrm rot="0" flipH="0" flipV="0">
              <a:off x="979067" y="303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78170824" name=""/>
            <p:cNvSpPr/>
            <p:nvPr/>
          </p:nvSpPr>
          <p:spPr bwMode="auto">
            <a:xfrm rot="0" flipH="1" flipV="1">
              <a:off x="0" y="0"/>
              <a:ext cx="979067" cy="1374630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507596505" name=""/>
          <p:cNvGrpSpPr/>
          <p:nvPr/>
        </p:nvGrpSpPr>
        <p:grpSpPr bwMode="auto">
          <a:xfrm>
            <a:off x="54894" y="1368568"/>
            <a:ext cx="13160468" cy="1383773"/>
            <a:chOff x="0" y="0"/>
            <a:chExt cx="13160468" cy="1383773"/>
          </a:xfrm>
        </p:grpSpPr>
        <p:sp>
          <p:nvSpPr>
            <p:cNvPr id="1825444571" name=""/>
            <p:cNvSpPr/>
            <p:nvPr/>
          </p:nvSpPr>
          <p:spPr bwMode="auto">
            <a:xfrm rot="0" flipH="0" flipV="0">
              <a:off x="0" y="12173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6098645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80986514" name=""/>
          <p:cNvGrpSpPr/>
          <p:nvPr/>
        </p:nvGrpSpPr>
        <p:grpSpPr bwMode="auto">
          <a:xfrm>
            <a:off x="-1031009" y="2743200"/>
            <a:ext cx="13187931" cy="1374629"/>
            <a:chOff x="0" y="0"/>
            <a:chExt cx="13187931" cy="1374629"/>
          </a:xfrm>
        </p:grpSpPr>
        <p:sp>
          <p:nvSpPr>
            <p:cNvPr id="1041888501" name=""/>
            <p:cNvSpPr/>
            <p:nvPr/>
          </p:nvSpPr>
          <p:spPr bwMode="auto">
            <a:xfrm rot="0" flipH="0" flipV="0">
              <a:off x="1006530" y="0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98804777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671911561" name=""/>
          <p:cNvGrpSpPr/>
          <p:nvPr/>
        </p:nvGrpSpPr>
        <p:grpSpPr bwMode="auto">
          <a:xfrm>
            <a:off x="54894" y="4109006"/>
            <a:ext cx="13160468" cy="1377391"/>
            <a:chOff x="0" y="0"/>
            <a:chExt cx="13160468" cy="1377391"/>
          </a:xfrm>
        </p:grpSpPr>
        <p:sp>
          <p:nvSpPr>
            <p:cNvPr id="520303314" name=""/>
            <p:cNvSpPr/>
            <p:nvPr/>
          </p:nvSpPr>
          <p:spPr bwMode="auto">
            <a:xfrm rot="0" flipH="0" flipV="0">
              <a:off x="0" y="5792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42011106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815222708" name=""/>
          <p:cNvGrpSpPr/>
          <p:nvPr/>
        </p:nvGrpSpPr>
        <p:grpSpPr bwMode="auto">
          <a:xfrm>
            <a:off x="-1003546" y="5480606"/>
            <a:ext cx="13160468" cy="1374629"/>
            <a:chOff x="0" y="0"/>
            <a:chExt cx="13160468" cy="1374629"/>
          </a:xfrm>
        </p:grpSpPr>
        <p:sp>
          <p:nvSpPr>
            <p:cNvPr id="445022407" name=""/>
            <p:cNvSpPr/>
            <p:nvPr/>
          </p:nvSpPr>
          <p:spPr bwMode="auto">
            <a:xfrm rot="0" flipH="0" flipV="0">
              <a:off x="979066" y="3029"/>
              <a:ext cx="12181401" cy="1371599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999019048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340157704" name=""/>
          <p:cNvSpPr txBox="1"/>
          <p:nvPr/>
        </p:nvSpPr>
        <p:spPr bwMode="auto">
          <a:xfrm rot="0" flipH="0" flipV="0">
            <a:off x="1197618" y="281766"/>
            <a:ext cx="981367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48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318052817" name=""/>
          <p:cNvSpPr txBox="1"/>
          <p:nvPr/>
        </p:nvSpPr>
        <p:spPr bwMode="auto">
          <a:xfrm rot="0" flipH="0" flipV="0">
            <a:off x="2580423" y="1648795"/>
            <a:ext cx="703906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sp>
        <p:nvSpPr>
          <p:cNvPr id="1724101860" name=""/>
          <p:cNvSpPr txBox="1"/>
          <p:nvPr/>
        </p:nvSpPr>
        <p:spPr bwMode="auto">
          <a:xfrm rot="0" flipH="0" flipV="0">
            <a:off x="2732823" y="3018853"/>
            <a:ext cx="704482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Mono"/>
                <a:ea typeface="3270 Nerd Font Mono"/>
                <a:cs typeface="3270 Nerd Font Mono"/>
              </a:rPr>
              <a:t>SQL Injection</a:t>
            </a:r>
            <a:endParaRPr sz="4800" b="1">
              <a:solidFill>
                <a:srgbClr val="92D050"/>
              </a:solidFill>
              <a:latin typeface="3270 Nerd Font Mono"/>
              <a:cs typeface="3270 Nerd Font Mono"/>
            </a:endParaRPr>
          </a:p>
        </p:txBody>
      </p:sp>
      <p:sp>
        <p:nvSpPr>
          <p:cNvPr id="988822925" name=""/>
          <p:cNvSpPr txBox="1"/>
          <p:nvPr/>
        </p:nvSpPr>
        <p:spPr bwMode="auto">
          <a:xfrm rot="0" flipH="0" flipV="0">
            <a:off x="2732823" y="4386042"/>
            <a:ext cx="704914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Mono"/>
                <a:ea typeface="3270 Nerd Font Mono"/>
                <a:cs typeface="3270 Nerd Font Mono"/>
              </a:rPr>
              <a:t>Dos / DDoS</a:t>
            </a:r>
            <a:endParaRPr sz="4800" b="1">
              <a:solidFill>
                <a:srgbClr val="00B0F0"/>
              </a:solidFill>
              <a:latin typeface="3270 Nerd Font Mono"/>
              <a:cs typeface="3270 Nerd Font Mono"/>
            </a:endParaRPr>
          </a:p>
        </p:txBody>
      </p:sp>
      <p:sp>
        <p:nvSpPr>
          <p:cNvPr id="734793049" name=""/>
          <p:cNvSpPr txBox="1"/>
          <p:nvPr/>
        </p:nvSpPr>
        <p:spPr bwMode="auto">
          <a:xfrm rot="0" flipH="0" flipV="0">
            <a:off x="2732823" y="5756260"/>
            <a:ext cx="705598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Mono"/>
                <a:ea typeface="3270 Nerd Font Mono"/>
                <a:cs typeface="3270 Nerd Font Mono"/>
              </a:rPr>
              <a:t>Man in the Middle</a:t>
            </a:r>
            <a:endParaRPr sz="4800" b="1">
              <a:solidFill>
                <a:srgbClr val="4750FF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58065" name="Rectangle 1407440435"/>
          <p:cNvSpPr/>
          <p:nvPr/>
        </p:nvSpPr>
        <p:spPr bwMode="auto">
          <a:xfrm rot="0" flipH="0" flipV="0">
            <a:off x="0" y="914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1401632671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189523911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11991399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908546490" name=""/>
          <p:cNvGrpSpPr/>
          <p:nvPr/>
        </p:nvGrpSpPr>
        <p:grpSpPr bwMode="auto">
          <a:xfrm>
            <a:off x="9675144" y="1368568"/>
            <a:ext cx="13160467" cy="1383772"/>
            <a:chOff x="0" y="0"/>
            <a:chExt cx="13160467" cy="1383772"/>
          </a:xfrm>
        </p:grpSpPr>
        <p:sp>
          <p:nvSpPr>
            <p:cNvPr id="206271557" name=""/>
            <p:cNvSpPr/>
            <p:nvPr/>
          </p:nvSpPr>
          <p:spPr bwMode="auto">
            <a:xfrm rot="0" flipH="0" flipV="0">
              <a:off x="0" y="1217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0005382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831736645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2118156290" name=""/>
            <p:cNvSpPr/>
            <p:nvPr/>
          </p:nvSpPr>
          <p:spPr bwMode="auto">
            <a:xfrm rot="0" flipH="0" flipV="0">
              <a:off x="1006528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078486488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003652675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683841512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080655737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936246392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2127200756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38910024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807942016" name=""/>
          <p:cNvSpPr txBox="1"/>
          <p:nvPr/>
        </p:nvSpPr>
        <p:spPr bwMode="auto">
          <a:xfrm rot="0" flipH="0" flipV="0">
            <a:off x="221728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611174560" name=""/>
          <p:cNvSpPr txBox="1"/>
          <p:nvPr/>
        </p:nvSpPr>
        <p:spPr bwMode="auto">
          <a:xfrm rot="0" flipH="0" flipV="0">
            <a:off x="12200673" y="1648794"/>
            <a:ext cx="7039426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48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sp>
        <p:nvSpPr>
          <p:cNvPr id="1149429643" name=""/>
          <p:cNvSpPr txBox="1"/>
          <p:nvPr/>
        </p:nvSpPr>
        <p:spPr bwMode="auto">
          <a:xfrm rot="0" flipH="0" flipV="0">
            <a:off x="-7268423" y="3018853"/>
            <a:ext cx="7045185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92D050"/>
                </a:solidFill>
                <a:latin typeface="3270 Nerd Font Mono"/>
                <a:ea typeface="3270 Nerd Font Mono"/>
                <a:cs typeface="3270 Nerd Font Mono"/>
              </a:rPr>
              <a:t>SQL Injection</a:t>
            </a:r>
            <a:endParaRPr sz="4800" b="1">
              <a:solidFill>
                <a:srgbClr val="92D050"/>
              </a:solidFill>
              <a:latin typeface="3270 Nerd Font Mono"/>
              <a:cs typeface="3270 Nerd Font Mono"/>
            </a:endParaRPr>
          </a:p>
        </p:txBody>
      </p:sp>
      <p:sp>
        <p:nvSpPr>
          <p:cNvPr id="1196192018" name=""/>
          <p:cNvSpPr txBox="1"/>
          <p:nvPr/>
        </p:nvSpPr>
        <p:spPr bwMode="auto">
          <a:xfrm rot="0" flipH="0" flipV="0">
            <a:off x="12353073" y="4386042"/>
            <a:ext cx="7049505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00B0F0"/>
                </a:solidFill>
                <a:latin typeface="3270 Nerd Font Mono"/>
                <a:ea typeface="3270 Nerd Font Mono"/>
                <a:cs typeface="3270 Nerd Font Mono"/>
              </a:rPr>
              <a:t>Dos / DDoS</a:t>
            </a:r>
            <a:endParaRPr sz="4800" b="1">
              <a:solidFill>
                <a:srgbClr val="00B0F0"/>
              </a:solidFill>
              <a:latin typeface="3270 Nerd Font Mono"/>
              <a:cs typeface="3270 Nerd Font Mono"/>
            </a:endParaRPr>
          </a:p>
        </p:txBody>
      </p:sp>
      <p:sp>
        <p:nvSpPr>
          <p:cNvPr id="834625246" name=""/>
          <p:cNvSpPr txBox="1"/>
          <p:nvPr/>
        </p:nvSpPr>
        <p:spPr bwMode="auto">
          <a:xfrm rot="0" flipH="0" flipV="0">
            <a:off x="-7268423" y="5756260"/>
            <a:ext cx="7057065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>
                <a:solidFill>
                  <a:srgbClr val="4750FF"/>
                </a:solidFill>
                <a:latin typeface="3270 Nerd Font Mono"/>
                <a:ea typeface="3270 Nerd Font Mono"/>
                <a:cs typeface="3270 Nerd Font Mono"/>
              </a:rPr>
              <a:t>Man in the Middle</a:t>
            </a:r>
            <a:endParaRPr sz="4800" b="1">
              <a:solidFill>
                <a:srgbClr val="4750FF"/>
              </a:solidFill>
              <a:latin typeface="3270 Nerd Font Mono"/>
              <a:cs typeface="3270 Nerd Font Mono"/>
            </a:endParaRPr>
          </a:p>
        </p:txBody>
      </p:sp>
      <p:sp>
        <p:nvSpPr>
          <p:cNvPr id="1722088170" name=""/>
          <p:cNvSpPr txBox="1"/>
          <p:nvPr/>
        </p:nvSpPr>
        <p:spPr bwMode="auto">
          <a:xfrm rot="0" flipH="0" flipV="0">
            <a:off x="807585" y="1579887"/>
            <a:ext cx="10469409" cy="2225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XSS adalah serangan yang memanfaatkan form input yang belum divalidasi website dengan cara menyisipkan kode berbahaya</a:t>
            </a: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 pada form tersebut dimana kode tersebut kemudian dibaca dan dijalankan website untuk user lain.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235241141" name=""/>
          <p:cNvSpPr txBox="1"/>
          <p:nvPr/>
        </p:nvSpPr>
        <p:spPr bwMode="auto">
          <a:xfrm rot="0" flipH="0" flipV="0">
            <a:off x="583713" y="3565076"/>
            <a:ext cx="1911384" cy="1189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Contoh :</a:t>
            </a:r>
            <a:endParaRPr sz="3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grpSp>
        <p:nvGrpSpPr>
          <p:cNvPr id="588615241" name=""/>
          <p:cNvGrpSpPr/>
          <p:nvPr/>
        </p:nvGrpSpPr>
        <p:grpSpPr bwMode="auto">
          <a:xfrm>
            <a:off x="5811466" y="4490355"/>
            <a:ext cx="8617226" cy="1932212"/>
            <a:chOff x="0" y="0"/>
            <a:chExt cx="8617226" cy="1932212"/>
          </a:xfrm>
        </p:grpSpPr>
        <p:sp>
          <p:nvSpPr>
            <p:cNvPr id="2139479999" name=""/>
            <p:cNvSpPr/>
            <p:nvPr/>
          </p:nvSpPr>
          <p:spPr bwMode="auto">
            <a:xfrm rot="0" flipH="0" flipV="0">
              <a:off x="0" y="0"/>
              <a:ext cx="5953124" cy="1932213"/>
            </a:xfrm>
            <a:prstGeom prst="rect">
              <a:avLst/>
            </a:prstGeom>
            <a:noFill/>
            <a:ln w="57150" cap="flat" cmpd="sng" algn="ctr">
              <a:solidFill>
                <a:srgbClr val="FFFFFF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66384777" name=""/>
            <p:cNvSpPr txBox="1"/>
            <p:nvPr/>
          </p:nvSpPr>
          <p:spPr bwMode="auto">
            <a:xfrm rot="0" flipH="0" flipV="0">
              <a:off x="1686915" y="125190"/>
              <a:ext cx="2580372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8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XSS Pada URL </a:t>
              </a:r>
              <a:endParaRPr sz="28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sp>
          <p:nvSpPr>
            <p:cNvPr id="1117681691" name=""/>
            <p:cNvSpPr txBox="1"/>
            <p:nvPr/>
          </p:nvSpPr>
          <p:spPr bwMode="auto">
            <a:xfrm rot="0" flipH="0" flipV="0">
              <a:off x="337619" y="1048122"/>
              <a:ext cx="8279606" cy="3661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l">
                <a:defRPr/>
              </a:pPr>
              <a:r>
                <a:rPr sz="18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alamat.com/#&lt;script&gt;alert(“XSS”)&lt;/script&gt;</a:t>
              </a:r>
              <a:endParaRPr sz="18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854272998" name=""/>
          <p:cNvGrpSpPr/>
          <p:nvPr/>
        </p:nvGrpSpPr>
        <p:grpSpPr bwMode="auto">
          <a:xfrm>
            <a:off x="695355" y="4490355"/>
            <a:ext cx="4218212" cy="1932212"/>
            <a:chOff x="0" y="0"/>
            <a:chExt cx="4218212" cy="1932212"/>
          </a:xfrm>
        </p:grpSpPr>
        <p:sp>
          <p:nvSpPr>
            <p:cNvPr id="1735776371" name=""/>
            <p:cNvSpPr txBox="1"/>
            <p:nvPr/>
          </p:nvSpPr>
          <p:spPr bwMode="auto">
            <a:xfrm rot="0" flipH="0" flipV="0">
              <a:off x="180264" y="659024"/>
              <a:ext cx="1862963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just">
                <a:defRPr/>
              </a:pPr>
              <a:r>
                <a:rPr sz="2400" b="1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username : </a:t>
              </a:r>
              <a:endParaRPr sz="24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661727550" name=""/>
            <p:cNvSpPr/>
            <p:nvPr/>
          </p:nvSpPr>
          <p:spPr bwMode="auto">
            <a:xfrm rot="0" flipH="0" flipV="0">
              <a:off x="227016" y="1229176"/>
              <a:ext cx="3528552" cy="380999"/>
            </a:xfrm>
            <a:prstGeom prst="flowChartAlternateProcess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l">
                <a:defRPr/>
              </a:pPr>
              <a:r>
                <a:rPr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&lt;script&gt;alert(“XSS”)&lt;/script&gt;</a:t>
              </a:r>
              <a:endParaRPr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sp>
          <p:nvSpPr>
            <p:cNvPr id="1885323825" name=""/>
            <p:cNvSpPr txBox="1"/>
            <p:nvPr/>
          </p:nvSpPr>
          <p:spPr bwMode="auto">
            <a:xfrm rot="0" flipH="0" flipV="0">
              <a:off x="378795" y="125190"/>
              <a:ext cx="3463137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8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XSS Pada Form </a:t>
              </a:r>
              <a:endParaRPr sz="28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sp>
          <p:nvSpPr>
            <p:cNvPr id="909222848" name=""/>
            <p:cNvSpPr/>
            <p:nvPr/>
          </p:nvSpPr>
          <p:spPr bwMode="auto">
            <a:xfrm rot="0" flipH="0" flipV="0">
              <a:off x="0" y="0"/>
              <a:ext cx="4218213" cy="1932213"/>
            </a:xfrm>
            <a:prstGeom prst="rect">
              <a:avLst/>
            </a:prstGeom>
            <a:noFill/>
            <a:ln w="57150" cap="flat" cmpd="sng" algn="ctr">
              <a:solidFill>
                <a:srgbClr val="FFFFFF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088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9" dur="500"/>
                                        <p:tgtEl>
                                          <p:spTgt spid="1722088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24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6" dur="500"/>
                                        <p:tgtEl>
                                          <p:spTgt spid="1235241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615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3" dur="500"/>
                                        <p:tgtEl>
                                          <p:spTgt spid="588615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4272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0" dur="500"/>
                                        <p:tgtEl>
                                          <p:spTgt spid="18542729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722088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2088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235241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524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588615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8615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8542729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54272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892193" name="Rectangle 1407440435"/>
          <p:cNvSpPr/>
          <p:nvPr/>
        </p:nvSpPr>
        <p:spPr bwMode="auto">
          <a:xfrm rot="0" flipH="0" flipV="0">
            <a:off x="0" y="9141"/>
            <a:ext cx="12201201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1890269772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37917233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692398552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86870290" name=""/>
          <p:cNvGrpSpPr/>
          <p:nvPr/>
        </p:nvGrpSpPr>
        <p:grpSpPr bwMode="auto">
          <a:xfrm>
            <a:off x="9675144" y="1368568"/>
            <a:ext cx="13160467" cy="1383772"/>
            <a:chOff x="0" y="0"/>
            <a:chExt cx="13160467" cy="1383772"/>
          </a:xfrm>
        </p:grpSpPr>
        <p:sp>
          <p:nvSpPr>
            <p:cNvPr id="643039984" name=""/>
            <p:cNvSpPr/>
            <p:nvPr/>
          </p:nvSpPr>
          <p:spPr bwMode="auto">
            <a:xfrm rot="0" flipH="0" flipV="0">
              <a:off x="0" y="1217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649807446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30928441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410306143" name=""/>
            <p:cNvSpPr/>
            <p:nvPr/>
          </p:nvSpPr>
          <p:spPr bwMode="auto">
            <a:xfrm rot="0" flipH="0" flipV="0">
              <a:off x="1006528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03666730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39351869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1252595114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16077733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552489685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1684809240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957465993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475068345" name=""/>
          <p:cNvSpPr txBox="1"/>
          <p:nvPr/>
        </p:nvSpPr>
        <p:spPr bwMode="auto">
          <a:xfrm rot="0" flipH="0" flipV="0">
            <a:off x="221728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grpSp>
        <p:nvGrpSpPr>
          <p:cNvPr id="1024731774" name=""/>
          <p:cNvGrpSpPr/>
          <p:nvPr/>
        </p:nvGrpSpPr>
        <p:grpSpPr bwMode="auto">
          <a:xfrm>
            <a:off x="727304" y="1224641"/>
            <a:ext cx="3252825" cy="5197927"/>
            <a:chOff x="0" y="0"/>
            <a:chExt cx="3252825" cy="5197927"/>
          </a:xfrm>
        </p:grpSpPr>
        <p:sp>
          <p:nvSpPr>
            <p:cNvPr id="1064402117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rgbClr val="A62D2D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pic>
          <p:nvPicPr>
            <p:cNvPr id="475590664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1265267" y="148702"/>
              <a:ext cx="721569" cy="817403"/>
            </a:xfrm>
            <a:prstGeom prst="rect">
              <a:avLst/>
            </a:prstGeom>
          </p:spPr>
        </p:pic>
        <p:sp>
          <p:nvSpPr>
            <p:cNvPr id="1119290939" name=""/>
            <p:cNvSpPr txBox="1"/>
            <p:nvPr/>
          </p:nvSpPr>
          <p:spPr bwMode="auto">
            <a:xfrm rot="0" flipH="0" flipV="0">
              <a:off x="306126" y="1106723"/>
              <a:ext cx="264057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Storage XSS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sp>
          <p:nvSpPr>
            <p:cNvPr id="2060155184" name=""/>
            <p:cNvSpPr txBox="1"/>
            <p:nvPr/>
          </p:nvSpPr>
          <p:spPr bwMode="auto">
            <a:xfrm rot="0" flipH="0" flipV="0">
              <a:off x="718" y="1871443"/>
              <a:ext cx="3252106" cy="246923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XSS Tersimpan Pada Penyimpanan Server dan Dijalankan Ketika User Lain Mengakses Website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970075965" name=""/>
          <p:cNvGrpSpPr/>
          <p:nvPr/>
        </p:nvGrpSpPr>
        <p:grpSpPr bwMode="auto">
          <a:xfrm>
            <a:off x="4446491" y="1224641"/>
            <a:ext cx="3252105" cy="5197927"/>
            <a:chOff x="0" y="0"/>
            <a:chExt cx="3252105" cy="5197927"/>
          </a:xfrm>
        </p:grpSpPr>
        <p:sp>
          <p:nvSpPr>
            <p:cNvPr id="1944058859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pic>
          <p:nvPicPr>
            <p:cNvPr id="324422878" name="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 flipH="1" flipV="0">
              <a:off x="1218210" y="148702"/>
              <a:ext cx="800081" cy="817403"/>
            </a:xfrm>
            <a:prstGeom prst="rect">
              <a:avLst/>
            </a:prstGeom>
          </p:spPr>
        </p:pic>
        <p:sp>
          <p:nvSpPr>
            <p:cNvPr id="973686314" name=""/>
            <p:cNvSpPr txBox="1"/>
            <p:nvPr/>
          </p:nvSpPr>
          <p:spPr bwMode="auto">
            <a:xfrm rot="0" flipH="0" flipV="0">
              <a:off x="337680" y="1106723"/>
              <a:ext cx="264705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tx1"/>
                  </a:solidFill>
                  <a:latin typeface="3270 Nerd Font Mono"/>
                  <a:ea typeface="3270 Nerd Font Mono"/>
                  <a:cs typeface="3270 Nerd Font Mono"/>
                </a:rPr>
                <a:t>Reflected XSS</a:t>
              </a:r>
              <a:endParaRPr sz="2600" b="1">
                <a:solidFill>
                  <a:schemeClr val="tx1"/>
                </a:solidFill>
                <a:latin typeface="3270 Nerd Font Mono"/>
                <a:cs typeface="3270 Nerd Font Mono"/>
              </a:endParaRPr>
            </a:p>
          </p:txBody>
        </p:sp>
        <p:sp>
          <p:nvSpPr>
            <p:cNvPr id="1447022080" name=""/>
            <p:cNvSpPr txBox="1"/>
            <p:nvPr/>
          </p:nvSpPr>
          <p:spPr bwMode="auto">
            <a:xfrm rot="0" flipH="0" flipV="0">
              <a:off x="279965" y="1871443"/>
              <a:ext cx="2689893" cy="22863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400" b="1">
                  <a:solidFill>
                    <a:schemeClr val="tx1"/>
                  </a:solidFill>
                  <a:latin typeface="3270 Nerd Font Mono"/>
                  <a:ea typeface="3270 Nerd Font Mono"/>
                  <a:cs typeface="3270 Nerd Font Mono"/>
                </a:rPr>
                <a:t>XSS Tersimpan </a:t>
              </a:r>
              <a:r>
                <a:rPr sz="2400" b="1">
                  <a:solidFill>
                    <a:schemeClr val="tx1"/>
                  </a:solidFill>
                  <a:latin typeface="3270 Nerd Font Mono"/>
                  <a:ea typeface="3270 Nerd Font Mono"/>
                  <a:cs typeface="3270 Nerd Font Mono"/>
                </a:rPr>
                <a:t>Pada Url Website Dan Akan Dijalankan  Ketika Url  Tersebut Dimuat</a:t>
              </a:r>
              <a:endParaRPr sz="2400" b="1">
                <a:solidFill>
                  <a:schemeClr val="tx1"/>
                </a:solidFill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457190544" name=""/>
          <p:cNvGrpSpPr/>
          <p:nvPr/>
        </p:nvGrpSpPr>
        <p:grpSpPr bwMode="auto">
          <a:xfrm>
            <a:off x="8180797" y="1224641"/>
            <a:ext cx="3252105" cy="5197927"/>
            <a:chOff x="0" y="0"/>
            <a:chExt cx="3252105" cy="5197927"/>
          </a:xfrm>
        </p:grpSpPr>
        <p:sp>
          <p:nvSpPr>
            <p:cNvPr id="63845239" name=""/>
            <p:cNvSpPr/>
            <p:nvPr/>
          </p:nvSpPr>
          <p:spPr bwMode="auto">
            <a:xfrm rot="0" flipH="0" flipV="0">
              <a:off x="0" y="0"/>
              <a:ext cx="3252106" cy="5197928"/>
            </a:xfrm>
            <a:prstGeom prst="flowChartAlternateProcess">
              <a:avLst/>
            </a:prstGeom>
            <a:solidFill>
              <a:srgbClr val="A62D2D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pic>
          <p:nvPicPr>
            <p:cNvPr id="405799876" name="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 flipH="1" flipV="0">
              <a:off x="1174975" y="148702"/>
              <a:ext cx="902153" cy="902153"/>
            </a:xfrm>
            <a:prstGeom prst="rect">
              <a:avLst/>
            </a:prstGeom>
          </p:spPr>
        </p:pic>
        <p:sp>
          <p:nvSpPr>
            <p:cNvPr id="284839609" name=""/>
            <p:cNvSpPr txBox="1"/>
            <p:nvPr/>
          </p:nvSpPr>
          <p:spPr bwMode="auto">
            <a:xfrm rot="0" flipH="0" flipV="0">
              <a:off x="302886" y="1106723"/>
              <a:ext cx="2651013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DOM Based XSS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sp>
          <p:nvSpPr>
            <p:cNvPr id="1305344708" name=""/>
            <p:cNvSpPr txBox="1"/>
            <p:nvPr/>
          </p:nvSpPr>
          <p:spPr bwMode="auto">
            <a:xfrm rot="0" flipH="0" flipV="0">
              <a:off x="287766" y="1871443"/>
              <a:ext cx="2698533" cy="246923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XSS Tersimpan Pada Client Side Browser Sehingga Sulit Terdeteksi Oleh Server 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7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0075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xit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" dur="500"/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7190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796418" name="Rectangle 1407440435"/>
          <p:cNvSpPr/>
          <p:nvPr/>
        </p:nvSpPr>
        <p:spPr bwMode="auto">
          <a:xfrm rot="0" flipH="0" flipV="0">
            <a:off x="0" y="9141"/>
            <a:ext cx="12237836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214790062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1969287316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29370503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915423444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1811671655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10744843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44279433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1878743295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071537502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254802325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597817375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764691916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865362773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310676178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737930149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953050724" name=""/>
          <p:cNvSpPr txBox="1"/>
          <p:nvPr/>
        </p:nvSpPr>
        <p:spPr bwMode="auto">
          <a:xfrm rot="0" flipH="0" flipV="0">
            <a:off x="2217285" y="281765"/>
            <a:ext cx="777434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811940563" name=""/>
          <p:cNvSpPr txBox="1"/>
          <p:nvPr/>
        </p:nvSpPr>
        <p:spPr bwMode="auto">
          <a:xfrm rot="0" flipH="0" flipV="0">
            <a:off x="496190" y="1320626"/>
            <a:ext cx="518488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Contoh Kasus Serangan XSS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625868333" name=""/>
          <p:cNvSpPr txBox="1"/>
          <p:nvPr/>
        </p:nvSpPr>
        <p:spPr bwMode="auto">
          <a:xfrm rot="0" flipH="0" flipV="0">
            <a:off x="557003" y="1991546"/>
            <a:ext cx="7999888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Tahun 2019, Seorang Penelity Cybersecurity Bernama Gel Weizman Menemukan Kerentanan XSS Pada Whatsapp Web Yang Mampu Menyebabkan Serangan XSS Terus Menurus Melalui Open Redirect.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429908938" name=""/>
          <p:cNvSpPr txBox="1"/>
          <p:nvPr/>
        </p:nvSpPr>
        <p:spPr bwMode="auto">
          <a:xfrm rot="0" flipH="0" flipV="0">
            <a:off x="557003" y="4216946"/>
            <a:ext cx="7999200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Kerentanan Ini Disebabkan Oleh Konfigurasi File Content Security Policy (CSP)</a:t>
            </a: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 Yang Tidak Benar</a:t>
            </a:r>
            <a:r>
              <a:rPr sz="2600" b="1">
                <a:solidFill>
                  <a:schemeClr val="bg1"/>
                </a:solidFill>
                <a:latin typeface="3270 Nerd Font Mono"/>
                <a:cs typeface="3270 Nerd Font Mono"/>
              </a:rPr>
              <a:t> Yang Memungkinkan Penyerang Menyisipkan Malicious Code Pada Server Whatsapp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159837031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048749" y="2449479"/>
            <a:ext cx="2474825" cy="24748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1940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9" dur="500"/>
                                        <p:tgtEl>
                                          <p:spTgt spid="1811940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868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6" dur="500"/>
                                        <p:tgtEl>
                                          <p:spTgt spid="625868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9908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3" dur="500"/>
                                        <p:tgtEl>
                                          <p:spTgt spid="1429908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8370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0" dur="500"/>
                                        <p:tgtEl>
                                          <p:spTgt spid="1598370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8119405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1940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6258683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5868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4299089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9908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5983703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8370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554871" name="Rectangle 1407440435"/>
          <p:cNvSpPr/>
          <p:nvPr/>
        </p:nvSpPr>
        <p:spPr bwMode="auto">
          <a:xfrm rot="0" flipH="0" flipV="0">
            <a:off x="-14537" y="90784"/>
            <a:ext cx="12221075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1408440190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381392727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951669710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624657527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564766430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502890897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359530366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1213339875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92072360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368708420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1399707344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870036917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1085469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1552438749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899500419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669018598" name=""/>
          <p:cNvSpPr txBox="1"/>
          <p:nvPr/>
        </p:nvSpPr>
        <p:spPr bwMode="auto">
          <a:xfrm rot="0" flipH="0" flipV="0">
            <a:off x="2217285" y="281765"/>
            <a:ext cx="777434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420359191" name=""/>
          <p:cNvSpPr txBox="1"/>
          <p:nvPr/>
        </p:nvSpPr>
        <p:spPr bwMode="auto">
          <a:xfrm rot="0" flipH="0" flipV="0">
            <a:off x="496189" y="1229040"/>
            <a:ext cx="644938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Cara Mengatasi Serangan XSS</a:t>
            </a:r>
            <a:r>
              <a:rPr sz="2800" b="1">
                <a:solidFill>
                  <a:schemeClr val="bg1"/>
                </a:solidFill>
                <a:latin typeface="3270 Nerd Font Mono"/>
                <a:cs typeface="3270 Nerd Font Mono"/>
              </a:rPr>
              <a:t> :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grpSp>
        <p:nvGrpSpPr>
          <p:cNvPr id="799993189" name=""/>
          <p:cNvGrpSpPr/>
          <p:nvPr/>
        </p:nvGrpSpPr>
        <p:grpSpPr bwMode="auto">
          <a:xfrm>
            <a:off x="662792" y="1985911"/>
            <a:ext cx="10512527" cy="1280520"/>
            <a:chOff x="0" y="0"/>
            <a:chExt cx="10512527" cy="1280520"/>
          </a:xfrm>
        </p:grpSpPr>
        <p:sp>
          <p:nvSpPr>
            <p:cNvPr id="2081156265" name=""/>
            <p:cNvSpPr txBox="1"/>
            <p:nvPr/>
          </p:nvSpPr>
          <p:spPr bwMode="auto">
            <a:xfrm rot="0" flipH="0" flipV="0">
              <a:off x="1687410" y="0"/>
              <a:ext cx="8825116" cy="12805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Form Validation :</a:t>
              </a:r>
              <a:endPara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endParaRPr>
            </a:p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Validasi Input Apakah Hanya Berisi Karakter Yang Ditentukan (Angka, Alphabet, dll)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pic>
          <p:nvPicPr>
            <p:cNvPr id="1422867372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0" y="21179"/>
              <a:ext cx="1238160" cy="1238160"/>
            </a:xfrm>
            <a:prstGeom prst="rect">
              <a:avLst/>
            </a:prstGeom>
          </p:spPr>
        </p:pic>
      </p:grpSp>
      <p:grpSp>
        <p:nvGrpSpPr>
          <p:cNvPr id="839061655" name=""/>
          <p:cNvGrpSpPr/>
          <p:nvPr/>
        </p:nvGrpSpPr>
        <p:grpSpPr bwMode="auto">
          <a:xfrm>
            <a:off x="754378" y="3579517"/>
            <a:ext cx="10554647" cy="1280519"/>
            <a:chOff x="0" y="0"/>
            <a:chExt cx="10554647" cy="1280519"/>
          </a:xfrm>
        </p:grpSpPr>
        <p:sp>
          <p:nvSpPr>
            <p:cNvPr id="1964430303" name=""/>
            <p:cNvSpPr txBox="1"/>
            <p:nvPr/>
          </p:nvSpPr>
          <p:spPr bwMode="auto">
            <a:xfrm rot="0" flipH="0" flipV="0">
              <a:off x="1687410" y="0"/>
              <a:ext cx="8867236" cy="12805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Enkripsi Output :</a:t>
              </a:r>
              <a:endPara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endParaRPr>
            </a:p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ea typeface="3270 Nerd Font Mono"/>
                  <a:cs typeface="3270 Nerd Font Mono"/>
                </a:rPr>
                <a:t>Perubahan Bentuk Output Data Sehingga Tidak Bisa Dibaca Tanpa Key Yang Sesuai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pic>
          <p:nvPicPr>
            <p:cNvPr id="651557917" name="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 flipH="0" flipV="0">
              <a:off x="0" y="118291"/>
              <a:ext cx="1096560" cy="1096560"/>
            </a:xfrm>
            <a:prstGeom prst="rect">
              <a:avLst/>
            </a:prstGeom>
          </p:spPr>
        </p:pic>
      </p:grpSp>
      <p:grpSp>
        <p:nvGrpSpPr>
          <p:cNvPr id="331630096" name=""/>
          <p:cNvGrpSpPr/>
          <p:nvPr/>
        </p:nvGrpSpPr>
        <p:grpSpPr bwMode="auto">
          <a:xfrm>
            <a:off x="707516" y="5171769"/>
            <a:ext cx="10638590" cy="1281872"/>
            <a:chOff x="0" y="0"/>
            <a:chExt cx="10638590" cy="1281872"/>
          </a:xfrm>
        </p:grpSpPr>
        <p:sp>
          <p:nvSpPr>
            <p:cNvPr id="623405897" name=""/>
            <p:cNvSpPr txBox="1"/>
            <p:nvPr/>
          </p:nvSpPr>
          <p:spPr bwMode="auto">
            <a:xfrm rot="0" flipH="0" flipV="0">
              <a:off x="1734273" y="1352"/>
              <a:ext cx="8904316" cy="12805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cs typeface="3270 Nerd Font Mono"/>
                </a:rPr>
                <a:t>HTTP Cookie :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  <a:p>
              <a:pPr algn="just">
                <a:defRPr/>
              </a:pPr>
              <a:r>
                <a:rPr sz="2600" b="1">
                  <a:solidFill>
                    <a:schemeClr val="bg1"/>
                  </a:solidFill>
                  <a:latin typeface="3270 Nerd Font Mono"/>
                  <a:cs typeface="3270 Nerd Font Mono"/>
                </a:rPr>
                <a:t>Pengunaan HTTP Cookie Untuk Mencegah Javascript Mengakses Sesi Token</a:t>
              </a:r>
              <a:endParaRPr sz="2600" b="1">
                <a:solidFill>
                  <a:schemeClr val="bg1"/>
                </a:solidFill>
                <a:latin typeface="3270 Nerd Font Mono"/>
                <a:cs typeface="3270 Nerd Font Mono"/>
              </a:endParaRPr>
            </a:p>
          </p:txBody>
        </p:sp>
        <p:pic>
          <p:nvPicPr>
            <p:cNvPr id="230800146" name="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 flipH="0" flipV="0">
              <a:off x="0" y="0"/>
              <a:ext cx="1190286" cy="119028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359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9" dur="500"/>
                                        <p:tgtEl>
                                          <p:spTgt spid="1420359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5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993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6" dur="500"/>
                                        <p:tgtEl>
                                          <p:spTgt spid="799993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5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06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3" dur="500"/>
                                        <p:tgtEl>
                                          <p:spTgt spid="839061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5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630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0" dur="500"/>
                                        <p:tgtEl>
                                          <p:spTgt spid="33163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420359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0359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799993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9993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8390616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906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3316300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1630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414414" name="Rectangle 1407440435"/>
          <p:cNvSpPr/>
          <p:nvPr/>
        </p:nvSpPr>
        <p:spPr bwMode="auto">
          <a:xfrm rot="0" flipH="0" flipV="0">
            <a:off x="0" y="9143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472000086" name=""/>
          <p:cNvGrpSpPr/>
          <p:nvPr/>
        </p:nvGrpSpPr>
        <p:grpSpPr bwMode="auto">
          <a:xfrm>
            <a:off x="-1003546" y="6112"/>
            <a:ext cx="13160468" cy="1374629"/>
            <a:chOff x="0" y="0"/>
            <a:chExt cx="13160468" cy="1374629"/>
          </a:xfrm>
        </p:grpSpPr>
        <p:sp>
          <p:nvSpPr>
            <p:cNvPr id="1298484964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777373834" name=""/>
            <p:cNvSpPr/>
            <p:nvPr/>
          </p:nvSpPr>
          <p:spPr bwMode="auto">
            <a:xfrm rot="0" flipH="1" flipV="1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683867778" name=""/>
          <p:cNvGrpSpPr/>
          <p:nvPr/>
        </p:nvGrpSpPr>
        <p:grpSpPr bwMode="auto">
          <a:xfrm>
            <a:off x="9675144" y="1368568"/>
            <a:ext cx="13160467" cy="1383772"/>
            <a:chOff x="0" y="0"/>
            <a:chExt cx="13160467" cy="1383772"/>
          </a:xfrm>
        </p:grpSpPr>
        <p:sp>
          <p:nvSpPr>
            <p:cNvPr id="168927861" name=""/>
            <p:cNvSpPr/>
            <p:nvPr/>
          </p:nvSpPr>
          <p:spPr bwMode="auto">
            <a:xfrm rot="0" flipH="0" flipV="0">
              <a:off x="0" y="1217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418450612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57337561" name=""/>
          <p:cNvGrpSpPr/>
          <p:nvPr/>
        </p:nvGrpSpPr>
        <p:grpSpPr bwMode="auto">
          <a:xfrm>
            <a:off x="-11032259" y="2743200"/>
            <a:ext cx="13187931" cy="1374629"/>
            <a:chOff x="0" y="0"/>
            <a:chExt cx="13187931" cy="1374629"/>
          </a:xfrm>
        </p:grpSpPr>
        <p:sp>
          <p:nvSpPr>
            <p:cNvPr id="770901522" name=""/>
            <p:cNvSpPr/>
            <p:nvPr/>
          </p:nvSpPr>
          <p:spPr bwMode="auto">
            <a:xfrm rot="0" flipH="0" flipV="0">
              <a:off x="1006528" y="0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542932169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554798591" name=""/>
          <p:cNvGrpSpPr/>
          <p:nvPr/>
        </p:nvGrpSpPr>
        <p:grpSpPr bwMode="auto">
          <a:xfrm>
            <a:off x="9675144" y="4109006"/>
            <a:ext cx="13160467" cy="1377391"/>
            <a:chOff x="0" y="0"/>
            <a:chExt cx="13160467" cy="1377391"/>
          </a:xfrm>
        </p:grpSpPr>
        <p:sp>
          <p:nvSpPr>
            <p:cNvPr id="1141411884" name=""/>
            <p:cNvSpPr/>
            <p:nvPr/>
          </p:nvSpPr>
          <p:spPr bwMode="auto">
            <a:xfrm rot="0" flipH="0" flipV="0">
              <a:off x="0" y="5791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845062941" name=""/>
            <p:cNvSpPr/>
            <p:nvPr/>
          </p:nvSpPr>
          <p:spPr bwMode="auto">
            <a:xfrm rot="0" flipH="0" flipV="1">
              <a:off x="12181401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056062885" name=""/>
          <p:cNvGrpSpPr/>
          <p:nvPr/>
        </p:nvGrpSpPr>
        <p:grpSpPr bwMode="auto">
          <a:xfrm>
            <a:off x="-11004795" y="5480606"/>
            <a:ext cx="13160467" cy="1374629"/>
            <a:chOff x="0" y="0"/>
            <a:chExt cx="13160467" cy="1374629"/>
          </a:xfrm>
        </p:grpSpPr>
        <p:sp>
          <p:nvSpPr>
            <p:cNvPr id="973042117" name=""/>
            <p:cNvSpPr/>
            <p:nvPr/>
          </p:nvSpPr>
          <p:spPr bwMode="auto">
            <a:xfrm rot="0" flipH="0" flipV="0">
              <a:off x="979066" y="3029"/>
              <a:ext cx="12181401" cy="137159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018591426" name=""/>
            <p:cNvSpPr/>
            <p:nvPr/>
          </p:nvSpPr>
          <p:spPr bwMode="auto">
            <a:xfrm rot="0" flipH="1" flipV="0">
              <a:off x="0" y="0"/>
              <a:ext cx="979066" cy="1374629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618048354" name=""/>
          <p:cNvSpPr txBox="1"/>
          <p:nvPr/>
        </p:nvSpPr>
        <p:spPr bwMode="auto">
          <a:xfrm rot="0" flipH="0" flipV="0">
            <a:off x="221728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680198247" name=""/>
          <p:cNvSpPr txBox="1"/>
          <p:nvPr/>
        </p:nvSpPr>
        <p:spPr bwMode="auto">
          <a:xfrm rot="0" flipH="0" flipV="0">
            <a:off x="13350999" y="281766"/>
            <a:ext cx="70401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36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pic>
        <p:nvPicPr>
          <p:cNvPr id="95479852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71537" y="8776510"/>
            <a:ext cx="2199951" cy="21999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503679" name="Rectangle 1407440435"/>
          <p:cNvSpPr/>
          <p:nvPr/>
        </p:nvSpPr>
        <p:spPr bwMode="auto">
          <a:xfrm rot="0" flipH="0" flipV="0">
            <a:off x="0" y="9141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875080208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1356351401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55053448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260184522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1290037514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474654745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894164977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1435897030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621337839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798870997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853289298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142865071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64573377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1055839756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865952472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504589032" name=""/>
          <p:cNvSpPr txBox="1"/>
          <p:nvPr/>
        </p:nvSpPr>
        <p:spPr bwMode="auto">
          <a:xfrm rot="0" flipH="0" flipV="0">
            <a:off x="-932261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50187929" name=""/>
          <p:cNvSpPr txBox="1"/>
          <p:nvPr/>
        </p:nvSpPr>
        <p:spPr bwMode="auto">
          <a:xfrm rot="0" flipH="0" flipV="0">
            <a:off x="2580422" y="281766"/>
            <a:ext cx="70397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36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pic>
        <p:nvPicPr>
          <p:cNvPr id="75875526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71537" y="4746702"/>
            <a:ext cx="2199951" cy="21999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01809" name="Rectangle 1407440435"/>
          <p:cNvSpPr/>
          <p:nvPr/>
        </p:nvSpPr>
        <p:spPr bwMode="auto">
          <a:xfrm rot="0" flipH="0" flipV="0">
            <a:off x="0" y="0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1470668456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1402916605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2124621906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021882080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455174124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356673108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721259147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1490127283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106402631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67265651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1212590628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835891981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746009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953806388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474824626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282380270" name=""/>
          <p:cNvSpPr txBox="1"/>
          <p:nvPr/>
        </p:nvSpPr>
        <p:spPr bwMode="auto">
          <a:xfrm rot="0" flipH="0" flipV="0">
            <a:off x="-932261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1054261172" name=""/>
          <p:cNvSpPr txBox="1"/>
          <p:nvPr/>
        </p:nvSpPr>
        <p:spPr bwMode="auto">
          <a:xfrm rot="0" flipH="0" flipV="0">
            <a:off x="2580422" y="281766"/>
            <a:ext cx="70397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36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sp>
        <p:nvSpPr>
          <p:cNvPr id="912149651" name=""/>
          <p:cNvSpPr txBox="1"/>
          <p:nvPr/>
        </p:nvSpPr>
        <p:spPr bwMode="auto">
          <a:xfrm rot="0" flipH="0" flipV="0">
            <a:off x="477873" y="1268492"/>
            <a:ext cx="10481288" cy="2225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Social Engineering adalah </a:t>
            </a: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teknik manipulasi psikologis yang memanfaatkan kelemahan kognitif manusia untuk memperoleh informasi sensitif atau hak akses sistem, tanpa memanfaatkan celah teknis yang signifikan.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296910636" name=""/>
          <p:cNvSpPr txBox="1"/>
          <p:nvPr/>
        </p:nvSpPr>
        <p:spPr bwMode="auto">
          <a:xfrm rot="0" flipH="0" flipV="0">
            <a:off x="538686" y="3692238"/>
            <a:ext cx="8054725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Contoh :</a:t>
            </a:r>
            <a:endParaRPr sz="2800" b="1">
              <a:solidFill>
                <a:schemeClr val="bg1"/>
              </a:solidFill>
              <a:latin typeface="3270 Nerd Font Mono"/>
              <a:ea typeface="3270 Nerd Font Mono"/>
              <a:cs typeface="3270 Nerd Font Mono"/>
            </a:endParaRPr>
          </a:p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Seorang Pelaku Social Engineering berpura-pura menjadi orang dekat korban untuk mendapatkan informasi sensitif umumnya menggunakan link atau file berbahaya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pic>
        <p:nvPicPr>
          <p:cNvPr id="35328076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71538" y="4746703"/>
            <a:ext cx="2199951" cy="21999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149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7" dur="500"/>
                                        <p:tgtEl>
                                          <p:spTgt spid="912149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9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4" dur="500"/>
                                        <p:tgtEl>
                                          <p:spTgt spid="1296910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10" dur="500"/>
                                        <p:tgtEl>
                                          <p:spTgt spid="9121496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2149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7" dur="500"/>
                                        <p:tgtEl>
                                          <p:spTgt spid="1296910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969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268314" name="Rectangle 1407440435"/>
          <p:cNvSpPr/>
          <p:nvPr/>
        </p:nvSpPr>
        <p:spPr bwMode="auto">
          <a:xfrm rot="0" flipH="0" flipV="0">
            <a:off x="0" y="0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897802966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927333298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440860725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160545236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1227188542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807945384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443808273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615569050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889995850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445302845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688375880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529815217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346105841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1180499100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906219253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1179134025" name=""/>
          <p:cNvSpPr txBox="1"/>
          <p:nvPr/>
        </p:nvSpPr>
        <p:spPr bwMode="auto">
          <a:xfrm rot="0" flipH="0" flipV="0">
            <a:off x="-932261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784504708" name=""/>
          <p:cNvSpPr txBox="1"/>
          <p:nvPr/>
        </p:nvSpPr>
        <p:spPr bwMode="auto">
          <a:xfrm rot="0" flipH="0" flipV="0">
            <a:off x="2580422" y="281766"/>
            <a:ext cx="70397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36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pic>
        <p:nvPicPr>
          <p:cNvPr id="111194585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71538" y="4746703"/>
            <a:ext cx="2199951" cy="2199951"/>
          </a:xfrm>
          <a:prstGeom prst="rect">
            <a:avLst/>
          </a:prstGeom>
        </p:spPr>
      </p:pic>
      <p:sp>
        <p:nvSpPr>
          <p:cNvPr id="945563494" name=""/>
          <p:cNvSpPr txBox="1"/>
          <p:nvPr/>
        </p:nvSpPr>
        <p:spPr bwMode="auto">
          <a:xfrm rot="0" flipH="0" flipV="0">
            <a:off x="496189" y="1320626"/>
            <a:ext cx="1027640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Contoh Kasus Serangan Social Engineering 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578604773" name=""/>
          <p:cNvSpPr txBox="1"/>
          <p:nvPr/>
        </p:nvSpPr>
        <p:spPr bwMode="auto">
          <a:xfrm rot="0" flipH="0" flipV="0">
            <a:off x="496189" y="1991546"/>
            <a:ext cx="10390883" cy="2072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Pada Tahun 2026, Seorang Wanita California Terkena Kasus Lovescam Dimana Pelaku Berpura-Pura Menjadi Seorang Artis Terkenal &amp; Membujuk Wanita Tersebut Untuk Memberikan Uang Korban Pada Pelaku. Pelaku Menggunakan Teknologi Deepfake Untuk Meyakinkan Korban.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227590988" name=""/>
          <p:cNvSpPr txBox="1"/>
          <p:nvPr/>
        </p:nvSpPr>
        <p:spPr bwMode="auto">
          <a:xfrm rot="0" flipH="0" flipV="0">
            <a:off x="496189" y="4216946"/>
            <a:ext cx="8488493" cy="1676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6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Hasilnya, Korban Kehilangan Sampai Dengan $81,000 Dan Menjual Rumahnya Karena Pelaku Berjanji Akan Membangun Hidup Baru Dengan Korban</a:t>
            </a:r>
            <a:endParaRPr sz="26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5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3" dur="500"/>
                                        <p:tgtEl>
                                          <p:spTgt spid="945563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604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0" dur="500"/>
                                        <p:tgtEl>
                                          <p:spTgt spid="5786047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590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7" dur="500"/>
                                        <p:tgtEl>
                                          <p:spTgt spid="1227590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4" presetClass="exit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9455634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55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5786047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8604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4" presetClass="exit" presetSubtype="5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vertical)">
                                      <p:cBhvr>
                                        <p:cTn id="6" dur="500"/>
                                        <p:tgtEl>
                                          <p:spTgt spid="12275909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7590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997507" name="Rectangle 1407440435"/>
          <p:cNvSpPr/>
          <p:nvPr/>
        </p:nvSpPr>
        <p:spPr bwMode="auto">
          <a:xfrm rot="0" flipH="0" flipV="0">
            <a:off x="0" y="0"/>
            <a:ext cx="12129489" cy="6846093"/>
          </a:xfrm>
          <a:prstGeom prst="rect">
            <a:avLst/>
          </a:prstGeom>
          <a:solidFill>
            <a:srgbClr val="000000">
              <a:alpha val="49999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3270 Nerd Font Mono"/>
              <a:cs typeface="3270 Nerd Font Mono"/>
            </a:endParaRPr>
          </a:p>
        </p:txBody>
      </p:sp>
      <p:grpSp>
        <p:nvGrpSpPr>
          <p:cNvPr id="452293059" name=""/>
          <p:cNvGrpSpPr/>
          <p:nvPr/>
        </p:nvGrpSpPr>
        <p:grpSpPr bwMode="auto">
          <a:xfrm>
            <a:off x="-1003545" y="6111"/>
            <a:ext cx="13160467" cy="1374627"/>
            <a:chOff x="0" y="0"/>
            <a:chExt cx="13160467" cy="1374627"/>
          </a:xfrm>
        </p:grpSpPr>
        <p:sp>
          <p:nvSpPr>
            <p:cNvPr id="2012460151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630684020" name=""/>
            <p:cNvSpPr/>
            <p:nvPr/>
          </p:nvSpPr>
          <p:spPr bwMode="auto">
            <a:xfrm rot="0" flipH="1" flipV="1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596307071" name=""/>
          <p:cNvGrpSpPr/>
          <p:nvPr/>
        </p:nvGrpSpPr>
        <p:grpSpPr bwMode="auto">
          <a:xfrm>
            <a:off x="9675144" y="1368567"/>
            <a:ext cx="13160465" cy="1383771"/>
            <a:chOff x="0" y="0"/>
            <a:chExt cx="13160465" cy="1383771"/>
          </a:xfrm>
        </p:grpSpPr>
        <p:sp>
          <p:nvSpPr>
            <p:cNvPr id="50101867" name=""/>
            <p:cNvSpPr/>
            <p:nvPr/>
          </p:nvSpPr>
          <p:spPr bwMode="auto">
            <a:xfrm rot="0" flipH="0" flipV="0">
              <a:off x="0" y="1217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59869788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chemeClr val="accent4">
                  <a:lumMod val="60000"/>
                  <a:lumOff val="4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994622974" name=""/>
          <p:cNvGrpSpPr/>
          <p:nvPr/>
        </p:nvGrpSpPr>
        <p:grpSpPr bwMode="auto">
          <a:xfrm>
            <a:off x="-11032258" y="2743200"/>
            <a:ext cx="13187930" cy="1374627"/>
            <a:chOff x="0" y="0"/>
            <a:chExt cx="13187930" cy="1374627"/>
          </a:xfrm>
        </p:grpSpPr>
        <p:sp>
          <p:nvSpPr>
            <p:cNvPr id="1853507433" name=""/>
            <p:cNvSpPr/>
            <p:nvPr/>
          </p:nvSpPr>
          <p:spPr bwMode="auto">
            <a:xfrm rot="0" flipH="0" flipV="0">
              <a:off x="1006527" y="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807730152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92D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839116716" name=""/>
          <p:cNvGrpSpPr/>
          <p:nvPr/>
        </p:nvGrpSpPr>
        <p:grpSpPr bwMode="auto">
          <a:xfrm>
            <a:off x="9675144" y="4109005"/>
            <a:ext cx="13160465" cy="1377390"/>
            <a:chOff x="0" y="0"/>
            <a:chExt cx="13160465" cy="1377390"/>
          </a:xfrm>
        </p:grpSpPr>
        <p:sp>
          <p:nvSpPr>
            <p:cNvPr id="1700606996" name=""/>
            <p:cNvSpPr/>
            <p:nvPr/>
          </p:nvSpPr>
          <p:spPr bwMode="auto">
            <a:xfrm rot="0" flipH="0" flipV="0">
              <a:off x="0" y="5790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1578332446" name=""/>
            <p:cNvSpPr/>
            <p:nvPr/>
          </p:nvSpPr>
          <p:spPr bwMode="auto">
            <a:xfrm rot="0" flipH="0" flipV="1">
              <a:off x="12181401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grpSp>
        <p:nvGrpSpPr>
          <p:cNvPr id="1928484223" name=""/>
          <p:cNvGrpSpPr/>
          <p:nvPr/>
        </p:nvGrpSpPr>
        <p:grpSpPr bwMode="auto">
          <a:xfrm>
            <a:off x="-11004795" y="5480605"/>
            <a:ext cx="13160465" cy="1374627"/>
            <a:chOff x="0" y="0"/>
            <a:chExt cx="13160465" cy="1374627"/>
          </a:xfrm>
        </p:grpSpPr>
        <p:sp>
          <p:nvSpPr>
            <p:cNvPr id="209842172" name=""/>
            <p:cNvSpPr/>
            <p:nvPr/>
          </p:nvSpPr>
          <p:spPr bwMode="auto">
            <a:xfrm rot="0" flipH="0" flipV="0">
              <a:off x="979065" y="3028"/>
              <a:ext cx="12181401" cy="1371597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  <p:sp>
          <p:nvSpPr>
            <p:cNvPr id="65914839" name=""/>
            <p:cNvSpPr/>
            <p:nvPr/>
          </p:nvSpPr>
          <p:spPr bwMode="auto">
            <a:xfrm rot="0" flipH="1" flipV="0">
              <a:off x="0" y="0"/>
              <a:ext cx="979065" cy="1374627"/>
            </a:xfrm>
            <a:prstGeom prst="chevron">
              <a:avLst>
                <a:gd name="adj" fmla="val 50000"/>
              </a:avLst>
            </a:prstGeom>
            <a:noFill/>
            <a:ln w="28575" cap="flat" cmpd="sng" algn="ctr">
              <a:solidFill>
                <a:srgbClr val="4750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>
                <a:latin typeface="3270 Nerd Font Mono"/>
                <a:cs typeface="3270 Nerd Font Mono"/>
              </a:endParaRPr>
            </a:p>
          </p:txBody>
        </p:sp>
      </p:grpSp>
      <p:sp>
        <p:nvSpPr>
          <p:cNvPr id="414375566" name=""/>
          <p:cNvSpPr txBox="1"/>
          <p:nvPr/>
        </p:nvSpPr>
        <p:spPr bwMode="auto">
          <a:xfrm rot="0" flipH="0" flipV="0">
            <a:off x="-9322616" y="281766"/>
            <a:ext cx="77743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rgbClr val="FF0000"/>
                </a:solidFill>
                <a:latin typeface="3270 Nerd Font Mono"/>
                <a:ea typeface="3270 Nerd Font Mono"/>
                <a:cs typeface="3270 Nerd Font Mono"/>
              </a:rPr>
              <a:t>Cross-Site Scripting (XSS)</a:t>
            </a:r>
            <a:endParaRPr sz="3600" b="1">
              <a:solidFill>
                <a:srgbClr val="FF0000"/>
              </a:solidFill>
              <a:latin typeface="3270 Nerd Font Mono"/>
              <a:cs typeface="3270 Nerd Font Mono"/>
            </a:endParaRPr>
          </a:p>
        </p:txBody>
      </p:sp>
      <p:sp>
        <p:nvSpPr>
          <p:cNvPr id="6366589" name=""/>
          <p:cNvSpPr txBox="1"/>
          <p:nvPr/>
        </p:nvSpPr>
        <p:spPr bwMode="auto">
          <a:xfrm rot="0" flipH="0" flipV="0">
            <a:off x="2580422" y="281766"/>
            <a:ext cx="703978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solidFill>
                  <a:schemeClr val="accent4">
                    <a:lumMod val="60000"/>
                    <a:lumOff val="40000"/>
                  </a:schemeClr>
                </a:solidFill>
                <a:latin typeface="3270 Nerd Font Mono"/>
                <a:ea typeface="3270 Nerd Font Mono"/>
                <a:cs typeface="3270 Nerd Font Mono"/>
              </a:rPr>
              <a:t>Social Engineering</a:t>
            </a:r>
            <a:endParaRPr sz="3600" b="1">
              <a:solidFill>
                <a:schemeClr val="accent4">
                  <a:lumMod val="60000"/>
                  <a:lumOff val="40000"/>
                </a:schemeClr>
              </a:solidFill>
              <a:latin typeface="3270 Nerd Font Mono"/>
              <a:cs typeface="3270 Nerd Font Mono"/>
            </a:endParaRPr>
          </a:p>
        </p:txBody>
      </p:sp>
      <p:pic>
        <p:nvPicPr>
          <p:cNvPr id="16769948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71538" y="4746703"/>
            <a:ext cx="2199951" cy="2199951"/>
          </a:xfrm>
          <a:prstGeom prst="rect">
            <a:avLst/>
          </a:prstGeom>
        </p:spPr>
      </p:pic>
      <p:sp>
        <p:nvSpPr>
          <p:cNvPr id="1019340139" name=""/>
          <p:cNvSpPr txBox="1"/>
          <p:nvPr/>
        </p:nvSpPr>
        <p:spPr bwMode="auto">
          <a:xfrm rot="0" flipH="0" flipV="0">
            <a:off x="496189" y="1229040"/>
            <a:ext cx="1129127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ea typeface="3270 Nerd Font Mono"/>
                <a:cs typeface="3270 Nerd Font Mono"/>
              </a:rPr>
              <a:t>Cara Mengatasi Serangan </a:t>
            </a:r>
            <a:r>
              <a:rPr sz="2800" b="1">
                <a:solidFill>
                  <a:schemeClr val="bg1"/>
                </a:solidFill>
                <a:latin typeface="3270 Nerd Font Mono"/>
                <a:cs typeface="3270 Nerd Font Mono"/>
              </a:rPr>
              <a:t>Social Engineering :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  <p:sp>
        <p:nvSpPr>
          <p:cNvPr id="1215794854" name=""/>
          <p:cNvSpPr txBox="1"/>
          <p:nvPr/>
        </p:nvSpPr>
        <p:spPr bwMode="auto">
          <a:xfrm rot="0" flipH="0" flipV="0">
            <a:off x="2456394" y="1961732"/>
            <a:ext cx="9432949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cs typeface="3270 Nerd Font Mono"/>
              </a:rPr>
              <a:t>Waspada Interaksi Online :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  <a:p>
            <a:pPr algn="just">
              <a:defRPr/>
            </a:pPr>
            <a:r>
              <a:rPr sz="2800" b="1">
                <a:solidFill>
                  <a:schemeClr val="bg1"/>
                </a:solidFill>
                <a:latin typeface="3270 Nerd Font Mono"/>
                <a:cs typeface="3270 Nerd Font Mono"/>
              </a:rPr>
              <a:t>Jangan Memberikan Data Sensitif atau Mebuka Link/File/Email Yang Mencurigakan </a:t>
            </a:r>
            <a:endParaRPr sz="2800" b="1">
              <a:solidFill>
                <a:schemeClr val="bg1"/>
              </a:solidFill>
              <a:latin typeface="3270 Nerd Font Mono"/>
              <a:cs typeface="3270 Nerd Font Mon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2026-04-16T14:06:17Z</dcterms:modified>
</cp:coreProperties>
</file>
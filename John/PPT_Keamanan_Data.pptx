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6460344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28807285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514462159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6688846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0876625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7506475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6237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571271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52417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76839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56434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91952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BA6ACB-3E33-26F6-A403-98F136AD5B1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14165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15352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52687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2ED4EA8-CDAC-D53C-F10F-1AE6B5111CF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0454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27313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67086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9E7097A-5D08-F5CE-2247-0D17B0AF4C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0254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411358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888037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B068C6-D034-77F0-FCE9-043222456E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636007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50386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54312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D29B7F6-FA80-661A-DB3F-46AC03E35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62654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672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834101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ABB1DB-E701-DC36-77EF-7664D5FE73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8422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61247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57924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20E0A74-FE12-8F78-B2BB-D20785F218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72914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159519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46370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44B117-346C-82ED-8C50-8301F39D88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71894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315636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462368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5E6FC8-B6B2-F2DA-B265-9B07F1DC2F1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78400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35169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234207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D95A7EF-A7CA-014C-CD27-DDD2BC3F20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726087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81795168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29607981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377970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1423314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406551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2655262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8802724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1822284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764961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2734155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2284351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3877756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7616460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695516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22831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2161678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9660733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819764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7732760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635259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8300836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2089673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1634349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19495519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4881425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5810495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3611500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05663118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608117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5102675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46681909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39945297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876284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0732277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442838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44919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8830093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9672507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400810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37435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9129519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543808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93732333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07476771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821569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6989527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5625429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607656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782949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834562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524914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030194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36089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6656099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8925048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7657826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338110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3897954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9761434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4856320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3860180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74101317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10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3502235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pic>
        <p:nvPicPr>
          <p:cNvPr id="16778377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1" flipV="0">
            <a:off x="-100443" y="-66185"/>
            <a:ext cx="12293287" cy="6928947"/>
          </a:xfrm>
          <a:prstGeom prst="rect">
            <a:avLst/>
          </a:prstGeom>
        </p:spPr>
      </p:pic>
      <p:sp>
        <p:nvSpPr>
          <p:cNvPr id="1694527868" name=""/>
          <p:cNvSpPr/>
          <p:nvPr/>
        </p:nvSpPr>
        <p:spPr bwMode="auto">
          <a:xfrm rot="0" flipH="0" flipV="0">
            <a:off x="-360000" y="-89997"/>
            <a:ext cx="11201399" cy="6928947"/>
          </a:xfrm>
          <a:prstGeom prst="homePlate">
            <a:avLst>
              <a:gd name="adj" fmla="val 39370"/>
            </a:avLst>
          </a:prstGeom>
          <a:solidFill>
            <a:srgbClr val="000000">
              <a:alpha val="80000"/>
            </a:srgbClr>
          </a:solidFill>
          <a:ln w="28575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640231857" name=""/>
          <p:cNvSpPr txBox="1"/>
          <p:nvPr/>
        </p:nvSpPr>
        <p:spPr bwMode="auto">
          <a:xfrm rot="0" flipH="0" flipV="0">
            <a:off x="618220" y="1242418"/>
            <a:ext cx="7861918" cy="2347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8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Keamanan Data &amp; Informasi Pada</a:t>
            </a:r>
            <a:br>
              <a:rPr sz="28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</a:br>
            <a:r>
              <a:rPr sz="120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2800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416926727" name=""/>
          <p:cNvSpPr txBox="1"/>
          <p:nvPr/>
        </p:nvSpPr>
        <p:spPr bwMode="auto">
          <a:xfrm rot="0" flipH="0" flipV="0">
            <a:off x="618220" y="4127627"/>
            <a:ext cx="9451630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Muhammad Rafly Fattaya</a:t>
            </a: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(310124023697)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Jonathan Andrew Wijaya (310124023844)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Nazril Anbiya Rasyada (310124023851)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Muhammad Iqbal Fahrezi (310124023855)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Valentinus Bolly Wuran Tedez (310124023876)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953550066" name=""/>
          <p:cNvSpPr/>
          <p:nvPr/>
        </p:nvSpPr>
        <p:spPr bwMode="auto">
          <a:xfrm rot="0" flipH="0" flipV="0">
            <a:off x="-18704970" y="15873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447490032" name=""/>
          <p:cNvSpPr txBox="1"/>
          <p:nvPr/>
        </p:nvSpPr>
        <p:spPr bwMode="auto">
          <a:xfrm rot="0" flipH="0" flipV="0">
            <a:off x="-19853392" y="601978"/>
            <a:ext cx="9202669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Keamanan Data &amp; Informasi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863393791" name=""/>
          <p:cNvSpPr txBox="1"/>
          <p:nvPr/>
        </p:nvSpPr>
        <p:spPr bwMode="auto">
          <a:xfrm rot="0" flipH="0" flipV="0">
            <a:off x="-19439061" y="1757448"/>
            <a:ext cx="8513318" cy="23701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Perlindungan atas data dan informasi pada era digital ini menjadi hal yang sangat penting</a:t>
            </a: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 yang disebabkan oleh banyaknya tindakan kejahatan yang dapat merugikan banyak pihak tanpa adanya keamanan data &amp; informasi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1623365796" name=""/>
          <p:cNvSpPr txBox="1"/>
          <p:nvPr/>
        </p:nvSpPr>
        <p:spPr bwMode="auto">
          <a:xfrm rot="0" flipH="0" flipV="0">
            <a:off x="-19439061" y="4387979"/>
            <a:ext cx="8514038" cy="191448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468748774" name=""/>
          <p:cNvSpPr/>
          <p:nvPr/>
        </p:nvSpPr>
        <p:spPr bwMode="auto">
          <a:xfrm rot="0" flipH="0" flipV="0">
            <a:off x="-26186176" y="15874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80126145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-29162561" y="2169641"/>
            <a:ext cx="2518713" cy="25187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7842532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1" flipV="0">
            <a:off x="2102212" y="-66185"/>
            <a:ext cx="12293287" cy="6928947"/>
          </a:xfrm>
          <a:prstGeom prst="rect">
            <a:avLst/>
          </a:prstGeom>
        </p:spPr>
      </p:pic>
      <p:sp>
        <p:nvSpPr>
          <p:cNvPr id="1096144160" name=""/>
          <p:cNvSpPr/>
          <p:nvPr/>
        </p:nvSpPr>
        <p:spPr bwMode="auto">
          <a:xfrm rot="0" flipH="0" flipV="0">
            <a:off x="5932038" y="-89996"/>
            <a:ext cx="11201399" cy="6928947"/>
          </a:xfrm>
          <a:prstGeom prst="homePlate">
            <a:avLst>
              <a:gd name="adj" fmla="val 39370"/>
            </a:avLst>
          </a:prstGeom>
          <a:solidFill>
            <a:srgbClr val="000000">
              <a:alpha val="80000"/>
            </a:srgbClr>
          </a:solidFill>
          <a:ln w="28575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678904736" name=""/>
          <p:cNvSpPr txBox="1"/>
          <p:nvPr/>
        </p:nvSpPr>
        <p:spPr bwMode="auto">
          <a:xfrm rot="0" flipH="0" flipV="0">
            <a:off x="6910260" y="1242418"/>
            <a:ext cx="7862277" cy="2347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8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Keamanan Data &amp; Informasi Pada</a:t>
            </a:r>
            <a:br>
              <a:rPr sz="28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</a:br>
            <a:r>
              <a:rPr sz="120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2800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948182145" name=""/>
          <p:cNvSpPr txBox="1"/>
          <p:nvPr/>
        </p:nvSpPr>
        <p:spPr bwMode="auto">
          <a:xfrm rot="0" flipH="0" flipV="0">
            <a:off x="6910260" y="4127627"/>
            <a:ext cx="9451990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Muhammad Rafly Fattaya</a:t>
            </a: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(310124023697)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Jonathan Andrew Wijaya (310124023844)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Nazril Anbiya Rasyada (310124023851)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Muhammad Iqbal Fahrezi (310124023855)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Valentinus Bolly Wuran Tedez (310124023876)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440500678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1773437799" name=""/>
          <p:cNvSpPr/>
          <p:nvPr/>
        </p:nvSpPr>
        <p:spPr bwMode="auto">
          <a:xfrm rot="0" flipH="0" flipV="0">
            <a:off x="-283798" y="-31750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315582008" name=""/>
          <p:cNvSpPr txBox="1"/>
          <p:nvPr/>
        </p:nvSpPr>
        <p:spPr bwMode="auto">
          <a:xfrm rot="0" flipH="0" flipV="0">
            <a:off x="2893829" y="601978"/>
            <a:ext cx="9202310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Keamanan Data &amp; Informasi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840518613" name=""/>
          <p:cNvSpPr txBox="1"/>
          <p:nvPr/>
        </p:nvSpPr>
        <p:spPr bwMode="auto">
          <a:xfrm rot="0" flipH="0" flipV="0">
            <a:off x="3308160" y="1757448"/>
            <a:ext cx="8513679" cy="23701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Perlindungan atas data dan informasi pada era digital ini menjadi hal yang sangat penting</a:t>
            </a: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 yang disebabkan oleh banyaknya tindakan kejahatan yang dapat merugikan banyak pihak tanpa adanya keamanan data &amp; informasi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215180089" name=""/>
          <p:cNvSpPr txBox="1"/>
          <p:nvPr/>
        </p:nvSpPr>
        <p:spPr bwMode="auto">
          <a:xfrm rot="0" flipH="0" flipV="0">
            <a:off x="3308160" y="4387979"/>
            <a:ext cx="8513679" cy="191450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1095761406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54994846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92628" y="2169642"/>
            <a:ext cx="2518714" cy="2518714"/>
          </a:xfrm>
          <a:prstGeom prst="rect">
            <a:avLst/>
          </a:prstGeom>
        </p:spPr>
      </p:pic>
      <p:sp>
        <p:nvSpPr>
          <p:cNvPr id="1238760967" name=""/>
          <p:cNvSpPr txBox="1"/>
          <p:nvPr/>
        </p:nvSpPr>
        <p:spPr bwMode="auto">
          <a:xfrm rot="0" flipH="0" flipV="0">
            <a:off x="4263655" y="7180011"/>
            <a:ext cx="7530824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Pentingnya Keamanan Data &amp; Informasi Pada 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sp>
        <p:nvSpPr>
          <p:cNvPr id="273871403" name=""/>
          <p:cNvSpPr txBox="1"/>
          <p:nvPr/>
        </p:nvSpPr>
        <p:spPr bwMode="auto">
          <a:xfrm rot="0" flipH="0" flipV="0">
            <a:off x="3704061" y="9813283"/>
            <a:ext cx="8121246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Semenjak perkembangan internet 3.0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691013780" name=""/>
          <p:cNvSpPr txBox="1"/>
          <p:nvPr/>
        </p:nvSpPr>
        <p:spPr bwMode="auto">
          <a:xfrm rot="0" flipH="0" flipV="0">
            <a:off x="3704061" y="13563222"/>
            <a:ext cx="8222404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1271898792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282022" y="-3657216"/>
            <a:ext cx="2147117" cy="21471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273822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349721687" name=""/>
          <p:cNvSpPr/>
          <p:nvPr/>
        </p:nvSpPr>
        <p:spPr bwMode="auto">
          <a:xfrm rot="0" flipH="0" flipV="0">
            <a:off x="-283798" y="-31749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373444811" name=""/>
          <p:cNvSpPr txBox="1"/>
          <p:nvPr/>
        </p:nvSpPr>
        <p:spPr bwMode="auto">
          <a:xfrm rot="0" flipH="0" flipV="0">
            <a:off x="2893829" y="-11018520"/>
            <a:ext cx="9202310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Keamanan Data &amp; Informasi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328592911" name=""/>
          <p:cNvSpPr txBox="1"/>
          <p:nvPr/>
        </p:nvSpPr>
        <p:spPr bwMode="auto">
          <a:xfrm rot="0" flipH="0" flipV="0">
            <a:off x="3308160" y="-7402426"/>
            <a:ext cx="8512959" cy="23701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Perlindungan atas data dan informasi pada era digital ini menjadi hal yang sangat penting</a:t>
            </a: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 yang disebabkan oleh banyaknya tindakan kejahatan yang dapat merugikan banyak pihak tanpa adanya keamanan data &amp; informasi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867982342" name=""/>
          <p:cNvSpPr txBox="1"/>
          <p:nvPr/>
        </p:nvSpPr>
        <p:spPr bwMode="auto">
          <a:xfrm rot="0" flipH="0" flipV="0">
            <a:off x="3308160" y="-2978019"/>
            <a:ext cx="8513679" cy="191450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1071159065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86764845" name=""/>
          <p:cNvSpPr txBox="1"/>
          <p:nvPr/>
        </p:nvSpPr>
        <p:spPr bwMode="auto">
          <a:xfrm rot="0" flipH="0" flipV="0">
            <a:off x="4263656" y="214855"/>
            <a:ext cx="7530465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Pentingnya Keamanan Data &amp; Informasi Pada 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sp>
        <p:nvSpPr>
          <p:cNvPr id="95920411" name=""/>
          <p:cNvSpPr txBox="1"/>
          <p:nvPr/>
        </p:nvSpPr>
        <p:spPr bwMode="auto">
          <a:xfrm rot="0" flipH="0" flipV="0">
            <a:off x="3704062" y="1657501"/>
            <a:ext cx="8120886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Semenjak perkembangan internet 3.0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222582296" name=""/>
          <p:cNvSpPr txBox="1"/>
          <p:nvPr/>
        </p:nvSpPr>
        <p:spPr bwMode="auto">
          <a:xfrm rot="0" flipH="0" flipV="0">
            <a:off x="3704062" y="3978504"/>
            <a:ext cx="8222046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164320382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82023" y="2355440"/>
            <a:ext cx="2147117" cy="2147117"/>
          </a:xfrm>
          <a:prstGeom prst="rect">
            <a:avLst/>
          </a:prstGeom>
        </p:spPr>
      </p:pic>
      <p:sp>
        <p:nvSpPr>
          <p:cNvPr id="1272275148" name=""/>
          <p:cNvSpPr txBox="1"/>
          <p:nvPr/>
        </p:nvSpPr>
        <p:spPr bwMode="auto">
          <a:xfrm rot="0" flipH="0" flipV="0">
            <a:off x="3802903" y="7634027"/>
            <a:ext cx="8123923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211963340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63930" y="-3599626"/>
            <a:ext cx="2183301" cy="2183301"/>
          </a:xfrm>
          <a:prstGeom prst="rect">
            <a:avLst/>
          </a:prstGeom>
        </p:spPr>
      </p:pic>
      <p:pic>
        <p:nvPicPr>
          <p:cNvPr id="1803997457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0" flipH="0" flipV="0">
            <a:off x="3490228" y="13716478"/>
            <a:ext cx="826872" cy="789881"/>
          </a:xfrm>
          <a:prstGeom prst="rect">
            <a:avLst/>
          </a:prstGeom>
        </p:spPr>
      </p:pic>
      <p:pic>
        <p:nvPicPr>
          <p:cNvPr id="592031556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3450540" y="17529300"/>
            <a:ext cx="941857" cy="941857"/>
          </a:xfrm>
          <a:prstGeom prst="rect">
            <a:avLst/>
          </a:prstGeom>
        </p:spPr>
      </p:pic>
      <p:pic>
        <p:nvPicPr>
          <p:cNvPr id="599015527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3490228" y="23303849"/>
            <a:ext cx="836973" cy="836973"/>
          </a:xfrm>
          <a:prstGeom prst="rect">
            <a:avLst/>
          </a:prstGeom>
        </p:spPr>
      </p:pic>
      <p:pic>
        <p:nvPicPr>
          <p:cNvPr id="402075470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rot="0" flipH="0" flipV="0">
            <a:off x="3490228" y="30783264"/>
            <a:ext cx="843876" cy="843876"/>
          </a:xfrm>
          <a:prstGeom prst="rect">
            <a:avLst/>
          </a:prstGeom>
        </p:spPr>
      </p:pic>
      <p:pic>
        <p:nvPicPr>
          <p:cNvPr id="1026159330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3371166" y="10505858"/>
            <a:ext cx="904451" cy="78956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4772821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128556412" name=""/>
          <p:cNvSpPr/>
          <p:nvPr/>
        </p:nvSpPr>
        <p:spPr bwMode="auto">
          <a:xfrm rot="0" flipH="0" flipV="0">
            <a:off x="-283798" y="-38601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150293376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20891973" name=""/>
          <p:cNvSpPr txBox="1"/>
          <p:nvPr/>
        </p:nvSpPr>
        <p:spPr bwMode="auto">
          <a:xfrm rot="0" flipH="0" flipV="0">
            <a:off x="4263656" y="-10929393"/>
            <a:ext cx="7530465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Pentingnya Keamanan Data &amp; Informasi Pada 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sp>
        <p:nvSpPr>
          <p:cNvPr id="738942735" name=""/>
          <p:cNvSpPr txBox="1"/>
          <p:nvPr/>
        </p:nvSpPr>
        <p:spPr bwMode="auto">
          <a:xfrm rot="0" flipH="0" flipV="0">
            <a:off x="3704062" y="-7200747"/>
            <a:ext cx="8120886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Semenjak perkembangan internet 3.0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337349952" name=""/>
          <p:cNvSpPr txBox="1"/>
          <p:nvPr/>
        </p:nvSpPr>
        <p:spPr bwMode="auto">
          <a:xfrm rot="0" flipH="0" flipV="0">
            <a:off x="3704062" y="-3260495"/>
            <a:ext cx="8222046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194294755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82023" y="9575390"/>
            <a:ext cx="2147117" cy="2147117"/>
          </a:xfrm>
          <a:prstGeom prst="rect">
            <a:avLst/>
          </a:prstGeom>
        </p:spPr>
      </p:pic>
      <p:pic>
        <p:nvPicPr>
          <p:cNvPr id="17063333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63931" y="2363023"/>
            <a:ext cx="2183301" cy="2183301"/>
          </a:xfrm>
          <a:prstGeom prst="rect">
            <a:avLst/>
          </a:prstGeom>
        </p:spPr>
      </p:pic>
      <p:sp>
        <p:nvSpPr>
          <p:cNvPr id="223618580" name=""/>
          <p:cNvSpPr txBox="1"/>
          <p:nvPr/>
        </p:nvSpPr>
        <p:spPr bwMode="auto">
          <a:xfrm rot="0" flipH="0" flipV="0">
            <a:off x="3802903" y="299778"/>
            <a:ext cx="8123564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943824861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3371166" y="1623796"/>
            <a:ext cx="904453" cy="789563"/>
          </a:xfrm>
          <a:prstGeom prst="rect">
            <a:avLst/>
          </a:prstGeom>
        </p:spPr>
      </p:pic>
      <p:pic>
        <p:nvPicPr>
          <p:cNvPr id="1421659856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3490229" y="2619853"/>
            <a:ext cx="826873" cy="789881"/>
          </a:xfrm>
          <a:prstGeom prst="rect">
            <a:avLst/>
          </a:prstGeom>
        </p:spPr>
      </p:pic>
      <p:pic>
        <p:nvPicPr>
          <p:cNvPr id="455318714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3450541" y="3575176"/>
            <a:ext cx="941857" cy="941857"/>
          </a:xfrm>
          <a:prstGeom prst="rect">
            <a:avLst/>
          </a:prstGeom>
        </p:spPr>
      </p:pic>
      <p:pic>
        <p:nvPicPr>
          <p:cNvPr id="178665343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rot="0" flipH="0" flipV="0">
            <a:off x="3490229" y="4682475"/>
            <a:ext cx="836974" cy="836974"/>
          </a:xfrm>
          <a:prstGeom prst="rect">
            <a:avLst/>
          </a:prstGeom>
        </p:spPr>
      </p:pic>
      <p:pic>
        <p:nvPicPr>
          <p:cNvPr id="1931416721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rot="0" flipH="0" flipV="0">
            <a:off x="3490229" y="5684890"/>
            <a:ext cx="843876" cy="84387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 advTm="0">
        <p159:morph option="byObject"/>
      </p:transition>
    </mc:Choice>
    <mc:Fallback>
      <p:transition spd="slow" advClick="1" advTm="0">
        <p:fade/>
      </p:transition>
    </mc:Fallback>
  </mc:AlternateContent>
  <p:timing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3160685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1665758880" name=""/>
          <p:cNvSpPr/>
          <p:nvPr/>
        </p:nvSpPr>
        <p:spPr bwMode="auto">
          <a:xfrm rot="0" flipH="0" flipV="0">
            <a:off x="-283798" y="-38601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494184108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64642189" name=""/>
          <p:cNvSpPr txBox="1"/>
          <p:nvPr/>
        </p:nvSpPr>
        <p:spPr bwMode="auto">
          <a:xfrm rot="0" flipH="0" flipV="0">
            <a:off x="4263656" y="-10929393"/>
            <a:ext cx="7530465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Pentingnya Keamanan Data &amp; Informasi Pada 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sp>
        <p:nvSpPr>
          <p:cNvPr id="944571212" name=""/>
          <p:cNvSpPr txBox="1"/>
          <p:nvPr/>
        </p:nvSpPr>
        <p:spPr bwMode="auto">
          <a:xfrm rot="0" flipH="0" flipV="0">
            <a:off x="3704062" y="-7200747"/>
            <a:ext cx="8120886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Semenjak perkembangan internet 3.0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234828119" name=""/>
          <p:cNvSpPr txBox="1"/>
          <p:nvPr/>
        </p:nvSpPr>
        <p:spPr bwMode="auto">
          <a:xfrm rot="0" flipH="0" flipV="0">
            <a:off x="3704062" y="-3260495"/>
            <a:ext cx="8222046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112740030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82023" y="9575390"/>
            <a:ext cx="2147117" cy="2147117"/>
          </a:xfrm>
          <a:prstGeom prst="rect">
            <a:avLst/>
          </a:prstGeom>
        </p:spPr>
      </p:pic>
      <p:pic>
        <p:nvPicPr>
          <p:cNvPr id="74776839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63931" y="2363023"/>
            <a:ext cx="2183301" cy="2183301"/>
          </a:xfrm>
          <a:prstGeom prst="rect">
            <a:avLst/>
          </a:prstGeom>
        </p:spPr>
      </p:pic>
      <p:sp>
        <p:nvSpPr>
          <p:cNvPr id="2041054427" name=""/>
          <p:cNvSpPr txBox="1"/>
          <p:nvPr/>
        </p:nvSpPr>
        <p:spPr bwMode="auto">
          <a:xfrm rot="0" flipH="0" flipV="0">
            <a:off x="3802903" y="299778"/>
            <a:ext cx="8123564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1885976905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3371166" y="1623796"/>
            <a:ext cx="904453" cy="789563"/>
          </a:xfrm>
          <a:prstGeom prst="rect">
            <a:avLst/>
          </a:prstGeom>
        </p:spPr>
      </p:pic>
      <p:pic>
        <p:nvPicPr>
          <p:cNvPr id="74021828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3490229" y="2619853"/>
            <a:ext cx="826873" cy="789881"/>
          </a:xfrm>
          <a:prstGeom prst="rect">
            <a:avLst/>
          </a:prstGeom>
        </p:spPr>
      </p:pic>
      <p:pic>
        <p:nvPicPr>
          <p:cNvPr id="1141550645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3450541" y="3575176"/>
            <a:ext cx="941857" cy="941857"/>
          </a:xfrm>
          <a:prstGeom prst="rect">
            <a:avLst/>
          </a:prstGeom>
        </p:spPr>
      </p:pic>
      <p:pic>
        <p:nvPicPr>
          <p:cNvPr id="118452560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rot="0" flipH="0" flipV="0">
            <a:off x="3490229" y="4682475"/>
            <a:ext cx="836974" cy="836974"/>
          </a:xfrm>
          <a:prstGeom prst="rect">
            <a:avLst/>
          </a:prstGeom>
        </p:spPr>
      </p:pic>
      <p:pic>
        <p:nvPicPr>
          <p:cNvPr id="700783661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rot="0" flipH="0" flipV="0">
            <a:off x="3490229" y="5684890"/>
            <a:ext cx="843876" cy="843876"/>
          </a:xfrm>
          <a:prstGeom prst="rect">
            <a:avLst/>
          </a:prstGeom>
        </p:spPr>
      </p:pic>
      <p:sp>
        <p:nvSpPr>
          <p:cNvPr id="1939738252" name=""/>
          <p:cNvSpPr txBox="1"/>
          <p:nvPr/>
        </p:nvSpPr>
        <p:spPr bwMode="auto">
          <a:xfrm rot="0" flipH="0" flipV="0">
            <a:off x="4499435" y="1727316"/>
            <a:ext cx="8235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28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423404568" name=""/>
          <p:cNvSpPr txBox="1"/>
          <p:nvPr/>
        </p:nvSpPr>
        <p:spPr bwMode="auto">
          <a:xfrm rot="0" flipH="0" flipV="0">
            <a:off x="4505555" y="2727133"/>
            <a:ext cx="82407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779262151" name=""/>
          <p:cNvSpPr txBox="1"/>
          <p:nvPr/>
        </p:nvSpPr>
        <p:spPr bwMode="auto">
          <a:xfrm rot="0" flipH="0" flipV="0">
            <a:off x="4499435" y="3761503"/>
            <a:ext cx="8253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Forgery Request (CSRF)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922550334" name=""/>
          <p:cNvSpPr txBox="1"/>
          <p:nvPr/>
        </p:nvSpPr>
        <p:spPr bwMode="auto">
          <a:xfrm rot="0" flipH="0" flipV="0">
            <a:off x="4505555" y="4878988"/>
            <a:ext cx="825912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337C"/>
                    </a:gs>
                    <a:gs pos="100000">
                      <a:srgbClr val="FF0DDC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DoS / DDoS</a:t>
            </a:r>
            <a:endParaRPr sz="2800" b="1">
              <a:gradFill>
                <a:gsLst>
                  <a:gs pos="0">
                    <a:srgbClr val="FF337C"/>
                  </a:gs>
                  <a:gs pos="100000">
                    <a:srgbClr val="FF0DDC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807227219" name=""/>
          <p:cNvSpPr txBox="1"/>
          <p:nvPr/>
        </p:nvSpPr>
        <p:spPr bwMode="auto">
          <a:xfrm rot="0" flipH="0" flipV="0">
            <a:off x="4505555" y="5821326"/>
            <a:ext cx="82695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ABAB"/>
                    </a:gs>
                    <a:gs pos="100000">
                      <a:srgbClr val="FF2424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Man in the Middle (MITM)</a:t>
            </a:r>
            <a:endParaRPr sz="2800" b="1">
              <a:gradFill>
                <a:gsLst>
                  <a:gs pos="0">
                    <a:srgbClr val="FFABAB"/>
                  </a:gs>
                  <a:gs pos="100000">
                    <a:srgbClr val="FF2424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9738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939738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404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4234045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9262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79262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2550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19225503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7227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807227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7871435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1315002740" name=""/>
          <p:cNvSpPr/>
          <p:nvPr/>
        </p:nvSpPr>
        <p:spPr bwMode="auto">
          <a:xfrm rot="0" flipH="0" flipV="0">
            <a:off x="-283798" y="-38601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206714219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62863755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3931" y="2363023"/>
            <a:ext cx="2183301" cy="2183301"/>
          </a:xfrm>
          <a:prstGeom prst="rect">
            <a:avLst/>
          </a:prstGeom>
        </p:spPr>
      </p:pic>
      <p:sp>
        <p:nvSpPr>
          <p:cNvPr id="1593933018" name=""/>
          <p:cNvSpPr txBox="1"/>
          <p:nvPr/>
        </p:nvSpPr>
        <p:spPr bwMode="auto">
          <a:xfrm rot="0" flipH="0" flipV="0">
            <a:off x="3802903" y="299778"/>
            <a:ext cx="8123564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1147464929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371166" y="1623796"/>
            <a:ext cx="904453" cy="789563"/>
          </a:xfrm>
          <a:prstGeom prst="rect">
            <a:avLst/>
          </a:prstGeom>
        </p:spPr>
      </p:pic>
      <p:pic>
        <p:nvPicPr>
          <p:cNvPr id="655655940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0" flipH="0" flipV="0">
            <a:off x="3490229" y="2619853"/>
            <a:ext cx="826873" cy="789881"/>
          </a:xfrm>
          <a:prstGeom prst="rect">
            <a:avLst/>
          </a:prstGeom>
        </p:spPr>
      </p:pic>
      <p:pic>
        <p:nvPicPr>
          <p:cNvPr id="1281143839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3450541" y="3575176"/>
            <a:ext cx="941857" cy="941857"/>
          </a:xfrm>
          <a:prstGeom prst="rect">
            <a:avLst/>
          </a:prstGeom>
        </p:spPr>
      </p:pic>
      <p:pic>
        <p:nvPicPr>
          <p:cNvPr id="348871685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3490229" y="4682475"/>
            <a:ext cx="836974" cy="836974"/>
          </a:xfrm>
          <a:prstGeom prst="rect">
            <a:avLst/>
          </a:prstGeom>
        </p:spPr>
      </p:pic>
      <p:pic>
        <p:nvPicPr>
          <p:cNvPr id="980072300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rot="0" flipH="0" flipV="0">
            <a:off x="3490229" y="5684890"/>
            <a:ext cx="843876" cy="843876"/>
          </a:xfrm>
          <a:prstGeom prst="rect">
            <a:avLst/>
          </a:prstGeom>
        </p:spPr>
      </p:pic>
      <p:sp>
        <p:nvSpPr>
          <p:cNvPr id="900782389" name=""/>
          <p:cNvSpPr txBox="1"/>
          <p:nvPr/>
        </p:nvSpPr>
        <p:spPr bwMode="auto">
          <a:xfrm rot="0" flipH="0" flipV="0">
            <a:off x="4499435" y="1727316"/>
            <a:ext cx="8235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28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576737789" name=""/>
          <p:cNvSpPr txBox="1"/>
          <p:nvPr/>
        </p:nvSpPr>
        <p:spPr bwMode="auto">
          <a:xfrm rot="0" flipH="0" flipV="0">
            <a:off x="4505555" y="2727133"/>
            <a:ext cx="82407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652705133" name=""/>
          <p:cNvSpPr txBox="1"/>
          <p:nvPr/>
        </p:nvSpPr>
        <p:spPr bwMode="auto">
          <a:xfrm rot="0" flipH="0" flipV="0">
            <a:off x="4499435" y="3761503"/>
            <a:ext cx="8253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Forgery Request (CSRF)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222571701" name=""/>
          <p:cNvSpPr txBox="1"/>
          <p:nvPr/>
        </p:nvSpPr>
        <p:spPr bwMode="auto">
          <a:xfrm rot="0" flipH="0" flipV="0">
            <a:off x="4505555" y="4878988"/>
            <a:ext cx="825912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337C"/>
                    </a:gs>
                    <a:gs pos="100000">
                      <a:srgbClr val="FF0DDC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DoS / DDoS</a:t>
            </a:r>
            <a:endParaRPr sz="2800" b="1">
              <a:gradFill>
                <a:gsLst>
                  <a:gs pos="0">
                    <a:srgbClr val="FF337C"/>
                  </a:gs>
                  <a:gs pos="100000">
                    <a:srgbClr val="FF0DDC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344597126" name=""/>
          <p:cNvSpPr txBox="1"/>
          <p:nvPr/>
        </p:nvSpPr>
        <p:spPr bwMode="auto">
          <a:xfrm rot="0" flipH="0" flipV="0">
            <a:off x="4505555" y="5821326"/>
            <a:ext cx="82695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ABAB"/>
                    </a:gs>
                    <a:gs pos="100000">
                      <a:srgbClr val="FF2424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Man in the Middle (MITM)</a:t>
            </a:r>
            <a:endParaRPr sz="2800" b="1">
              <a:gradFill>
                <a:gsLst>
                  <a:gs pos="0">
                    <a:srgbClr val="FFABAB"/>
                  </a:gs>
                  <a:gs pos="100000">
                    <a:srgbClr val="FF2424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pic>
        <p:nvPicPr>
          <p:cNvPr id="759870026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176503" y="-4049485"/>
            <a:ext cx="2358154" cy="1907721"/>
          </a:xfrm>
          <a:prstGeom prst="rect">
            <a:avLst/>
          </a:prstGeom>
        </p:spPr>
      </p:pic>
      <p:sp>
        <p:nvSpPr>
          <p:cNvPr id="93116017" name=""/>
          <p:cNvSpPr txBox="1"/>
          <p:nvPr/>
        </p:nvSpPr>
        <p:spPr bwMode="auto">
          <a:xfrm rot="0" flipH="0" flipV="0">
            <a:off x="444823" y="-8824986"/>
            <a:ext cx="1821875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1.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490852443" name=""/>
          <p:cNvSpPr txBox="1"/>
          <p:nvPr/>
        </p:nvSpPr>
        <p:spPr bwMode="auto">
          <a:xfrm rot="0" flipH="0" flipV="0">
            <a:off x="3371166" y="8142094"/>
            <a:ext cx="8237163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932042638" name=""/>
          <p:cNvSpPr txBox="1"/>
          <p:nvPr/>
        </p:nvSpPr>
        <p:spPr bwMode="auto">
          <a:xfrm rot="0" flipH="0" flipV="0">
            <a:off x="3450540" y="12458340"/>
            <a:ext cx="8010295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adalah serangan yang memanfaatkan form input yang belum divalidasi website dengan cara menyisipkan kode berbahaya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tersebut dimana kode tersebut kemudian dibaca dan dijalankan website untuk user lain.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85934284" name=""/>
          <p:cNvSpPr txBox="1"/>
          <p:nvPr/>
        </p:nvSpPr>
        <p:spPr bwMode="auto">
          <a:xfrm rot="0" flipH="0" flipV="0">
            <a:off x="3450540" y="19096840"/>
            <a:ext cx="801749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043004884" name=""/>
          <p:cNvSpPr txBox="1"/>
          <p:nvPr/>
        </p:nvSpPr>
        <p:spPr bwMode="auto">
          <a:xfrm rot="0" flipH="0" flipV="0">
            <a:off x="3460737" y="19517012"/>
            <a:ext cx="2404590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username : 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403759644" name=""/>
          <p:cNvSpPr/>
          <p:nvPr/>
        </p:nvSpPr>
        <p:spPr bwMode="auto">
          <a:xfrm rot="0" flipH="0" flipV="0">
            <a:off x="5514773" y="19561824"/>
            <a:ext cx="3528551" cy="380998"/>
          </a:xfrm>
          <a:prstGeom prst="flowChartAlternateProcess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&lt;script&gt;alert(“XSS”)&lt;/script&gt;</a:t>
            </a:r>
            <a:endParaRPr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80046856" name=""/>
          <p:cNvSpPr txBox="1"/>
          <p:nvPr/>
        </p:nvSpPr>
        <p:spPr bwMode="auto">
          <a:xfrm rot="0" flipH="0" flipV="0">
            <a:off x="3460737" y="25516657"/>
            <a:ext cx="801893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URL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718948780" name=""/>
          <p:cNvSpPr txBox="1"/>
          <p:nvPr/>
        </p:nvSpPr>
        <p:spPr bwMode="auto">
          <a:xfrm rot="0" flipH="0" flipV="0">
            <a:off x="3490228" y="26021452"/>
            <a:ext cx="792580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https:/alamat.com/search?q=&lt;script&gt;alert(“XSS”)&lt;/script&gt;</a:t>
            </a:r>
            <a:endParaRPr sz="1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0" advClick="1" advTm="0"/>
    </mc:Choice>
    <mc:Fallback>
      <p:transition advClick="1" advTm="0"/>
    </mc:Fallback>
  </mc:AlternateContent>
  <p:timing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2513735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904387141" name=""/>
          <p:cNvSpPr/>
          <p:nvPr/>
        </p:nvSpPr>
        <p:spPr bwMode="auto">
          <a:xfrm rot="0" flipH="0" flipV="0">
            <a:off x="-283798" y="-31749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459435925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0807387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3931" y="9392246"/>
            <a:ext cx="2183301" cy="2183301"/>
          </a:xfrm>
          <a:prstGeom prst="rect">
            <a:avLst/>
          </a:prstGeom>
        </p:spPr>
      </p:pic>
      <p:sp>
        <p:nvSpPr>
          <p:cNvPr id="1390638477" name=""/>
          <p:cNvSpPr txBox="1"/>
          <p:nvPr/>
        </p:nvSpPr>
        <p:spPr bwMode="auto">
          <a:xfrm rot="0" flipH="0" flipV="0">
            <a:off x="3802903" y="-26370220"/>
            <a:ext cx="8123564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200251462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371166" y="-20283703"/>
            <a:ext cx="904453" cy="789563"/>
          </a:xfrm>
          <a:prstGeom prst="rect">
            <a:avLst/>
          </a:prstGeom>
        </p:spPr>
      </p:pic>
      <p:pic>
        <p:nvPicPr>
          <p:cNvPr id="1301404270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0" flipH="0" flipV="0">
            <a:off x="3490229" y="-14239395"/>
            <a:ext cx="826873" cy="789881"/>
          </a:xfrm>
          <a:prstGeom prst="rect">
            <a:avLst/>
          </a:prstGeom>
        </p:spPr>
      </p:pic>
      <p:pic>
        <p:nvPicPr>
          <p:cNvPr id="1733011009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3450541" y="-9093072"/>
            <a:ext cx="941857" cy="941857"/>
          </a:xfrm>
          <a:prstGeom prst="rect">
            <a:avLst/>
          </a:prstGeom>
        </p:spPr>
      </p:pic>
      <p:pic>
        <p:nvPicPr>
          <p:cNvPr id="1744221452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3490229" y="-5033024"/>
            <a:ext cx="836974" cy="836974"/>
          </a:xfrm>
          <a:prstGeom prst="rect">
            <a:avLst/>
          </a:prstGeom>
        </p:spPr>
      </p:pic>
      <p:pic>
        <p:nvPicPr>
          <p:cNvPr id="1378796091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rot="0" flipH="0" flipV="0">
            <a:off x="3490229" y="-2125609"/>
            <a:ext cx="843876" cy="843876"/>
          </a:xfrm>
          <a:prstGeom prst="rect">
            <a:avLst/>
          </a:prstGeom>
        </p:spPr>
      </p:pic>
      <p:sp>
        <p:nvSpPr>
          <p:cNvPr id="1311491679" name=""/>
          <p:cNvSpPr txBox="1"/>
          <p:nvPr/>
        </p:nvSpPr>
        <p:spPr bwMode="auto">
          <a:xfrm rot="0" flipH="0" flipV="0">
            <a:off x="4499435" y="-20180183"/>
            <a:ext cx="8235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28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652278712" name=""/>
          <p:cNvSpPr txBox="1"/>
          <p:nvPr/>
        </p:nvSpPr>
        <p:spPr bwMode="auto">
          <a:xfrm rot="0" flipH="0" flipV="0">
            <a:off x="4505555" y="-14132116"/>
            <a:ext cx="82407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292979095" name=""/>
          <p:cNvSpPr txBox="1"/>
          <p:nvPr/>
        </p:nvSpPr>
        <p:spPr bwMode="auto">
          <a:xfrm rot="0" flipH="0" flipV="0">
            <a:off x="4499435" y="-8906745"/>
            <a:ext cx="8253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Forgery Request (CSRF)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231769861" name=""/>
          <p:cNvSpPr txBox="1"/>
          <p:nvPr/>
        </p:nvSpPr>
        <p:spPr bwMode="auto">
          <a:xfrm rot="0" flipH="0" flipV="0">
            <a:off x="4505555" y="-4836510"/>
            <a:ext cx="825912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337C"/>
                    </a:gs>
                    <a:gs pos="100000">
                      <a:srgbClr val="FF0DDC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DoS / DDoS</a:t>
            </a:r>
            <a:endParaRPr sz="2800" b="1">
              <a:gradFill>
                <a:gsLst>
                  <a:gs pos="0">
                    <a:srgbClr val="FF337C"/>
                  </a:gs>
                  <a:gs pos="100000">
                    <a:srgbClr val="FF0DDC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887070264" name=""/>
          <p:cNvSpPr txBox="1"/>
          <p:nvPr/>
        </p:nvSpPr>
        <p:spPr bwMode="auto">
          <a:xfrm rot="0" flipH="0" flipV="0">
            <a:off x="4505555" y="-1989172"/>
            <a:ext cx="82695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ABAB"/>
                    </a:gs>
                    <a:gs pos="100000">
                      <a:srgbClr val="FF2424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Man in the Middle (MITM)</a:t>
            </a:r>
            <a:endParaRPr sz="2800" b="1">
              <a:gradFill>
                <a:gsLst>
                  <a:gs pos="0">
                    <a:srgbClr val="FFABAB"/>
                  </a:gs>
                  <a:gs pos="100000">
                    <a:srgbClr val="FF2424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pic>
        <p:nvPicPr>
          <p:cNvPr id="912291336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176504" y="3332388"/>
            <a:ext cx="2358155" cy="1907721"/>
          </a:xfrm>
          <a:prstGeom prst="rect">
            <a:avLst/>
          </a:prstGeom>
        </p:spPr>
      </p:pic>
      <p:sp>
        <p:nvSpPr>
          <p:cNvPr id="2092346186" name=""/>
          <p:cNvSpPr txBox="1"/>
          <p:nvPr/>
        </p:nvSpPr>
        <p:spPr bwMode="auto">
          <a:xfrm rot="0" flipH="0" flipV="0">
            <a:off x="444823" y="1271333"/>
            <a:ext cx="1821516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1.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99993923" name=""/>
          <p:cNvSpPr txBox="1"/>
          <p:nvPr/>
        </p:nvSpPr>
        <p:spPr bwMode="auto">
          <a:xfrm rot="0" flipH="0" flipV="0">
            <a:off x="3371166" y="474290"/>
            <a:ext cx="8236804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399212801" name=""/>
          <p:cNvSpPr txBox="1"/>
          <p:nvPr/>
        </p:nvSpPr>
        <p:spPr bwMode="auto">
          <a:xfrm rot="0" flipH="0" flipV="0">
            <a:off x="3450541" y="1409339"/>
            <a:ext cx="8009935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adalah serangan yang memanfaatkan form input yang belum divalidasi website dengan cara menyisipkan kode berbahaya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tersebut dimana kode tersebut kemudian dibaca dan dijalankan website untuk user lain.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406412672" name=""/>
          <p:cNvSpPr txBox="1"/>
          <p:nvPr/>
        </p:nvSpPr>
        <p:spPr bwMode="auto">
          <a:xfrm rot="0" flipH="0" flipV="0">
            <a:off x="3450541" y="3666341"/>
            <a:ext cx="801713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78358863" name=""/>
          <p:cNvSpPr txBox="1"/>
          <p:nvPr/>
        </p:nvSpPr>
        <p:spPr bwMode="auto">
          <a:xfrm rot="0" flipH="0" flipV="0">
            <a:off x="3460738" y="4086514"/>
            <a:ext cx="2404231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username : 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830798164" name=""/>
          <p:cNvSpPr/>
          <p:nvPr/>
        </p:nvSpPr>
        <p:spPr bwMode="auto">
          <a:xfrm rot="0" flipH="0" flipV="0">
            <a:off x="5514774" y="4131325"/>
            <a:ext cx="3528551" cy="380998"/>
          </a:xfrm>
          <a:prstGeom prst="flowChartAlternateProcess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&lt;script&gt;alert(“XSS”)&lt;/script&gt;</a:t>
            </a:r>
            <a:endParaRPr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383032183" name=""/>
          <p:cNvSpPr txBox="1"/>
          <p:nvPr/>
        </p:nvSpPr>
        <p:spPr bwMode="auto">
          <a:xfrm rot="0" flipH="0" flipV="0">
            <a:off x="3460738" y="5133158"/>
            <a:ext cx="801857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URL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218881298" name=""/>
          <p:cNvSpPr txBox="1"/>
          <p:nvPr/>
        </p:nvSpPr>
        <p:spPr bwMode="auto">
          <a:xfrm rot="0" flipH="0" flipV="0">
            <a:off x="3490229" y="5637953"/>
            <a:ext cx="792544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https:/alamat.com/search?q=&lt;script&gt;alert(“XSS”)&lt;/script&gt;</a:t>
            </a:r>
            <a:endParaRPr sz="1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438455600" name=""/>
          <p:cNvSpPr txBox="1"/>
          <p:nvPr/>
        </p:nvSpPr>
        <p:spPr bwMode="auto">
          <a:xfrm rot="0" flipH="0" flipV="0">
            <a:off x="3371166" y="7714548"/>
            <a:ext cx="8239322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Tipe 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458313174" name=""/>
          <p:cNvSpPr/>
          <p:nvPr/>
        </p:nvSpPr>
        <p:spPr bwMode="auto">
          <a:xfrm flipH="0" flipV="0">
            <a:off x="3360341" y="10229689"/>
            <a:ext cx="2648363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latin typeface="Comfortaa"/>
                <a:ea typeface="Comfortaa"/>
                <a:cs typeface="Comfortaa"/>
              </a:rPr>
              <a:t>Storage XSS</a:t>
            </a:r>
            <a:endParaRPr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Tersimpan Pada Penyimpanan Server dan Dijalankan Ketika User Lain Mengakses Website</a:t>
            </a:r>
            <a:endParaRPr>
              <a:latin typeface="Comfortaa"/>
              <a:cs typeface="Comfortaa"/>
            </a:endParaRPr>
          </a:p>
        </p:txBody>
      </p:sp>
      <p:pic>
        <p:nvPicPr>
          <p:cNvPr id="126716875" name="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 flipH="0" flipV="0">
            <a:off x="4003024" y="14321264"/>
            <a:ext cx="1133476" cy="1133476"/>
          </a:xfrm>
          <a:prstGeom prst="rect">
            <a:avLst/>
          </a:prstGeom>
        </p:spPr>
      </p:pic>
      <p:sp>
        <p:nvSpPr>
          <p:cNvPr id="1113514569" name=""/>
          <p:cNvSpPr/>
          <p:nvPr/>
        </p:nvSpPr>
        <p:spPr bwMode="auto">
          <a:xfrm flipH="0" flipV="0">
            <a:off x="6258117" y="12658564"/>
            <a:ext cx="2648363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Reflected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Url Website Dan Akan Dijalankan  Ketika Url  Tersebut Dimuat</a:t>
            </a:r>
            <a:endParaRPr>
              <a:latin typeface="Comfortaa"/>
              <a:cs typeface="Comfortaa"/>
            </a:endParaRPr>
          </a:p>
        </p:txBody>
      </p:sp>
      <p:sp>
        <p:nvSpPr>
          <p:cNvPr id="312081624" name=""/>
          <p:cNvSpPr/>
          <p:nvPr/>
        </p:nvSpPr>
        <p:spPr bwMode="auto">
          <a:xfrm flipH="0" flipV="0">
            <a:off x="9155893" y="14801689"/>
            <a:ext cx="2648363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DOM Based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Client Browser Sehingga Sulit Terdeteksi Oleh Server</a:t>
            </a:r>
            <a:endParaRPr lang="en-US" sz="1800" b="1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ctr">
              <a:lnSpc>
                <a:spcPct val="114999"/>
              </a:lnSpc>
              <a:defRPr/>
            </a:pPr>
            <a:endParaRPr>
              <a:latin typeface="Comfortaa"/>
              <a:cs typeface="Comfortaa"/>
            </a:endParaRPr>
          </a:p>
        </p:txBody>
      </p:sp>
      <p:pic>
        <p:nvPicPr>
          <p:cNvPr id="909814562" name="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 flipH="0" flipV="0">
            <a:off x="9977254" y="19044431"/>
            <a:ext cx="1005643" cy="982309"/>
          </a:xfrm>
          <a:prstGeom prst="rect">
            <a:avLst/>
          </a:prstGeom>
        </p:spPr>
      </p:pic>
      <p:pic>
        <p:nvPicPr>
          <p:cNvPr id="1094371488" name="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 flipH="0" flipV="0">
            <a:off x="6843506" y="17052474"/>
            <a:ext cx="1477585" cy="8311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5643624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1314928682" name=""/>
          <p:cNvSpPr/>
          <p:nvPr/>
        </p:nvSpPr>
        <p:spPr bwMode="auto">
          <a:xfrm rot="0" flipH="0" flipV="0">
            <a:off x="-283798" y="-31749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202251993" name=""/>
          <p:cNvSpPr/>
          <p:nvPr/>
        </p:nvSpPr>
        <p:spPr bwMode="auto">
          <a:xfrm rot="0" flipH="0" flipV="0">
            <a:off x="-283798" y="-31749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53372223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3931" y="9392246"/>
            <a:ext cx="2183301" cy="2183301"/>
          </a:xfrm>
          <a:prstGeom prst="rect">
            <a:avLst/>
          </a:prstGeom>
        </p:spPr>
      </p:pic>
      <p:pic>
        <p:nvPicPr>
          <p:cNvPr id="178385291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76504" y="3332388"/>
            <a:ext cx="2358155" cy="1907721"/>
          </a:xfrm>
          <a:prstGeom prst="rect">
            <a:avLst/>
          </a:prstGeom>
        </p:spPr>
      </p:pic>
      <p:sp>
        <p:nvSpPr>
          <p:cNvPr id="27630807" name=""/>
          <p:cNvSpPr txBox="1"/>
          <p:nvPr/>
        </p:nvSpPr>
        <p:spPr bwMode="auto">
          <a:xfrm rot="0" flipH="0" flipV="0">
            <a:off x="444823" y="1271333"/>
            <a:ext cx="1821516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1.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72760529" name=""/>
          <p:cNvSpPr txBox="1"/>
          <p:nvPr/>
        </p:nvSpPr>
        <p:spPr bwMode="auto">
          <a:xfrm rot="0" flipH="0" flipV="0">
            <a:off x="3371166" y="-11527209"/>
            <a:ext cx="8236804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414547080" name=""/>
          <p:cNvSpPr txBox="1"/>
          <p:nvPr/>
        </p:nvSpPr>
        <p:spPr bwMode="auto">
          <a:xfrm rot="0" flipH="0" flipV="0">
            <a:off x="3450541" y="-8687159"/>
            <a:ext cx="8009935" cy="20196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adalah serangan yang memanfaatkan form input yang belum divalidasi website dengan cara menyisipkan kode berbahaya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tersebut dimana kode tersebut kemudian dibaca dan dijalankan website untuk user lain.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565690708" name=""/>
          <p:cNvSpPr txBox="1"/>
          <p:nvPr/>
        </p:nvSpPr>
        <p:spPr bwMode="auto">
          <a:xfrm rot="0" flipH="0" flipV="0">
            <a:off x="3450541" y="-4477533"/>
            <a:ext cx="801713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855845519" name=""/>
          <p:cNvSpPr txBox="1"/>
          <p:nvPr/>
        </p:nvSpPr>
        <p:spPr bwMode="auto">
          <a:xfrm rot="0" flipH="0" flipV="0">
            <a:off x="3460738" y="-4057360"/>
            <a:ext cx="2404231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username : 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243231478" name=""/>
          <p:cNvSpPr/>
          <p:nvPr/>
        </p:nvSpPr>
        <p:spPr bwMode="auto">
          <a:xfrm rot="0" flipH="0" flipV="0">
            <a:off x="5514774" y="-4012548"/>
            <a:ext cx="3528551" cy="380998"/>
          </a:xfrm>
          <a:prstGeom prst="flowChartAlternateProcess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&lt;script&gt;alert(“XSS”)&lt;/script&gt;</a:t>
            </a:r>
            <a:endParaRPr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385703577" name=""/>
          <p:cNvSpPr txBox="1"/>
          <p:nvPr/>
        </p:nvSpPr>
        <p:spPr bwMode="auto">
          <a:xfrm rot="0" flipH="0" flipV="0">
            <a:off x="3460738" y="-1439091"/>
            <a:ext cx="801857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URL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279072245" name=""/>
          <p:cNvSpPr txBox="1"/>
          <p:nvPr/>
        </p:nvSpPr>
        <p:spPr bwMode="auto">
          <a:xfrm rot="0" flipH="0" flipV="0">
            <a:off x="3490229" y="-934296"/>
            <a:ext cx="792544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https:/alamat.com/search?q=&lt;script&gt;alert(“XSS”)&lt;/script&gt;</a:t>
            </a:r>
            <a:endParaRPr sz="1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018330215" name=""/>
          <p:cNvSpPr txBox="1"/>
          <p:nvPr/>
        </p:nvSpPr>
        <p:spPr bwMode="auto">
          <a:xfrm rot="0" flipH="0" flipV="0">
            <a:off x="3371166" y="475369"/>
            <a:ext cx="8238963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Tipe 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861703623" name=""/>
          <p:cNvSpPr/>
          <p:nvPr/>
        </p:nvSpPr>
        <p:spPr bwMode="auto">
          <a:xfrm flipH="0" flipV="0">
            <a:off x="3360342" y="1323815"/>
            <a:ext cx="2648364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latin typeface="Comfortaa"/>
                <a:ea typeface="Comfortaa"/>
                <a:cs typeface="Comfortaa"/>
              </a:rPr>
              <a:t>Storage XSS</a:t>
            </a:r>
            <a:endParaRPr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Tersimpan Pada Penyimpanan Server dan Dijalankan Ketika User Lain Mengakses Website</a:t>
            </a:r>
            <a:endParaRPr>
              <a:latin typeface="Comfortaa"/>
              <a:cs typeface="Comfortaa"/>
            </a:endParaRPr>
          </a:p>
        </p:txBody>
      </p:sp>
      <p:pic>
        <p:nvPicPr>
          <p:cNvPr id="73548260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4003025" y="5415390"/>
            <a:ext cx="1133477" cy="1133477"/>
          </a:xfrm>
          <a:prstGeom prst="rect">
            <a:avLst/>
          </a:prstGeom>
        </p:spPr>
      </p:pic>
      <p:sp>
        <p:nvSpPr>
          <p:cNvPr id="558619635" name=""/>
          <p:cNvSpPr/>
          <p:nvPr/>
        </p:nvSpPr>
        <p:spPr bwMode="auto">
          <a:xfrm flipH="0" flipV="0">
            <a:off x="6258118" y="1323815"/>
            <a:ext cx="2648364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Reflected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Url Website Dan Akan Dijalankan  Ketika Url  Tersebut Dimuat</a:t>
            </a:r>
            <a:endParaRPr>
              <a:latin typeface="Comfortaa"/>
              <a:cs typeface="Comfortaa"/>
            </a:endParaRPr>
          </a:p>
        </p:txBody>
      </p:sp>
      <p:sp>
        <p:nvSpPr>
          <p:cNvPr id="1963796910" name=""/>
          <p:cNvSpPr/>
          <p:nvPr/>
        </p:nvSpPr>
        <p:spPr bwMode="auto">
          <a:xfrm flipH="0" flipV="0">
            <a:off x="9155894" y="1323815"/>
            <a:ext cx="2648364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DOM Based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Client Browser Sehingga Sulit Terdeteksi Oleh Server</a:t>
            </a:r>
            <a:endParaRPr lang="en-US" sz="1800" b="1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ctr">
              <a:lnSpc>
                <a:spcPct val="114999"/>
              </a:lnSpc>
              <a:defRPr/>
            </a:pPr>
            <a:endParaRPr>
              <a:latin typeface="Comfortaa"/>
              <a:cs typeface="Comfortaa"/>
            </a:endParaRPr>
          </a:p>
        </p:txBody>
      </p:sp>
      <p:pic>
        <p:nvPicPr>
          <p:cNvPr id="1873802464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9977254" y="5566557"/>
            <a:ext cx="1005644" cy="982309"/>
          </a:xfrm>
          <a:prstGeom prst="rect">
            <a:avLst/>
          </a:prstGeom>
        </p:spPr>
      </p:pic>
      <p:pic>
        <p:nvPicPr>
          <p:cNvPr id="9185850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6843507" y="5717725"/>
            <a:ext cx="1477586" cy="831142"/>
          </a:xfrm>
          <a:prstGeom prst="rect">
            <a:avLst/>
          </a:prstGeom>
        </p:spPr>
      </p:pic>
      <p:sp>
        <p:nvSpPr>
          <p:cNvPr id="1808707108" name=""/>
          <p:cNvSpPr txBox="1"/>
          <p:nvPr/>
        </p:nvSpPr>
        <p:spPr bwMode="auto">
          <a:xfrm rot="0" flipH="0" flipV="0">
            <a:off x="3371166" y="7418970"/>
            <a:ext cx="8246881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Contoh Serangan XSS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129603798" name=""/>
          <p:cNvSpPr txBox="1"/>
          <p:nvPr/>
        </p:nvSpPr>
        <p:spPr bwMode="auto">
          <a:xfrm rot="0" flipH="0" flipV="0">
            <a:off x="3648106" y="10564461"/>
            <a:ext cx="7541755" cy="219490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Pada Tahun 2019, Seorang Penelity Cybersecurity Bernama Gel Weizman Menemukan Kerentanan XSS Pada Whatsapp Web Yang Mampu Menyebabkan Serangan XSS Terus Menurus Melalui Open Redirect.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338079434" name=""/>
          <p:cNvSpPr txBox="1"/>
          <p:nvPr/>
        </p:nvSpPr>
        <p:spPr bwMode="auto">
          <a:xfrm rot="0" flipH="0" flipV="0">
            <a:off x="3648106" y="19117182"/>
            <a:ext cx="7541168" cy="219490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Kerentanan Ini Disebabkan Oleh Konfigurasi File Content Security Policy (CSP)</a:t>
            </a: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Yang Tidak Benar</a:t>
            </a: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Yang Memungkinkan Penyerang Menyisipkan Malicious Code Pada Server Whatsapp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73504" name=""/>
          <p:cNvSpPr/>
          <p:nvPr/>
        </p:nvSpPr>
        <p:spPr bwMode="auto">
          <a:xfrm flipH="0" flipV="0">
            <a:off x="106119" y="1488497"/>
            <a:ext cx="173016" cy="366118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614034534" name=""/>
          <p:cNvSpPr/>
          <p:nvPr/>
        </p:nvSpPr>
        <p:spPr bwMode="auto">
          <a:xfrm rot="0" flipH="0" flipV="0">
            <a:off x="-283797" y="-35473"/>
            <a:ext cx="15125697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638363652" name=""/>
          <p:cNvSpPr/>
          <p:nvPr/>
        </p:nvSpPr>
        <p:spPr bwMode="auto">
          <a:xfrm rot="0" flipH="0" flipV="0">
            <a:off x="-283797" y="-31748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8754087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3930" y="9392245"/>
            <a:ext cx="2183301" cy="2183301"/>
          </a:xfrm>
          <a:prstGeom prst="rect">
            <a:avLst/>
          </a:prstGeom>
        </p:spPr>
      </p:pic>
      <p:pic>
        <p:nvPicPr>
          <p:cNvPr id="96117824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76503" y="3332387"/>
            <a:ext cx="2358154" cy="1907721"/>
          </a:xfrm>
          <a:prstGeom prst="rect">
            <a:avLst/>
          </a:prstGeom>
        </p:spPr>
      </p:pic>
      <p:sp>
        <p:nvSpPr>
          <p:cNvPr id="1164653199" name=""/>
          <p:cNvSpPr txBox="1"/>
          <p:nvPr/>
        </p:nvSpPr>
        <p:spPr bwMode="auto">
          <a:xfrm rot="0" flipH="0" flipV="0">
            <a:off x="444822" y="1271332"/>
            <a:ext cx="1821515" cy="2019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1.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265249181" name=""/>
          <p:cNvSpPr txBox="1"/>
          <p:nvPr/>
        </p:nvSpPr>
        <p:spPr bwMode="auto">
          <a:xfrm rot="0" flipH="0" flipV="0">
            <a:off x="3371166" y="-12318013"/>
            <a:ext cx="8238962" cy="72272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Tipe 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712399808" name=""/>
          <p:cNvSpPr/>
          <p:nvPr/>
        </p:nvSpPr>
        <p:spPr bwMode="auto">
          <a:xfrm flipH="0" flipV="0">
            <a:off x="3360341" y="-9415155"/>
            <a:ext cx="2648363" cy="4242740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latin typeface="Comfortaa"/>
                <a:ea typeface="Comfortaa"/>
                <a:cs typeface="Comfortaa"/>
              </a:rPr>
              <a:t>Storage XSS</a:t>
            </a:r>
            <a:endParaRPr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Tersimpan Pada Penyimpanan Server dan Dijalankan Ketika User Lain Mengakses Website</a:t>
            </a:r>
            <a:endParaRPr>
              <a:latin typeface="Comfortaa"/>
              <a:cs typeface="Comfortaa"/>
            </a:endParaRPr>
          </a:p>
        </p:txBody>
      </p:sp>
      <p:pic>
        <p:nvPicPr>
          <p:cNvPr id="104599201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4003024" y="-5323580"/>
            <a:ext cx="1133476" cy="1133476"/>
          </a:xfrm>
          <a:prstGeom prst="rect">
            <a:avLst/>
          </a:prstGeom>
        </p:spPr>
      </p:pic>
      <p:sp>
        <p:nvSpPr>
          <p:cNvPr id="1722527463" name=""/>
          <p:cNvSpPr/>
          <p:nvPr/>
        </p:nvSpPr>
        <p:spPr bwMode="auto">
          <a:xfrm flipH="0" flipV="0">
            <a:off x="6258117" y="-7314052"/>
            <a:ext cx="2648363" cy="4242740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Reflected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Url Website Dan Akan Dijalankan  Ketika Url  Tersebut Dimuat</a:t>
            </a:r>
            <a:endParaRPr>
              <a:latin typeface="Comfortaa"/>
              <a:cs typeface="Comfortaa"/>
            </a:endParaRPr>
          </a:p>
        </p:txBody>
      </p:sp>
      <p:sp>
        <p:nvSpPr>
          <p:cNvPr id="2071621289" name=""/>
          <p:cNvSpPr/>
          <p:nvPr/>
        </p:nvSpPr>
        <p:spPr bwMode="auto">
          <a:xfrm flipH="0" flipV="0">
            <a:off x="9155893" y="-5539787"/>
            <a:ext cx="2648363" cy="4242740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DOM Based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Client Browser Sehingga Sulit Terdeteksi Oleh Server</a:t>
            </a:r>
            <a:endParaRPr lang="en-US" sz="1800" b="1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ctr">
              <a:lnSpc>
                <a:spcPct val="114999"/>
              </a:lnSpc>
              <a:defRPr/>
            </a:pPr>
            <a:endParaRPr>
              <a:latin typeface="Comfortaa"/>
              <a:cs typeface="Comfortaa"/>
            </a:endParaRPr>
          </a:p>
        </p:txBody>
      </p:sp>
      <p:pic>
        <p:nvPicPr>
          <p:cNvPr id="421377771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9977253" y="-1297045"/>
            <a:ext cx="1005643" cy="982308"/>
          </a:xfrm>
          <a:prstGeom prst="rect">
            <a:avLst/>
          </a:prstGeom>
        </p:spPr>
      </p:pic>
      <p:pic>
        <p:nvPicPr>
          <p:cNvPr id="316048041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6843506" y="-2920142"/>
            <a:ext cx="1477585" cy="831141"/>
          </a:xfrm>
          <a:prstGeom prst="rect">
            <a:avLst/>
          </a:prstGeom>
        </p:spPr>
      </p:pic>
      <p:sp>
        <p:nvSpPr>
          <p:cNvPr id="1850398503" name=""/>
          <p:cNvSpPr txBox="1"/>
          <p:nvPr/>
        </p:nvSpPr>
        <p:spPr bwMode="auto">
          <a:xfrm rot="0" flipH="0" flipV="0">
            <a:off x="3371166" y="479148"/>
            <a:ext cx="8246522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Contoh Serangan XSS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115640445" name=""/>
          <p:cNvSpPr txBox="1"/>
          <p:nvPr/>
        </p:nvSpPr>
        <p:spPr bwMode="auto">
          <a:xfrm rot="0" flipH="0" flipV="0">
            <a:off x="3648106" y="1539524"/>
            <a:ext cx="7541396" cy="21949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Pada Tahun 2019, Seorang Penelity Cybersecurity Bernama Gel Weizman Menemukan Kerentanan XSS Pada Whatsapp Web Yang Mampu Menyebabkan Serangan XSS Terus Menurus Melalui Open Redirect.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220612231" name=""/>
          <p:cNvSpPr txBox="1"/>
          <p:nvPr/>
        </p:nvSpPr>
        <p:spPr bwMode="auto">
          <a:xfrm rot="0" flipH="0" flipV="0">
            <a:off x="3648106" y="4103402"/>
            <a:ext cx="7540809" cy="21949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Kerentanan Ini Disebabkan Oleh Konfigurasi File Content Security Policy (CSP)</a:t>
            </a: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Yang Tidak Benar</a:t>
            </a: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Yang Memungkinkan Penyerang Menyisipkan Malicious Code Pada Server Whatsapp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462879374" name=""/>
          <p:cNvSpPr txBox="1"/>
          <p:nvPr/>
        </p:nvSpPr>
        <p:spPr bwMode="auto">
          <a:xfrm rot="0" flipH="0" flipV="0">
            <a:off x="3371166" y="7498390"/>
            <a:ext cx="8252640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Defend Against XSS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557995146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3248023" y="9804585"/>
            <a:ext cx="1578511" cy="1383759"/>
          </a:xfrm>
          <a:prstGeom prst="rect">
            <a:avLst/>
          </a:prstGeom>
        </p:spPr>
      </p:pic>
      <p:sp>
        <p:nvSpPr>
          <p:cNvPr id="2037276237" name=""/>
          <p:cNvSpPr txBox="1"/>
          <p:nvPr/>
        </p:nvSpPr>
        <p:spPr bwMode="auto">
          <a:xfrm rot="0" flipH="0" flipV="0">
            <a:off x="4945599" y="9856206"/>
            <a:ext cx="6844965" cy="128355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Form Validation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Validasi Input Apakah Hanya Berisi Karakter Yang Ditentukan (Angka, Alphabet, dll)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158796476" name=""/>
          <p:cNvSpPr txBox="1"/>
          <p:nvPr/>
        </p:nvSpPr>
        <p:spPr bwMode="auto">
          <a:xfrm rot="0" flipH="0" flipV="0">
            <a:off x="4945599" y="14777961"/>
            <a:ext cx="6860805" cy="128355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Output Encryption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Perubahan Bentuk Output Data Sehingga Tidak Bisa Dibaca Tanpa Key Yang Sesuai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813176413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3507923" y="14840038"/>
            <a:ext cx="1105416" cy="1105416"/>
          </a:xfrm>
          <a:prstGeom prst="rect">
            <a:avLst/>
          </a:prstGeom>
        </p:spPr>
      </p:pic>
      <p:sp>
        <p:nvSpPr>
          <p:cNvPr id="400731706" name=""/>
          <p:cNvSpPr txBox="1"/>
          <p:nvPr/>
        </p:nvSpPr>
        <p:spPr bwMode="auto">
          <a:xfrm rot="0" flipH="0" flipV="0">
            <a:off x="4945599" y="21730257"/>
            <a:ext cx="6908070" cy="1128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HTTP Cookie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Pengunaan HTTP Cookie Untuk Mencegah Javascript Mengakses Token Session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2146538051" name="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 flipH="0" flipV="0">
            <a:off x="3354621" y="21669105"/>
            <a:ext cx="1365315" cy="11075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4318749" name=""/>
          <p:cNvSpPr/>
          <p:nvPr/>
        </p:nvSpPr>
        <p:spPr bwMode="auto">
          <a:xfrm rot="0" flipH="0" flipV="0">
            <a:off x="-283797" y="-35473"/>
            <a:ext cx="15125697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634007967" name=""/>
          <p:cNvSpPr/>
          <p:nvPr/>
        </p:nvSpPr>
        <p:spPr bwMode="auto">
          <a:xfrm rot="0" flipH="0" flipV="0">
            <a:off x="-283797" y="-31748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37533613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3930" y="9392245"/>
            <a:ext cx="2183301" cy="2183301"/>
          </a:xfrm>
          <a:prstGeom prst="rect">
            <a:avLst/>
          </a:prstGeom>
        </p:spPr>
      </p:pic>
      <p:sp>
        <p:nvSpPr>
          <p:cNvPr id="157657780" name=""/>
          <p:cNvSpPr txBox="1"/>
          <p:nvPr/>
        </p:nvSpPr>
        <p:spPr bwMode="auto">
          <a:xfrm rot="0" flipH="0" flipV="0">
            <a:off x="3802902" y="-26370219"/>
            <a:ext cx="8123563" cy="118907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114542599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76503" y="3332387"/>
            <a:ext cx="2358154" cy="1907721"/>
          </a:xfrm>
          <a:prstGeom prst="rect">
            <a:avLst/>
          </a:prstGeom>
        </p:spPr>
      </p:pic>
      <p:sp>
        <p:nvSpPr>
          <p:cNvPr id="842748025" name=""/>
          <p:cNvSpPr txBox="1"/>
          <p:nvPr/>
        </p:nvSpPr>
        <p:spPr bwMode="auto">
          <a:xfrm rot="0" flipH="0" flipV="0">
            <a:off x="444822" y="1271332"/>
            <a:ext cx="1821515" cy="2019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1.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783598131" name=""/>
          <p:cNvSpPr txBox="1"/>
          <p:nvPr/>
        </p:nvSpPr>
        <p:spPr bwMode="auto">
          <a:xfrm rot="0" flipH="0" flipV="0">
            <a:off x="3371166" y="-11835315"/>
            <a:ext cx="8246522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Contoh Serangan XSS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338167592" name=""/>
          <p:cNvSpPr txBox="1"/>
          <p:nvPr/>
        </p:nvSpPr>
        <p:spPr bwMode="auto">
          <a:xfrm rot="0" flipH="0" flipV="0">
            <a:off x="3371166" y="413991"/>
            <a:ext cx="8252281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Defend Against XSS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18164576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3248024" y="1470211"/>
            <a:ext cx="1578512" cy="1383760"/>
          </a:xfrm>
          <a:prstGeom prst="rect">
            <a:avLst/>
          </a:prstGeom>
        </p:spPr>
      </p:pic>
      <p:sp>
        <p:nvSpPr>
          <p:cNvPr id="1765059451" name=""/>
          <p:cNvSpPr txBox="1"/>
          <p:nvPr/>
        </p:nvSpPr>
        <p:spPr bwMode="auto">
          <a:xfrm rot="0" flipH="0" flipV="0">
            <a:off x="4945599" y="1521831"/>
            <a:ext cx="6844606" cy="128356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Form Validation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Validasi Input Apakah Hanya Berisi Karakter Yang Ditentukan (Angka, Alphabet, dll)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267304751" name=""/>
          <p:cNvSpPr txBox="1"/>
          <p:nvPr/>
        </p:nvSpPr>
        <p:spPr bwMode="auto">
          <a:xfrm rot="0" flipH="0" flipV="0">
            <a:off x="4945599" y="3228899"/>
            <a:ext cx="6860446" cy="128356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Output Encryption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Perubahan Bentuk Output Data Sehingga Tidak Bisa Dibaca Tanpa Key Yang Sesuai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1975700466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3507924" y="3290976"/>
            <a:ext cx="1105417" cy="1105417"/>
          </a:xfrm>
          <a:prstGeom prst="rect">
            <a:avLst/>
          </a:prstGeom>
        </p:spPr>
      </p:pic>
      <p:sp>
        <p:nvSpPr>
          <p:cNvPr id="1147011714" name=""/>
          <p:cNvSpPr txBox="1"/>
          <p:nvPr/>
        </p:nvSpPr>
        <p:spPr bwMode="auto">
          <a:xfrm rot="0" flipH="0" flipV="0">
            <a:off x="4945599" y="5001976"/>
            <a:ext cx="6907711" cy="1128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HTTP Cookie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Pengunaan HTTP Cookie Untuk Mencegah Javascript Mengakses Token Session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699711656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3354622" y="4940823"/>
            <a:ext cx="1365316" cy="1107550"/>
          </a:xfrm>
          <a:prstGeom prst="rect">
            <a:avLst/>
          </a:prstGeom>
        </p:spPr>
      </p:pic>
      <p:sp>
        <p:nvSpPr>
          <p:cNvPr id="1537227548" name=""/>
          <p:cNvSpPr txBox="1"/>
          <p:nvPr/>
        </p:nvSpPr>
        <p:spPr bwMode="auto">
          <a:xfrm rot="0" flipH="0" flipV="0">
            <a:off x="3648106" y="-8402194"/>
            <a:ext cx="7541755" cy="219490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Pada Tahun 2019, Seorang Penelity Cybersecurity Bernama Gel Weizman Menemukan Kerentanan XSS Pada Whatsapp Web Yang Mampu Menyebabkan Serangan XSS Terus Menurus Melalui Open Redirect.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15714126" name=""/>
          <p:cNvSpPr txBox="1"/>
          <p:nvPr/>
        </p:nvSpPr>
        <p:spPr bwMode="auto">
          <a:xfrm rot="0" flipH="0" flipV="0">
            <a:off x="3648106" y="-3099879"/>
            <a:ext cx="7541168" cy="219490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Kerentanan Ini Disebabkan Oleh Konfigurasi File Content Security Policy (CSP)</a:t>
            </a: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Yang Tidak Benar</a:t>
            </a: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Yang Memungkinkan Penyerang Menyisipkan Malicious Code Pada Server Whatsapp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375576132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403686" y="-4182033"/>
            <a:ext cx="2164309" cy="2164309"/>
          </a:xfrm>
          <a:prstGeom prst="rect">
            <a:avLst/>
          </a:prstGeom>
        </p:spPr>
      </p:pic>
      <p:sp>
        <p:nvSpPr>
          <p:cNvPr id="2139134476" name=""/>
          <p:cNvSpPr txBox="1"/>
          <p:nvPr/>
        </p:nvSpPr>
        <p:spPr bwMode="auto">
          <a:xfrm rot="0" flipH="0" flipV="0">
            <a:off x="597222" y="-5848690"/>
            <a:ext cx="1822954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2.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8879932" name=""/>
          <p:cNvSpPr/>
          <p:nvPr/>
        </p:nvSpPr>
        <p:spPr bwMode="auto">
          <a:xfrm rot="0" flipH="0" flipV="0">
            <a:off x="-283797" y="-35473"/>
            <a:ext cx="15125697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808647783" name=""/>
          <p:cNvSpPr/>
          <p:nvPr/>
        </p:nvSpPr>
        <p:spPr bwMode="auto">
          <a:xfrm rot="0" flipH="0" flipV="0">
            <a:off x="-283797" y="-31748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84620617" name=""/>
          <p:cNvSpPr txBox="1"/>
          <p:nvPr/>
        </p:nvSpPr>
        <p:spPr bwMode="auto">
          <a:xfrm rot="0" flipH="0" flipV="0">
            <a:off x="3802902" y="-26370219"/>
            <a:ext cx="8123563" cy="118907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74408475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76503" y="11916794"/>
            <a:ext cx="2358154" cy="1907721"/>
          </a:xfrm>
          <a:prstGeom prst="rect">
            <a:avLst/>
          </a:prstGeom>
        </p:spPr>
      </p:pic>
      <p:sp>
        <p:nvSpPr>
          <p:cNvPr id="1710876831" name=""/>
          <p:cNvSpPr txBox="1"/>
          <p:nvPr/>
        </p:nvSpPr>
        <p:spPr bwMode="auto">
          <a:xfrm rot="0" flipH="0" flipV="0">
            <a:off x="444822" y="9855739"/>
            <a:ext cx="1821515" cy="2019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1.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23027489" name=""/>
          <p:cNvSpPr txBox="1"/>
          <p:nvPr/>
        </p:nvSpPr>
        <p:spPr bwMode="auto">
          <a:xfrm rot="0" flipH="0" flipV="0">
            <a:off x="3371166" y="-15778507"/>
            <a:ext cx="8252281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Defend Against XSS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122473568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248024" y="-11208420"/>
            <a:ext cx="1578512" cy="1383760"/>
          </a:xfrm>
          <a:prstGeom prst="rect">
            <a:avLst/>
          </a:prstGeom>
        </p:spPr>
      </p:pic>
      <p:sp>
        <p:nvSpPr>
          <p:cNvPr id="1033010328" name=""/>
          <p:cNvSpPr txBox="1"/>
          <p:nvPr/>
        </p:nvSpPr>
        <p:spPr bwMode="auto">
          <a:xfrm rot="0" flipH="0" flipV="0">
            <a:off x="4945599" y="-11156799"/>
            <a:ext cx="6844606" cy="128356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Form Validation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Validasi Input Apakah Hanya Berisi Karakter Yang Ditentukan (Angka, Alphabet, dll)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2070508331" name=""/>
          <p:cNvSpPr txBox="1"/>
          <p:nvPr/>
        </p:nvSpPr>
        <p:spPr bwMode="auto">
          <a:xfrm rot="0" flipH="0" flipV="0">
            <a:off x="4945599" y="-6473170"/>
            <a:ext cx="6860446" cy="128356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Output Encryption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lnSpc>
                <a:spcPct val="114999"/>
              </a:lnSpc>
              <a:defRPr/>
            </a:pP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Perubahan Bentuk Output Data Sehingga Tidak Bisa Dibaca Tanpa Key Yang Sesuai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101839642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3507924" y="-6411093"/>
            <a:ext cx="1105417" cy="1105417"/>
          </a:xfrm>
          <a:prstGeom prst="rect">
            <a:avLst/>
          </a:prstGeom>
        </p:spPr>
      </p:pic>
      <p:sp>
        <p:nvSpPr>
          <p:cNvPr id="40375144" name=""/>
          <p:cNvSpPr txBox="1"/>
          <p:nvPr/>
        </p:nvSpPr>
        <p:spPr bwMode="auto">
          <a:xfrm rot="0" flipH="0" flipV="0">
            <a:off x="4945599" y="-2439429"/>
            <a:ext cx="6907711" cy="1128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HTTP Cookie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  <a:p>
            <a:pPr algn="just"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Pengunaan HTTP Cookie Untuk Mencegah Javascript Mengakses Token Session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pic>
        <p:nvPicPr>
          <p:cNvPr id="1079272826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3354622" y="-2499058"/>
            <a:ext cx="1365316" cy="1107550"/>
          </a:xfrm>
          <a:prstGeom prst="rect">
            <a:avLst/>
          </a:prstGeom>
        </p:spPr>
      </p:pic>
      <p:pic>
        <p:nvPicPr>
          <p:cNvPr id="92129341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251286" y="2938708"/>
            <a:ext cx="2164309" cy="2164309"/>
          </a:xfrm>
          <a:prstGeom prst="rect">
            <a:avLst/>
          </a:prstGeom>
        </p:spPr>
      </p:pic>
      <p:sp>
        <p:nvSpPr>
          <p:cNvPr id="1681946891" name=""/>
          <p:cNvSpPr txBox="1"/>
          <p:nvPr/>
        </p:nvSpPr>
        <p:spPr bwMode="auto">
          <a:xfrm rot="0" flipH="0" flipV="0">
            <a:off x="444822" y="1271872"/>
            <a:ext cx="1822595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2.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ONLYOFFICE/9.2.1.43</Application>
  <PresentationFormat>On-screen Show (4:3)</PresentationFormat>
  <Paragraphs>0</Paragraphs>
  <Slides>11</Slides>
  <Notes>11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8</cp:revision>
  <dcterms:modified xsi:type="dcterms:W3CDTF">2026-04-16T14:31:48Z</dcterms:modified>
</cp:coreProperties>
</file>
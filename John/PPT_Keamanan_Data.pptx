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040134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0121261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221736555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4648822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5268151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9787429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5789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2695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31220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33332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57338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082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BA6ACB-3E33-26F6-A403-98F136AD5B1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8238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5391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4470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2ED4EA8-CDAC-D53C-F10F-1AE6B5111CF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38507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816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549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9E7097A-5D08-F5CE-2247-0D17B0AF4C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87158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0145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123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B068C6-D034-77F0-FCE9-043222456E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9876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6293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77322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29B7F6-FA80-661A-DB3F-46AC03E35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63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93641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58891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ABB1DB-E701-DC36-77EF-7664D5FE73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3139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1209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01323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20E0A74-FE12-8F78-B2BB-D20785F218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18233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81554194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9436491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30093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979312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301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740667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621392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6788989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080826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9806617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343904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49845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94777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022430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00123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8739371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37114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0063974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722817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691298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326354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3892609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06466428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2238057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9709247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83411238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5453806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7469494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957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2893415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4437275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5522452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067577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480712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76121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96517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41458802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6074575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548683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42545835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1284422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7511225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614882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43374908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2577559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974961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950881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66828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725371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098302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457963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4308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5091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068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21413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97406311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793387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167541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3460763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5636692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312644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6505093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708174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pic>
        <p:nvPicPr>
          <p:cNvPr id="28558733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-100443" y="-66185"/>
            <a:ext cx="12293287" cy="6928947"/>
          </a:xfrm>
          <a:prstGeom prst="rect">
            <a:avLst/>
          </a:prstGeom>
        </p:spPr>
      </p:pic>
      <p:sp>
        <p:nvSpPr>
          <p:cNvPr id="1576148726" name=""/>
          <p:cNvSpPr/>
          <p:nvPr/>
        </p:nvSpPr>
        <p:spPr bwMode="auto">
          <a:xfrm rot="0" flipH="0" flipV="0">
            <a:off x="-360000" y="-89997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97008271" name=""/>
          <p:cNvSpPr txBox="1"/>
          <p:nvPr/>
        </p:nvSpPr>
        <p:spPr bwMode="auto">
          <a:xfrm rot="0" flipH="0" flipV="0">
            <a:off x="618220" y="1242418"/>
            <a:ext cx="7861918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07107114" name=""/>
          <p:cNvSpPr txBox="1"/>
          <p:nvPr/>
        </p:nvSpPr>
        <p:spPr bwMode="auto">
          <a:xfrm rot="0" flipH="0" flipV="0">
            <a:off x="618220" y="4127627"/>
            <a:ext cx="945163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82376923" name=""/>
          <p:cNvSpPr/>
          <p:nvPr/>
        </p:nvSpPr>
        <p:spPr bwMode="auto">
          <a:xfrm rot="0" flipH="0" flipV="0">
            <a:off x="-18704970" y="15873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307938988" name=""/>
          <p:cNvSpPr txBox="1"/>
          <p:nvPr/>
        </p:nvSpPr>
        <p:spPr bwMode="auto">
          <a:xfrm rot="0" flipH="0" flipV="0">
            <a:off x="-19853392" y="601978"/>
            <a:ext cx="9202669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435605877" name=""/>
          <p:cNvSpPr txBox="1"/>
          <p:nvPr/>
        </p:nvSpPr>
        <p:spPr bwMode="auto">
          <a:xfrm rot="0" flipH="0" flipV="0">
            <a:off x="-19439061" y="1757448"/>
            <a:ext cx="8513318" cy="23701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459467970" name=""/>
          <p:cNvSpPr txBox="1"/>
          <p:nvPr/>
        </p:nvSpPr>
        <p:spPr bwMode="auto">
          <a:xfrm rot="0" flipH="0" flipV="0">
            <a:off x="-19439061" y="4387979"/>
            <a:ext cx="8514038" cy="191448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247880860" name=""/>
          <p:cNvSpPr/>
          <p:nvPr/>
        </p:nvSpPr>
        <p:spPr bwMode="auto">
          <a:xfrm rot="0" flipH="0" flipV="0">
            <a:off x="-26186176" y="15874"/>
            <a:ext cx="3278763" cy="6877597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89923535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-29162562" y="2169641"/>
            <a:ext cx="2518713" cy="25187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496662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1" flipV="0">
            <a:off x="2102212" y="-66185"/>
            <a:ext cx="12293287" cy="6928947"/>
          </a:xfrm>
          <a:prstGeom prst="rect">
            <a:avLst/>
          </a:prstGeom>
        </p:spPr>
      </p:pic>
      <p:sp>
        <p:nvSpPr>
          <p:cNvPr id="1182539809" name=""/>
          <p:cNvSpPr/>
          <p:nvPr/>
        </p:nvSpPr>
        <p:spPr bwMode="auto">
          <a:xfrm rot="0" flipH="0" flipV="0">
            <a:off x="5932039" y="-89996"/>
            <a:ext cx="11201399" cy="6928947"/>
          </a:xfrm>
          <a:prstGeom prst="homePlate">
            <a:avLst>
              <a:gd name="adj" fmla="val 39370"/>
            </a:avLst>
          </a:prstGeom>
          <a:solidFill>
            <a:srgbClr val="000000">
              <a:alpha val="80000"/>
            </a:srgbClr>
          </a:solidFill>
          <a:ln w="28575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834729526" name=""/>
          <p:cNvSpPr txBox="1"/>
          <p:nvPr/>
        </p:nvSpPr>
        <p:spPr bwMode="auto">
          <a:xfrm rot="0" flipH="0" flipV="0">
            <a:off x="6910260" y="1242418"/>
            <a:ext cx="7862277" cy="23473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Keamanan Data &amp; Informasi Pada</a:t>
            </a:r>
            <a:br>
              <a:rPr sz="28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</a:br>
            <a:r>
              <a:rPr sz="120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280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577612149" name=""/>
          <p:cNvSpPr txBox="1"/>
          <p:nvPr/>
        </p:nvSpPr>
        <p:spPr bwMode="auto">
          <a:xfrm rot="0" flipH="0" flipV="0">
            <a:off x="6910260" y="4127627"/>
            <a:ext cx="9451990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Rafly Fattaya</a:t>
            </a: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(310124023697)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Jonathan Andrew Wijaya (310124023844)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Nazril Anbiya Rasyada (310124023851)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Muhammad Iqbal Fahrezi (310124023855)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  <a:p>
            <a:pPr algn="l">
              <a:lnSpc>
                <a:spcPct val="114999"/>
              </a:lnSpc>
              <a:defRPr/>
            </a:pPr>
            <a:r>
              <a:rPr sz="2200" b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Valentinus Bolly Wuran Tedez (310124023876)</a:t>
            </a:r>
            <a:endParaRPr sz="2200" b="0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37069869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144294233" name=""/>
          <p:cNvSpPr/>
          <p:nvPr/>
        </p:nvSpPr>
        <p:spPr bwMode="auto">
          <a:xfrm rot="0" flipH="0" flipV="0">
            <a:off x="-283798" y="-31750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2048009457" name=""/>
          <p:cNvSpPr txBox="1"/>
          <p:nvPr/>
        </p:nvSpPr>
        <p:spPr bwMode="auto">
          <a:xfrm rot="0" flipH="0" flipV="0">
            <a:off x="2893829" y="601978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02804747" name=""/>
          <p:cNvSpPr txBox="1"/>
          <p:nvPr/>
        </p:nvSpPr>
        <p:spPr bwMode="auto">
          <a:xfrm rot="0" flipH="0" flipV="0">
            <a:off x="3308160" y="1757448"/>
            <a:ext cx="851367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261389760" name=""/>
          <p:cNvSpPr txBox="1"/>
          <p:nvPr/>
        </p:nvSpPr>
        <p:spPr bwMode="auto">
          <a:xfrm rot="0" flipH="0" flipV="0">
            <a:off x="3308160" y="438797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005295928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216822203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192628" y="2169642"/>
            <a:ext cx="2518714" cy="2518714"/>
          </a:xfrm>
          <a:prstGeom prst="rect">
            <a:avLst/>
          </a:prstGeom>
        </p:spPr>
      </p:pic>
      <p:sp>
        <p:nvSpPr>
          <p:cNvPr id="1952125932" name=""/>
          <p:cNvSpPr txBox="1"/>
          <p:nvPr/>
        </p:nvSpPr>
        <p:spPr bwMode="auto">
          <a:xfrm rot="0" flipH="0" flipV="0">
            <a:off x="4263655" y="7180011"/>
            <a:ext cx="753082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248228221" name=""/>
          <p:cNvSpPr txBox="1"/>
          <p:nvPr/>
        </p:nvSpPr>
        <p:spPr bwMode="auto">
          <a:xfrm rot="0" flipH="0" flipV="0">
            <a:off x="3704061" y="9813283"/>
            <a:ext cx="812124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82656515" name=""/>
          <p:cNvSpPr txBox="1"/>
          <p:nvPr/>
        </p:nvSpPr>
        <p:spPr bwMode="auto">
          <a:xfrm rot="0" flipH="0" flipV="0">
            <a:off x="3704061" y="13563222"/>
            <a:ext cx="822240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486097900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82022" y="-3657216"/>
            <a:ext cx="2147117" cy="21471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3635718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376103022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46665651" name=""/>
          <p:cNvSpPr txBox="1"/>
          <p:nvPr/>
        </p:nvSpPr>
        <p:spPr bwMode="auto">
          <a:xfrm rot="0" flipH="0" flipV="0">
            <a:off x="2893829" y="-11018520"/>
            <a:ext cx="9202310" cy="640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Keamanan Data &amp; Informasi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365861576" name=""/>
          <p:cNvSpPr txBox="1"/>
          <p:nvPr/>
        </p:nvSpPr>
        <p:spPr bwMode="auto">
          <a:xfrm rot="0" flipH="0" flipV="0">
            <a:off x="3308160" y="-7402426"/>
            <a:ext cx="8512959" cy="23701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Perlindungan atas data dan informasi pada era digital ini menjadi hal yang sangat penting</a:t>
            </a: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 yang disebabkan oleh banyaknya tindakan kejahatan yang dapat merugikan banyak pihak tanpa adanya keamanan data &amp; informasi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708028676" name=""/>
          <p:cNvSpPr txBox="1"/>
          <p:nvPr/>
        </p:nvSpPr>
        <p:spPr bwMode="auto">
          <a:xfrm rot="0" flipH="0" flipV="0">
            <a:off x="3308160" y="-2978019"/>
            <a:ext cx="8513679" cy="191450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6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Dengan memiliki akses pada data digital yang sensitif, pelaku kejahatan dapat melakukan berbagai hal seperti transaksi illegal, pemerasan, kecurangan, dan lainya</a:t>
            </a:r>
            <a:endParaRPr sz="26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sp>
        <p:nvSpPr>
          <p:cNvPr id="1606528822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24177156" name=""/>
          <p:cNvSpPr txBox="1"/>
          <p:nvPr/>
        </p:nvSpPr>
        <p:spPr bwMode="auto">
          <a:xfrm rot="0" flipH="0" flipV="0">
            <a:off x="4263656" y="214855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16588426" name=""/>
          <p:cNvSpPr txBox="1"/>
          <p:nvPr/>
        </p:nvSpPr>
        <p:spPr bwMode="auto">
          <a:xfrm rot="0" flipH="0" flipV="0">
            <a:off x="3704062" y="1657501"/>
            <a:ext cx="8120887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176480158" name=""/>
          <p:cNvSpPr txBox="1"/>
          <p:nvPr/>
        </p:nvSpPr>
        <p:spPr bwMode="auto">
          <a:xfrm rot="0" flipH="0" flipV="0">
            <a:off x="3704062" y="3978504"/>
            <a:ext cx="8222046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541131775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2355440"/>
            <a:ext cx="2147117" cy="2147117"/>
          </a:xfrm>
          <a:prstGeom prst="rect">
            <a:avLst/>
          </a:prstGeom>
        </p:spPr>
      </p:pic>
      <p:sp>
        <p:nvSpPr>
          <p:cNvPr id="217377675" name=""/>
          <p:cNvSpPr txBox="1"/>
          <p:nvPr/>
        </p:nvSpPr>
        <p:spPr bwMode="auto">
          <a:xfrm rot="0" flipH="0" flipV="0">
            <a:off x="3802903" y="7634027"/>
            <a:ext cx="8123923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24940296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0" y="-3599626"/>
            <a:ext cx="2183301" cy="2183301"/>
          </a:xfrm>
          <a:prstGeom prst="rect">
            <a:avLst/>
          </a:prstGeom>
        </p:spPr>
      </p:pic>
      <p:pic>
        <p:nvPicPr>
          <p:cNvPr id="137605408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8" y="13716478"/>
            <a:ext cx="826872" cy="789881"/>
          </a:xfrm>
          <a:prstGeom prst="rect">
            <a:avLst/>
          </a:prstGeom>
        </p:spPr>
      </p:pic>
      <p:pic>
        <p:nvPicPr>
          <p:cNvPr id="615581548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0" y="17529300"/>
            <a:ext cx="941857" cy="941857"/>
          </a:xfrm>
          <a:prstGeom prst="rect">
            <a:avLst/>
          </a:prstGeom>
        </p:spPr>
      </p:pic>
      <p:pic>
        <p:nvPicPr>
          <p:cNvPr id="287321898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8" y="23303849"/>
            <a:ext cx="836973" cy="836973"/>
          </a:xfrm>
          <a:prstGeom prst="rect">
            <a:avLst/>
          </a:prstGeom>
        </p:spPr>
      </p:pic>
      <p:pic>
        <p:nvPicPr>
          <p:cNvPr id="1827410160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8" y="30783264"/>
            <a:ext cx="843876" cy="843876"/>
          </a:xfrm>
          <a:prstGeom prst="rect">
            <a:avLst/>
          </a:prstGeom>
        </p:spPr>
      </p:pic>
      <p:pic>
        <p:nvPicPr>
          <p:cNvPr id="1678323071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3371166" y="10505858"/>
            <a:ext cx="904452" cy="78956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945781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2105099011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864086964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2936796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65396850" name=""/>
          <p:cNvSpPr txBox="1"/>
          <p:nvPr/>
        </p:nvSpPr>
        <p:spPr bwMode="auto">
          <a:xfrm rot="0" flipH="0" flipV="0">
            <a:off x="3704062" y="-7200747"/>
            <a:ext cx="8120887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131994983" name=""/>
          <p:cNvSpPr txBox="1"/>
          <p:nvPr/>
        </p:nvSpPr>
        <p:spPr bwMode="auto">
          <a:xfrm rot="0" flipH="0" flipV="0">
            <a:off x="3704062" y="-3260495"/>
            <a:ext cx="8222046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94140383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07656086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625662702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33685428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56427975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223504713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482230658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791134348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 advTm="0">
        <p159:morph option="byObject"/>
      </p:transition>
    </mc:Choice>
    <mc:Fallback>
      <p:transition spd="slow" advClick="1" advTm="0">
        <p:fade/>
      </p:transition>
    </mc:Fallback>
  </mc:AlternateContent>
  <p:timing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181279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748201572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301800794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64077447" name=""/>
          <p:cNvSpPr txBox="1"/>
          <p:nvPr/>
        </p:nvSpPr>
        <p:spPr bwMode="auto">
          <a:xfrm rot="0" flipH="0" flipV="0">
            <a:off x="4263656" y="-10929393"/>
            <a:ext cx="7530465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Pentingnya Keamanan Data &amp; Informasi Pada 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sp>
        <p:nvSpPr>
          <p:cNvPr id="436460847" name=""/>
          <p:cNvSpPr txBox="1"/>
          <p:nvPr/>
        </p:nvSpPr>
        <p:spPr bwMode="auto">
          <a:xfrm rot="0" flipH="0" flipV="0">
            <a:off x="3704062" y="-7200747"/>
            <a:ext cx="8120887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Semenjak perkembangan internet 3.0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, website sudah menjadi salah satu media untuk berbagi dan mendapatkan data. Kemudahan akses suatu website menjadi salah satu alasan utama pendukung alasan tersebut.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20610837" name=""/>
          <p:cNvSpPr txBox="1"/>
          <p:nvPr/>
        </p:nvSpPr>
        <p:spPr bwMode="auto">
          <a:xfrm rot="0" flipH="0" flipV="0">
            <a:off x="3704062" y="-3260495"/>
            <a:ext cx="8222046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Namun kemudahan akses tersebut menjadikan website suatu target utama dalam berbagai macam serangan data dan informasi. Jumlah pengunjung yang menggunakan suatu website serta kemudahan akses membuat website rentan diserang</a:t>
            </a:r>
            <a:r>
              <a:rPr sz="2200" b="1">
                <a:gradFill>
                  <a:gsLst>
                    <a:gs pos="0">
                      <a:srgbClr val="00E4F0"/>
                    </a:gs>
                    <a:gs pos="100000">
                      <a:srgbClr val="00B0F0"/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.</a:t>
            </a:r>
            <a:endParaRPr sz="2200" b="1">
              <a:gradFill>
                <a:gsLst>
                  <a:gs pos="0">
                    <a:srgbClr val="00E4F0"/>
                  </a:gs>
                  <a:gs pos="100000">
                    <a:srgbClr val="00B0F0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pic>
        <p:nvPicPr>
          <p:cNvPr id="112306154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82023" y="9575390"/>
            <a:ext cx="2147117" cy="2147117"/>
          </a:xfrm>
          <a:prstGeom prst="rect">
            <a:avLst/>
          </a:prstGeom>
        </p:spPr>
      </p:pic>
      <p:pic>
        <p:nvPicPr>
          <p:cNvPr id="191460570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1750979351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772817306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56512646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33625728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976436611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77032835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251379850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567533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354716765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131665659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55011832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3798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513798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675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55675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4716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3547167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665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" dur="500"/>
                                        <p:tgtEl>
                                          <p:spTgt spid="11316656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50118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500"/>
                                        <p:tgtEl>
                                          <p:spTgt spid="8550118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8422456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696795244" name=""/>
          <p:cNvSpPr/>
          <p:nvPr/>
        </p:nvSpPr>
        <p:spPr bwMode="auto">
          <a:xfrm rot="0" flipH="0" flipV="0">
            <a:off x="-283798" y="-38601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430269939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481723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2363023"/>
            <a:ext cx="2183301" cy="2183301"/>
          </a:xfrm>
          <a:prstGeom prst="rect">
            <a:avLst/>
          </a:prstGeom>
        </p:spPr>
      </p:pic>
      <p:sp>
        <p:nvSpPr>
          <p:cNvPr id="744039272" name=""/>
          <p:cNvSpPr txBox="1"/>
          <p:nvPr/>
        </p:nvSpPr>
        <p:spPr bwMode="auto">
          <a:xfrm rot="0" flipH="0" flipV="0">
            <a:off x="3802903" y="299778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75328577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1623796"/>
            <a:ext cx="904453" cy="789563"/>
          </a:xfrm>
          <a:prstGeom prst="rect">
            <a:avLst/>
          </a:prstGeom>
        </p:spPr>
      </p:pic>
      <p:pic>
        <p:nvPicPr>
          <p:cNvPr id="23872656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2619853"/>
            <a:ext cx="826873" cy="789881"/>
          </a:xfrm>
          <a:prstGeom prst="rect">
            <a:avLst/>
          </a:prstGeom>
        </p:spPr>
      </p:pic>
      <p:pic>
        <p:nvPicPr>
          <p:cNvPr id="1807321285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3575176"/>
            <a:ext cx="941857" cy="941857"/>
          </a:xfrm>
          <a:prstGeom prst="rect">
            <a:avLst/>
          </a:prstGeom>
        </p:spPr>
      </p:pic>
      <p:pic>
        <p:nvPicPr>
          <p:cNvPr id="152384368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4682475"/>
            <a:ext cx="836974" cy="836974"/>
          </a:xfrm>
          <a:prstGeom prst="rect">
            <a:avLst/>
          </a:prstGeom>
        </p:spPr>
      </p:pic>
      <p:pic>
        <p:nvPicPr>
          <p:cNvPr id="205933371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5684890"/>
            <a:ext cx="843876" cy="843876"/>
          </a:xfrm>
          <a:prstGeom prst="rect">
            <a:avLst/>
          </a:prstGeom>
        </p:spPr>
      </p:pic>
      <p:sp>
        <p:nvSpPr>
          <p:cNvPr id="1971413954" name=""/>
          <p:cNvSpPr txBox="1"/>
          <p:nvPr/>
        </p:nvSpPr>
        <p:spPr bwMode="auto">
          <a:xfrm rot="0" flipH="0" flipV="0">
            <a:off x="4499435" y="1727316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80467137" name=""/>
          <p:cNvSpPr txBox="1"/>
          <p:nvPr/>
        </p:nvSpPr>
        <p:spPr bwMode="auto">
          <a:xfrm rot="0" flipH="0" flipV="0">
            <a:off x="4505555" y="2727133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982756038" name=""/>
          <p:cNvSpPr txBox="1"/>
          <p:nvPr/>
        </p:nvSpPr>
        <p:spPr bwMode="auto">
          <a:xfrm rot="0" flipH="0" flipV="0">
            <a:off x="4499435" y="3761503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26288905" name=""/>
          <p:cNvSpPr txBox="1"/>
          <p:nvPr/>
        </p:nvSpPr>
        <p:spPr bwMode="auto">
          <a:xfrm rot="0" flipH="0" flipV="0">
            <a:off x="4505555" y="4878988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54449061" name=""/>
          <p:cNvSpPr txBox="1"/>
          <p:nvPr/>
        </p:nvSpPr>
        <p:spPr bwMode="auto">
          <a:xfrm rot="0" flipH="0" flipV="0">
            <a:off x="4505555" y="5821326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1354703445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3" y="-4049485"/>
            <a:ext cx="2358154" cy="1907721"/>
          </a:xfrm>
          <a:prstGeom prst="rect">
            <a:avLst/>
          </a:prstGeom>
        </p:spPr>
      </p:pic>
      <p:sp>
        <p:nvSpPr>
          <p:cNvPr id="147015554" name=""/>
          <p:cNvSpPr txBox="1"/>
          <p:nvPr/>
        </p:nvSpPr>
        <p:spPr bwMode="auto">
          <a:xfrm rot="0" flipH="0" flipV="0">
            <a:off x="444823" y="-8824986"/>
            <a:ext cx="182187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999929205" name=""/>
          <p:cNvSpPr txBox="1"/>
          <p:nvPr/>
        </p:nvSpPr>
        <p:spPr bwMode="auto">
          <a:xfrm rot="0" flipH="0" flipV="0">
            <a:off x="3371166" y="8142094"/>
            <a:ext cx="82371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570843474" name=""/>
          <p:cNvSpPr txBox="1"/>
          <p:nvPr/>
        </p:nvSpPr>
        <p:spPr bwMode="auto">
          <a:xfrm rot="0" flipH="0" flipV="0">
            <a:off x="3450540" y="12458340"/>
            <a:ext cx="8010295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62599990" name=""/>
          <p:cNvSpPr txBox="1"/>
          <p:nvPr/>
        </p:nvSpPr>
        <p:spPr bwMode="auto">
          <a:xfrm rot="0" flipH="0" flipV="0">
            <a:off x="3450540" y="19096840"/>
            <a:ext cx="801749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31704259" name=""/>
          <p:cNvSpPr txBox="1"/>
          <p:nvPr/>
        </p:nvSpPr>
        <p:spPr bwMode="auto">
          <a:xfrm rot="0" flipH="0" flipV="0">
            <a:off x="3460737" y="19517013"/>
            <a:ext cx="2404590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171405097" name=""/>
          <p:cNvSpPr/>
          <p:nvPr/>
        </p:nvSpPr>
        <p:spPr bwMode="auto">
          <a:xfrm rot="0" flipH="0" flipV="0">
            <a:off x="5514773" y="19561824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424726747" name=""/>
          <p:cNvSpPr txBox="1"/>
          <p:nvPr/>
        </p:nvSpPr>
        <p:spPr bwMode="auto">
          <a:xfrm rot="0" flipH="0" flipV="0">
            <a:off x="3460737" y="25516657"/>
            <a:ext cx="80189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725115337" name=""/>
          <p:cNvSpPr txBox="1"/>
          <p:nvPr/>
        </p:nvSpPr>
        <p:spPr bwMode="auto">
          <a:xfrm rot="0" flipH="0" flipV="0">
            <a:off x="3490228" y="26021452"/>
            <a:ext cx="792580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0" advClick="1" advTm="0"/>
    </mc:Choice>
    <mc:Fallback>
      <p:transition advClick="1" advTm="0"/>
    </mc:Fallback>
  </mc:AlternateContent>
  <p:timing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596920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001101810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560890077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3226915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1658377132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729859624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190644558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2022759194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1123613969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94264724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589224082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22097129" name=""/>
          <p:cNvSpPr txBox="1"/>
          <p:nvPr/>
        </p:nvSpPr>
        <p:spPr bwMode="auto">
          <a:xfrm rot="0" flipH="0" flipV="0">
            <a:off x="4505555" y="-14132116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754317758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188763777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90276687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1559121388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272429328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796680162" name=""/>
          <p:cNvSpPr txBox="1"/>
          <p:nvPr/>
        </p:nvSpPr>
        <p:spPr bwMode="auto">
          <a:xfrm rot="0" flipH="0" flipV="0">
            <a:off x="3371166" y="474290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380597852" name=""/>
          <p:cNvSpPr txBox="1"/>
          <p:nvPr/>
        </p:nvSpPr>
        <p:spPr bwMode="auto">
          <a:xfrm rot="0" flipH="0" flipV="0">
            <a:off x="3450541" y="1409339"/>
            <a:ext cx="8009935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713825798" name=""/>
          <p:cNvSpPr txBox="1"/>
          <p:nvPr/>
        </p:nvSpPr>
        <p:spPr bwMode="auto">
          <a:xfrm rot="0" flipH="0" flipV="0">
            <a:off x="3450541" y="3666341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2035713741" name=""/>
          <p:cNvSpPr txBox="1"/>
          <p:nvPr/>
        </p:nvSpPr>
        <p:spPr bwMode="auto">
          <a:xfrm rot="0" flipH="0" flipV="0">
            <a:off x="3460738" y="4086514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35774089" name=""/>
          <p:cNvSpPr/>
          <p:nvPr/>
        </p:nvSpPr>
        <p:spPr bwMode="auto">
          <a:xfrm rot="0" flipH="0" flipV="0">
            <a:off x="5514774" y="4131325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436571351" name=""/>
          <p:cNvSpPr txBox="1"/>
          <p:nvPr/>
        </p:nvSpPr>
        <p:spPr bwMode="auto">
          <a:xfrm rot="0" flipH="0" flipV="0">
            <a:off x="3460738" y="5133158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428910747" name=""/>
          <p:cNvSpPr txBox="1"/>
          <p:nvPr/>
        </p:nvSpPr>
        <p:spPr bwMode="auto">
          <a:xfrm rot="0" flipH="0" flipV="0">
            <a:off x="3490229" y="5637953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659161470" name=""/>
          <p:cNvSpPr txBox="1"/>
          <p:nvPr/>
        </p:nvSpPr>
        <p:spPr bwMode="auto">
          <a:xfrm rot="0" flipH="0" flipV="0">
            <a:off x="3371166" y="7714548"/>
            <a:ext cx="8239322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061498808" name=""/>
          <p:cNvSpPr/>
          <p:nvPr/>
        </p:nvSpPr>
        <p:spPr bwMode="auto">
          <a:xfrm flipH="0" flipV="0">
            <a:off x="3360341" y="10229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1655701220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4" y="14321264"/>
            <a:ext cx="1133476" cy="1133476"/>
          </a:xfrm>
          <a:prstGeom prst="rect">
            <a:avLst/>
          </a:prstGeom>
        </p:spPr>
      </p:pic>
      <p:sp>
        <p:nvSpPr>
          <p:cNvPr id="1816108348" name=""/>
          <p:cNvSpPr/>
          <p:nvPr/>
        </p:nvSpPr>
        <p:spPr bwMode="auto">
          <a:xfrm flipH="0" flipV="0">
            <a:off x="6258117" y="12658564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1017136037" name=""/>
          <p:cNvSpPr/>
          <p:nvPr/>
        </p:nvSpPr>
        <p:spPr bwMode="auto">
          <a:xfrm flipH="0" flipV="0">
            <a:off x="9155893" y="14801689"/>
            <a:ext cx="2648363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310699953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19044431"/>
            <a:ext cx="1005643" cy="982309"/>
          </a:xfrm>
          <a:prstGeom prst="rect">
            <a:avLst/>
          </a:prstGeom>
        </p:spPr>
      </p:pic>
      <p:pic>
        <p:nvPicPr>
          <p:cNvPr id="711283232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6" y="17052474"/>
            <a:ext cx="1477585" cy="8311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56094" name=""/>
          <p:cNvSpPr/>
          <p:nvPr/>
        </p:nvSpPr>
        <p:spPr bwMode="auto">
          <a:xfrm flipH="0" flipV="0">
            <a:off x="106119" y="1488498"/>
            <a:ext cx="173017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Comfortaa"/>
                <a:ea typeface="Comfortaa"/>
                <a:cs typeface="Comfortaa"/>
              </a:rPr>
              <a:t> </a:t>
            </a:r>
            <a:endParaRPr>
              <a:latin typeface="Comfortaa"/>
              <a:cs typeface="Comfortaa"/>
            </a:endParaRPr>
          </a:p>
        </p:txBody>
      </p:sp>
      <p:sp>
        <p:nvSpPr>
          <p:cNvPr id="1140825841" name=""/>
          <p:cNvSpPr/>
          <p:nvPr/>
        </p:nvSpPr>
        <p:spPr bwMode="auto">
          <a:xfrm rot="0" flipH="0" flipV="0">
            <a:off x="-283798" y="-31749"/>
            <a:ext cx="15125698" cy="6928947"/>
          </a:xfrm>
          <a:prstGeom prst="homePlate">
            <a:avLst>
              <a:gd name="adj" fmla="val 37965"/>
            </a:avLst>
          </a:prstGeom>
          <a:gradFill>
            <a:gsLst>
              <a:gs pos="0">
                <a:schemeClr val="tx1"/>
              </a:gs>
              <a:gs pos="100000">
                <a:schemeClr val="tx1">
                  <a:lumMod val="90000"/>
                  <a:lumOff val="5000"/>
                </a:schemeClr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>
              <a:latin typeface="Comfortaa"/>
              <a:cs typeface="Comfortaa"/>
            </a:endParaRPr>
          </a:p>
        </p:txBody>
      </p:sp>
      <p:sp>
        <p:nvSpPr>
          <p:cNvPr id="1987967187" name=""/>
          <p:cNvSpPr/>
          <p:nvPr/>
        </p:nvSpPr>
        <p:spPr bwMode="auto">
          <a:xfrm rot="0" flipH="0" flipV="0">
            <a:off x="-283798" y="-31749"/>
            <a:ext cx="3278763" cy="6877598"/>
          </a:xfrm>
          <a:prstGeom prst="rect">
            <a:avLst/>
          </a:prstGeom>
          <a:gradFill>
            <a:gsLst>
              <a:gs pos="0">
                <a:srgbClr val="FF944C"/>
              </a:gs>
              <a:gs pos="100000">
                <a:srgbClr val="FFFF00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505630610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263931" y="9392246"/>
            <a:ext cx="2183301" cy="2183301"/>
          </a:xfrm>
          <a:prstGeom prst="rect">
            <a:avLst/>
          </a:prstGeom>
        </p:spPr>
      </p:pic>
      <p:sp>
        <p:nvSpPr>
          <p:cNvPr id="1134141343" name=""/>
          <p:cNvSpPr txBox="1"/>
          <p:nvPr/>
        </p:nvSpPr>
        <p:spPr bwMode="auto">
          <a:xfrm rot="0" flipH="0" flipV="0">
            <a:off x="3802903" y="-26370220"/>
            <a:ext cx="8123564" cy="1189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Macam-Macam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 Serangan Pada </a:t>
            </a:r>
            <a:r>
              <a:rPr sz="3600" b="1">
                <a:gradFill>
                  <a:gsLst>
                    <a:gs pos="0">
                      <a:srgbClr val="FF944C"/>
                    </a:gs>
                    <a:gs pos="100000">
                      <a:schemeClr val="accent4">
                        <a:lumMod val="60000"/>
                        <a:lumOff val="40000"/>
                      </a:schemeClr>
                    </a:gs>
                  </a:gsLst>
                  <a:lin ang="10800000" scaled="1"/>
                </a:gradFill>
                <a:latin typeface="Comfortaa"/>
                <a:ea typeface="Comfortaa"/>
                <a:cs typeface="Comfortaa"/>
              </a:rPr>
              <a:t>Website</a:t>
            </a:r>
            <a:endParaRPr sz="3600" b="1">
              <a:gradFill>
                <a:gsLst>
                  <a:gs pos="0">
                    <a:srgbClr val="FF944C"/>
                  </a:gs>
                  <a:gs pos="100000">
                    <a:schemeClr val="accent4">
                      <a:lumMod val="60000"/>
                      <a:lumOff val="40000"/>
                    </a:schemeClr>
                  </a:gs>
                </a:gsLst>
                <a:lin ang="10800000" scaled="1"/>
              </a:gradFill>
              <a:highlight>
                <a:srgbClr val="000000"/>
              </a:highlight>
              <a:latin typeface="Comfortaa"/>
              <a:cs typeface="Comfortaa"/>
            </a:endParaRPr>
          </a:p>
        </p:txBody>
      </p:sp>
      <p:pic>
        <p:nvPicPr>
          <p:cNvPr id="1948194982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3371166" y="-20283703"/>
            <a:ext cx="904453" cy="789563"/>
          </a:xfrm>
          <a:prstGeom prst="rect">
            <a:avLst/>
          </a:prstGeom>
        </p:spPr>
      </p:pic>
      <p:pic>
        <p:nvPicPr>
          <p:cNvPr id="1210419243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0" flipH="0" flipV="0">
            <a:off x="3490229" y="-14239395"/>
            <a:ext cx="826873" cy="789881"/>
          </a:xfrm>
          <a:prstGeom prst="rect">
            <a:avLst/>
          </a:prstGeom>
        </p:spPr>
      </p:pic>
      <p:pic>
        <p:nvPicPr>
          <p:cNvPr id="230248499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rot="0" flipH="0" flipV="0">
            <a:off x="3450541" y="-9093072"/>
            <a:ext cx="941857" cy="941857"/>
          </a:xfrm>
          <a:prstGeom prst="rect">
            <a:avLst/>
          </a:prstGeom>
        </p:spPr>
      </p:pic>
      <p:pic>
        <p:nvPicPr>
          <p:cNvPr id="370828600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rot="0" flipH="0" flipV="0">
            <a:off x="3490229" y="-5033024"/>
            <a:ext cx="836974" cy="836974"/>
          </a:xfrm>
          <a:prstGeom prst="rect">
            <a:avLst/>
          </a:prstGeom>
        </p:spPr>
      </p:pic>
      <p:pic>
        <p:nvPicPr>
          <p:cNvPr id="160267928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rot="0" flipH="0" flipV="0">
            <a:off x="3490229" y="-2125609"/>
            <a:ext cx="843876" cy="843876"/>
          </a:xfrm>
          <a:prstGeom prst="rect">
            <a:avLst/>
          </a:prstGeom>
        </p:spPr>
      </p:pic>
      <p:sp>
        <p:nvSpPr>
          <p:cNvPr id="2066784392" name=""/>
          <p:cNvSpPr txBox="1"/>
          <p:nvPr/>
        </p:nvSpPr>
        <p:spPr bwMode="auto">
          <a:xfrm rot="0" flipH="0" flipV="0">
            <a:off x="4499435" y="-20180183"/>
            <a:ext cx="8235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28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778984438" name=""/>
          <p:cNvSpPr txBox="1"/>
          <p:nvPr/>
        </p:nvSpPr>
        <p:spPr bwMode="auto">
          <a:xfrm rot="0" flipH="0" flipV="0">
            <a:off x="4505555" y="-14132116"/>
            <a:ext cx="82407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SQL Injection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903436562" name=""/>
          <p:cNvSpPr txBox="1"/>
          <p:nvPr/>
        </p:nvSpPr>
        <p:spPr bwMode="auto">
          <a:xfrm rot="0" flipH="0" flipV="0">
            <a:off x="4499435" y="-8906745"/>
            <a:ext cx="825300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00B0F0"/>
                    </a:gs>
                    <a:gs pos="100000">
                      <a:srgbClr val="00F0E0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Forgery Request (CSRF)</a:t>
            </a:r>
            <a:endParaRPr sz="2800" b="1">
              <a:gradFill>
                <a:gsLst>
                  <a:gs pos="0">
                    <a:srgbClr val="00B0F0"/>
                  </a:gs>
                  <a:gs pos="100000">
                    <a:srgbClr val="00F0E0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1251423891" name=""/>
          <p:cNvSpPr txBox="1"/>
          <p:nvPr/>
        </p:nvSpPr>
        <p:spPr bwMode="auto">
          <a:xfrm rot="0" flipH="0" flipV="0">
            <a:off x="4505555" y="-4836510"/>
            <a:ext cx="825912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337C"/>
                    </a:gs>
                    <a:gs pos="100000">
                      <a:srgbClr val="FF0DDC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DoS / DDoS</a:t>
            </a:r>
            <a:endParaRPr sz="2800" b="1">
              <a:gradFill>
                <a:gsLst>
                  <a:gs pos="0">
                    <a:srgbClr val="FF337C"/>
                  </a:gs>
                  <a:gs pos="100000">
                    <a:srgbClr val="FF0DDC"/>
                  </a:gs>
                </a:gsLst>
                <a:lin ang="13500000" scaled="1"/>
              </a:gradFill>
              <a:latin typeface="Comfortaa"/>
              <a:cs typeface="Comfortaa"/>
            </a:endParaRPr>
          </a:p>
        </p:txBody>
      </p:sp>
      <p:sp>
        <p:nvSpPr>
          <p:cNvPr id="845609767" name=""/>
          <p:cNvSpPr txBox="1"/>
          <p:nvPr/>
        </p:nvSpPr>
        <p:spPr bwMode="auto">
          <a:xfrm rot="0" flipH="0" flipV="0">
            <a:off x="4505555" y="-1989172"/>
            <a:ext cx="8269565" cy="58252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800" b="1">
                <a:gradFill>
                  <a:gsLst>
                    <a:gs pos="0">
                      <a:srgbClr val="FFABAB"/>
                    </a:gs>
                    <a:gs pos="100000">
                      <a:srgbClr val="FF2424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Man in the Middle (MITM)</a:t>
            </a:r>
            <a:endParaRPr sz="2800" b="1">
              <a:gradFill>
                <a:gsLst>
                  <a:gs pos="0">
                    <a:srgbClr val="FFABAB"/>
                  </a:gs>
                  <a:gs pos="100000">
                    <a:srgbClr val="FF2424"/>
                  </a:gs>
                </a:gsLst>
                <a:lin ang="0" scaled="1"/>
              </a:gradFill>
              <a:latin typeface="Comfortaa"/>
              <a:cs typeface="Comfortaa"/>
            </a:endParaRPr>
          </a:p>
        </p:txBody>
      </p:sp>
      <p:pic>
        <p:nvPicPr>
          <p:cNvPr id="1830738320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176504" y="3332388"/>
            <a:ext cx="2358155" cy="1907721"/>
          </a:xfrm>
          <a:prstGeom prst="rect">
            <a:avLst/>
          </a:prstGeom>
        </p:spPr>
      </p:pic>
      <p:sp>
        <p:nvSpPr>
          <p:cNvPr id="1278322862" name=""/>
          <p:cNvSpPr txBox="1"/>
          <p:nvPr/>
        </p:nvSpPr>
        <p:spPr bwMode="auto">
          <a:xfrm rot="0" flipH="0" flipV="0">
            <a:off x="444823" y="1271333"/>
            <a:ext cx="1821516" cy="201964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11000" b="1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1.</a:t>
            </a:r>
            <a:endParaRPr sz="11000" b="1"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1654697025" name=""/>
          <p:cNvSpPr txBox="1"/>
          <p:nvPr/>
        </p:nvSpPr>
        <p:spPr bwMode="auto">
          <a:xfrm rot="0" flipH="0" flipV="0">
            <a:off x="3371166" y="-11527209"/>
            <a:ext cx="8236804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1810933500" name=""/>
          <p:cNvSpPr txBox="1"/>
          <p:nvPr/>
        </p:nvSpPr>
        <p:spPr bwMode="auto">
          <a:xfrm rot="0" flipH="0" flipV="0">
            <a:off x="3450541" y="-8687159"/>
            <a:ext cx="8009935" cy="20196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adalah serangan yang memanfaatkan form input yang belum divalidasi website dengan cara menyisipkan kode berbahaya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tersebut dimana kode tersebut kemudian dibaca dan dijalankan website untuk user lain.</a:t>
            </a:r>
            <a:endParaRPr sz="4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663313228" name=""/>
          <p:cNvSpPr txBox="1"/>
          <p:nvPr/>
        </p:nvSpPr>
        <p:spPr bwMode="auto">
          <a:xfrm rot="0" flipH="0" flipV="0">
            <a:off x="3450541" y="-4477533"/>
            <a:ext cx="801713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Form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13302618" name=""/>
          <p:cNvSpPr txBox="1"/>
          <p:nvPr/>
        </p:nvSpPr>
        <p:spPr bwMode="auto">
          <a:xfrm rot="0" flipH="0" flipV="0">
            <a:off x="3460738" y="-4057360"/>
            <a:ext cx="2404231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defRPr/>
            </a:pPr>
            <a:r>
              <a:rPr sz="24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username : </a:t>
            </a:r>
            <a:endParaRPr sz="24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351672831" name=""/>
          <p:cNvSpPr/>
          <p:nvPr/>
        </p:nvSpPr>
        <p:spPr bwMode="auto">
          <a:xfrm rot="0" flipH="0" flipV="0">
            <a:off x="5514774" y="-4012549"/>
            <a:ext cx="3528551" cy="380998"/>
          </a:xfrm>
          <a:prstGeom prst="flowChartAlternateProcess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l">
              <a:defRPr/>
            </a:pPr>
            <a:r>
              <a:rPr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&lt;script&gt;alert(“XSS”)&lt;/script&gt;</a:t>
            </a:r>
            <a:endParaRPr>
              <a:solidFill>
                <a:schemeClr val="tx1"/>
              </a:solidFill>
              <a:latin typeface="Comfortaa"/>
              <a:cs typeface="Comfortaa"/>
            </a:endParaRPr>
          </a:p>
        </p:txBody>
      </p:sp>
      <p:sp>
        <p:nvSpPr>
          <p:cNvPr id="370519320" name=""/>
          <p:cNvSpPr txBox="1"/>
          <p:nvPr/>
        </p:nvSpPr>
        <p:spPr bwMode="auto">
          <a:xfrm rot="0" flipH="0" flipV="0">
            <a:off x="3460738" y="-1439091"/>
            <a:ext cx="8018575" cy="47736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just">
              <a:lnSpc>
                <a:spcPct val="114999"/>
              </a:lnSpc>
              <a:defRPr/>
            </a:pP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Contoh </a:t>
            </a:r>
            <a:r>
              <a:rPr lang="en-US" sz="2200" b="1" i="0" u="none" strike="noStrike" cap="none" spc="0">
                <a:gradFill>
                  <a:gsLst>
                    <a:gs pos="0">
                      <a:srgbClr val="2F5EFD"/>
                    </a:gs>
                    <a:gs pos="100000">
                      <a:srgbClr val="ADC4FF"/>
                    </a:gs>
                  </a:gsLst>
                  <a:lin ang="0" scaled="1"/>
                </a:gradFill>
                <a:latin typeface="Comfortaa"/>
                <a:ea typeface="Comfortaa"/>
                <a:cs typeface="Comfortaa"/>
              </a:rPr>
              <a:t>XSS</a:t>
            </a:r>
            <a:r>
              <a:rPr lang="en-US" sz="22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Pada URL </a:t>
            </a:r>
            <a:r>
              <a:rPr sz="2200"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 :</a:t>
            </a:r>
            <a:endParaRPr sz="22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96424665" name=""/>
          <p:cNvSpPr txBox="1"/>
          <p:nvPr/>
        </p:nvSpPr>
        <p:spPr bwMode="auto">
          <a:xfrm rot="0" flipH="0" flipV="0">
            <a:off x="3490229" y="-934296"/>
            <a:ext cx="792544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b="1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https:/alamat.com/search?q=&lt;script&gt;alert(“XSS”)&lt;/script&gt;</a:t>
            </a:r>
            <a:endParaRPr sz="1800" b="1">
              <a:solidFill>
                <a:schemeClr val="bg1"/>
              </a:solidFill>
              <a:latin typeface="Comfortaa"/>
              <a:cs typeface="Comfortaa"/>
            </a:endParaRPr>
          </a:p>
        </p:txBody>
      </p:sp>
      <p:sp>
        <p:nvSpPr>
          <p:cNvPr id="1587058448" name=""/>
          <p:cNvSpPr txBox="1"/>
          <p:nvPr/>
        </p:nvSpPr>
        <p:spPr bwMode="auto">
          <a:xfrm rot="0" flipH="0" flipV="0">
            <a:off x="3371166" y="475369"/>
            <a:ext cx="8238963" cy="72273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3600" b="1">
                <a:gradFill>
                  <a:gsLst>
                    <a:gs pos="0">
                      <a:srgbClr val="819CFA"/>
                    </a:gs>
                    <a:gs pos="100000">
                      <a:srgbClr val="2F5EFD"/>
                    </a:gs>
                  </a:gsLst>
                  <a:lin ang="13500000" scaled="1"/>
                </a:gradFill>
                <a:latin typeface="Comfortaa"/>
                <a:ea typeface="Comfortaa"/>
                <a:cs typeface="Comfortaa"/>
              </a:rPr>
              <a:t>Tipe Cross-Site Scripting (XSS)</a:t>
            </a:r>
            <a:endParaRPr sz="3600" b="1">
              <a:gradFill>
                <a:gsLst>
                  <a:gs pos="0">
                    <a:srgbClr val="819CFA"/>
                  </a:gs>
                  <a:gs pos="100000">
                    <a:srgbClr val="2F5EFD"/>
                  </a:gs>
                </a:gsLst>
                <a:lin ang="10800000" scaled="1"/>
              </a:gradFill>
              <a:latin typeface="Comfortaa"/>
              <a:cs typeface="Comfortaa"/>
            </a:endParaRPr>
          </a:p>
        </p:txBody>
      </p:sp>
      <p:sp>
        <p:nvSpPr>
          <p:cNvPr id="591552645" name=""/>
          <p:cNvSpPr/>
          <p:nvPr/>
        </p:nvSpPr>
        <p:spPr bwMode="auto">
          <a:xfrm flipH="0" flipV="0">
            <a:off x="3360342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latin typeface="Comfortaa"/>
                <a:ea typeface="Comfortaa"/>
                <a:cs typeface="Comfortaa"/>
              </a:rPr>
              <a:t>Storage XSS</a:t>
            </a:r>
            <a:endParaRPr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XSS Tersimpan Pada Penyimpanan Server dan Dijalankan Ketika User Lain Mengakses Website</a:t>
            </a:r>
            <a:endParaRPr>
              <a:latin typeface="Comfortaa"/>
              <a:cs typeface="Comfortaa"/>
            </a:endParaRPr>
          </a:p>
        </p:txBody>
      </p:sp>
      <p:pic>
        <p:nvPicPr>
          <p:cNvPr id="688022170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4003025" y="5415390"/>
            <a:ext cx="1133477" cy="1133477"/>
          </a:xfrm>
          <a:prstGeom prst="rect">
            <a:avLst/>
          </a:prstGeom>
        </p:spPr>
      </p:pic>
      <p:sp>
        <p:nvSpPr>
          <p:cNvPr id="1030521087" name=""/>
          <p:cNvSpPr/>
          <p:nvPr/>
        </p:nvSpPr>
        <p:spPr bwMode="auto">
          <a:xfrm flipH="0" flipV="0">
            <a:off x="6258118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162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Reflected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Url Website Dan Akan Dijalankan  Ketika Url  Tersebut Dimuat</a:t>
            </a:r>
            <a:endParaRPr>
              <a:latin typeface="Comfortaa"/>
              <a:cs typeface="Comfortaa"/>
            </a:endParaRPr>
          </a:p>
        </p:txBody>
      </p:sp>
      <p:sp>
        <p:nvSpPr>
          <p:cNvPr id="24349362" name=""/>
          <p:cNvSpPr/>
          <p:nvPr/>
        </p:nvSpPr>
        <p:spPr bwMode="auto">
          <a:xfrm flipH="0" flipV="0">
            <a:off x="9155894" y="1323815"/>
            <a:ext cx="2648364" cy="4242741"/>
          </a:xfrm>
          <a:custGeom>
            <a:avLst/>
            <a:gdLst/>
            <a:ahLst/>
            <a:cxnLst/>
            <a:rect l="0" t="0" r="r" b="b"/>
            <a:pathLst>
              <a:path w="1866900" h="4242742" fill="norm" stroke="1" extrusionOk="0">
                <a:moveTo>
                  <a:pt x="0" y="4242742"/>
                </a:moveTo>
                <a:cubicBezTo>
                  <a:pt x="0" y="4242742"/>
                  <a:pt x="0" y="557195"/>
                  <a:pt x="0" y="557195"/>
                </a:cubicBezTo>
                <a:cubicBezTo>
                  <a:pt x="0" y="557195"/>
                  <a:pt x="933449" y="0"/>
                  <a:pt x="933449" y="0"/>
                </a:cubicBezTo>
                <a:cubicBezTo>
                  <a:pt x="933449" y="0"/>
                  <a:pt x="1866900" y="557195"/>
                  <a:pt x="1866900" y="557195"/>
                </a:cubicBezTo>
                <a:cubicBezTo>
                  <a:pt x="1866900" y="557195"/>
                  <a:pt x="1866900" y="4242742"/>
                  <a:pt x="1866900" y="4242742"/>
                </a:cubicBezTo>
                <a:cubicBezTo>
                  <a:pt x="1866900" y="4242742"/>
                  <a:pt x="933449" y="3644029"/>
                  <a:pt x="933449" y="3644029"/>
                </a:cubicBezTo>
                <a:cubicBezTo>
                  <a:pt x="933449" y="3644029"/>
                  <a:pt x="0" y="4242742"/>
                  <a:pt x="0" y="4242742"/>
                </a:cubicBezTo>
                <a:close/>
              </a:path>
            </a:pathLst>
          </a:custGeom>
          <a:gradFill>
            <a:gsLst>
              <a:gs pos="0">
                <a:srgbClr val="2F5EFD"/>
              </a:gs>
              <a:gs pos="100000">
                <a:srgbClr val="0DAEFF"/>
              </a:gs>
            </a:gsLst>
            <a:lin ang="5400000" scaled="1"/>
          </a:gradFill>
          <a:ln w="12700" cap="flat" cmpd="sng" algn="ctr">
            <a:noFill/>
            <a:prstDash val="solid"/>
            <a:miter lim="800000"/>
          </a:ln>
        </p:spPr>
        <p:txBody>
          <a:bodyPr anchor="ctr"/>
          <a:p>
            <a:pPr algn="ctr">
              <a:lnSpc>
                <a:spcPct val="114999"/>
              </a:lnSpc>
              <a:defRPr/>
            </a:pPr>
            <a:r>
              <a:rPr sz="2200">
                <a:solidFill>
                  <a:schemeClr val="bg1"/>
                </a:solidFill>
                <a:latin typeface="Comfortaa"/>
                <a:ea typeface="Comfortaa"/>
                <a:cs typeface="Comfortaa"/>
              </a:rPr>
              <a:t>DOM Based XSS</a:t>
            </a:r>
            <a:endParaRPr>
              <a:solidFill>
                <a:schemeClr val="bg1"/>
              </a:solidFill>
              <a:latin typeface="Comfortaa"/>
              <a:cs typeface="Comfortaa"/>
            </a:endParaRPr>
          </a:p>
          <a:p>
            <a:pPr algn="ctr">
              <a:lnSpc>
                <a:spcPct val="114999"/>
              </a:lnSpc>
              <a:defRPr/>
            </a:pP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XSS Tersimpan </a:t>
            </a:r>
            <a:r>
              <a:rPr lang="en-US" sz="1800" b="1" i="0" u="none" strike="noStrike" cap="none" spc="0">
                <a:solidFill>
                  <a:schemeClr val="tx1"/>
                </a:solidFill>
                <a:latin typeface="Comfortaa"/>
                <a:ea typeface="Comfortaa"/>
                <a:cs typeface="Comfortaa"/>
              </a:rPr>
              <a:t>Pada Client Browser Sehingga Sulit Terdeteksi Oleh Server</a:t>
            </a:r>
            <a:endParaRPr lang="en-US" sz="18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algn="ctr">
              <a:lnSpc>
                <a:spcPct val="114999"/>
              </a:lnSpc>
              <a:defRPr/>
            </a:pPr>
            <a:endParaRPr>
              <a:latin typeface="Comfortaa"/>
              <a:cs typeface="Comfortaa"/>
            </a:endParaRPr>
          </a:p>
        </p:txBody>
      </p:sp>
      <p:pic>
        <p:nvPicPr>
          <p:cNvPr id="1461393781" name=""/>
          <p:cNvPicPr>
            <a:picLocks noChangeAspect="1"/>
          </p:cNvPicPr>
          <p:nvPr/>
        </p:nvPicPr>
        <p:blipFill rotWithShape="1">
          <a:blip r:embed="rId11"/>
          <a:stretch/>
        </p:blipFill>
        <p:spPr bwMode="auto">
          <a:xfrm flipH="0" flipV="0">
            <a:off x="9977254" y="5566557"/>
            <a:ext cx="1005644" cy="982309"/>
          </a:xfrm>
          <a:prstGeom prst="rect">
            <a:avLst/>
          </a:prstGeom>
        </p:spPr>
      </p:pic>
      <p:pic>
        <p:nvPicPr>
          <p:cNvPr id="629493429" name=""/>
          <p:cNvPicPr>
            <a:picLocks noChangeAspect="1"/>
          </p:cNvPicPr>
          <p:nvPr/>
        </p:nvPicPr>
        <p:blipFill rotWithShape="1">
          <a:blip r:embed="rId12"/>
          <a:stretch/>
        </p:blipFill>
        <p:spPr bwMode="auto">
          <a:xfrm flipH="0" flipV="0">
            <a:off x="6843507" y="5717725"/>
            <a:ext cx="1477586" cy="83114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500" advClick="1">
        <p159:morph option="byObject"/>
      </p:transition>
    </mc:Choice>
    <mc:Fallback>
      <p:transition spd="slow" advClick="1">
        <p:fade/>
      </p:transition>
    </mc:Fallback>
  </mc:AlternateContent>
  <p:timing/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7</cp:revision>
  <dcterms:modified xsi:type="dcterms:W3CDTF">2026-04-15T16:37:11Z</dcterms:modified>
</cp:coreProperties>
</file>